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8eb06f1c-dd2e-8dfa-1f42-173204631c57}">
          <p14:sldIdLst>
            <p14:sldId id="256"/>
            <p14:sldId id="257"/>
            <p14:sldId id="258"/>
          </p14:sldIdLst>
        </p14:section>
        <p14:section name="La app" id="{6ffcfc0b-4628-dac7-0035-99f6a39b7f89}">
          <p14:sldIdLst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Arquitectura" id="{4af2063c-41eb-b5c3-8c3e-b67a3ee4b927}">
          <p14:sldIdLst>
            <p14:sldId id="265"/>
            <p14:sldId id="266"/>
            <p14:sldId id="267"/>
          </p14:sldIdLst>
        </p14:section>
        <p14:section name="Motor y API" id="{5ccc23dc-eacf-d427-8b4b-ef4b03b70bb9}">
          <p14:sldIdLst>
            <p14:sldId id="268"/>
            <p14:sldId id="269"/>
            <p14:sldId id="270"/>
            <p14:sldId id="271"/>
          </p14:sldIdLst>
        </p14:section>
        <p14:section name="Datos y modelo" id="{0fdc32a0-b372-212f-6970-cbac5034d167}">
          <p14:sldIdLst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Cierre" id="{5a6af5ff-6e61-62e0-13ca-10e2e2e7c908}">
          <p14:sldIdLst>
            <p14:sldId id="278"/>
            <p14:sldId id="279"/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Christopher abre. En la semana 7 mostramos una maqueta; hoy esto es la app publicada, con datos reales. La entrega es el prototipo funcional: se puede usar desde el celular, y cada uno va a mostrar su parte.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Christopher. Este es el flujo completo que funciona hoy. Invitar al profesor a escanear el QR. Si es la primera consulta del día, avisar que el API en Render tarda cerca de un minuto en despertar; por eso lo abrimos antes de empezar.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Christopher. Cada uno defiende su parte, como en el plan del proyecto. Las preguntas de cada área las responde quien la presenta.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Christopher. El formulario tiene cinco filas y todas sus opciones vienen del API. Con esta consulta salen Huaraz, Huacho y La Merced, ordenados del que más conviene al que menos. Cada tarjeta trae su foto con autor y licencia, el precio central, las horas desde Lima y el veredicto del 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Christopher. El mapa es un croquis del viaje: cada día es un pétalo que sale de Huaraz y vuelve. El costo es una banda del percentil 20 al 80, con su desglose; el presupuesto de S/ 1 000 entra. El clima es el del polo, de diez años de datos. Cada lugar enlaza a su ficha oficial.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Christopher. En escritorio el plan va a la izquierda y la foto y el mapa a la derecha. Desde el Cusco, en 2 días, Machu Picchu sí sale; desde Lima no, porque no hay vuelos: eso lo cuenta Alejandro.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Christopher. El calendario reúne las fiestas del inventario de MINCETUR. Un municipio entra a «Publicar un evento», marca el lugar en un mapa y lo publica con su clave. El evento de la captura es de prueba, en un API local. En la demo publicamos uno de verdad con la clave del equipo.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Christopher. El orden importa: primero Machu Picchu desde el Cusco y Huaraz desde Lima, que son los dos casos que el motor antes no proponía. Febrero muestra que el clima cambia la respuesta. La clave no se muestra en pantalla.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Miguel. A la izquierda, las cuatro fuentes abiertas. El pipeline lo corre el equipo cuando cambia una fuente y deja los artefactos con versión, 1,7 MB, que el motor carga al arrancar. El API tiene dos entradas: el viajero pide viajes y el municipio publica eventos con su clave. Todo el API es una sola imagen de contenedor.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Miguel. Tres decisiones explican la forma del sistema. El API corre hoy en Render porque es gratis y no pide tarjeta; el destino es AWS, con Lambda detrás de una HTTP API y DynamoDB para lo publicado. La plantilla se ensayó contra un simulador de AWS. Las fotos y el fondo del mapa los pide el navegador a Wikimedia y a OpenFreeMap.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Diego. El contrato está en docs/CONTRATO.md, versión 1.2. La app no fija nada: hasta las opciones del formulario vienen del API. La misma consulta con la misma versión de datos devuelve siempre lo mismo.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Diego. El viaje es una estrella desde la base del polo, que es un pueblo real de OpenStreetMap. La ida larga se parte en días de solo viaje de hasta 9 horas. El orden de las visitas es una heurística, no el óptimo: su distancia al óptimo exacto se mide en la semana 12. Detalle en las decisiones 0009, 0013, 0014 y 0015.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Diego. Estas diez propiedades están en el contrato, §3. Se prueban en cada pull request y, al cerrar cada etapa, con 1 000 consultas al azar. Con eventos publicados valen las diez, y además lo publicado no cambia qué viajes salen ni su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Alejandro. Todo sale de fuentes abiertas que se pueden redistribuir. El dataset de MINCETUR traía la latitud y la longitud intercambiadas, y su jerarquía coincidía con la ficha oficial solo en el 59,7 % de los recursos. Por eso leímos las 6 225 fichas, y cada dato dice de dónde salió. Los teléfonos y nombres de contacto se filtran al leer. Los datos llevan versión: la misma consulta con los mismos datos da siempre la misma respuesta.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Alejandro. No usamos modelos supervisados porque no hay clics ni valoraciones de los que aprender (decisión 0004). Cada método es declarado y tiene su medida. Una parada vale 1, 2, 6 o 24 según su jerarquía, para que un lugar imperdible pese más que un día lleno de lugares corrientes. El costo se da como banda y no como precio: su ancho dice cuánto no sabemos. El detalle de cómo se arma el itinerario lo contó Diego.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Alejandro. La primera medición mostró que el motor nunca proponía Machu Picchu ni Huaraz. Medimos por qué, variante por variante, y cambiamos esas cuatro cosas; cada una tiene su decisión con las alternativas que se descartaron (0013, 0014 y 0015). Tiene un precio: los diez polos más propuestos pasan a llevarse el 57 % de las rutas, y el aviso de que el camino pesa sale en el 37 %. Si el balance es bueno no lo dice la rejilla: se mide en la semana 12, con consultas anotadas por el equipo.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Alejandro. Es el ejemplo de la guía que le mandamos al profesor, y una prueba lo cuida en cada pull request. Antes, varios polos de la sierra tenían el clima de la capital de su región, en la costa, y salían como secos todo el año. Con su propio clima, Huamachuco o Agallpampa tienen tres meses desaconsejados.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Alejandro. Las propiedades son garantías, no intenciones: por ejemplo, ninguna parada pasa la altitud pedida y un mes desaconsejado nunca sale sin aviso. Los límites están escritos en el informe con sus cifras. Machu Picchu desde Lima son 24,6 horas por tierra, así que hacen falta vuelos, y eso es de la fase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Entre todos. Cada reto tiene su cifra en el informe, §9. El de los datos personales importa: ningún teléfono ni nombre de contacto llega al repositorio ni a los artefactos.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Entre todos. Lo más importante de la semana 12 es la evaluación: hoy el motor cumple sus garantías, pero si sus propuestas son buenas lo tienen que decir consultas anotadas y personas usándolo.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Cierre. Dejar el QR en pantalla durante las preguntas.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9768"/>
            <a:ext cx="64008" cy="42062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749808" y="310896"/>
            <a:ext cx="10881360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rgbClr val="1C1917"/>
                </a:solidFill>
                <a:latin typeface="Lexend" pitchFamily="34" charset="0"/>
                <a:ea typeface="Lexend" pitchFamily="34" charset="-122"/>
                <a:cs typeface="Lexend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49808" y="932688"/>
            <a:ext cx="10881360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5" name="Text 1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DreemGO · Semana 10 · Prototipo funcional · DS3022 UTEC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8716C"/>
                </a:solidFill>
                <a:latin typeface="Quattrocento Sans"/>
                <a:ea typeface="Quattrocento Sans"/>
                <a:cs typeface="Quattrocento Sans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CION">
    <p:bg>
      <p:bgPr>
        <a:solidFill>
          <a:srgbClr val="1C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1554480"/>
            <a:ext cx="27432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rgbClr val="FB923C"/>
                </a:solidFill>
                <a:latin typeface="Lexend" pitchFamily="34" charset="0"/>
                <a:ea typeface="Lexend" pitchFamily="34" charset="-122"/>
                <a:cs typeface="Lexend" pitchFamily="34" charset="-120"/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2514600"/>
            <a:ext cx="105156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Lexend" pitchFamily="34" charset="0"/>
                <a:ea typeface="Lexend" pitchFamily="34" charset="-122"/>
                <a:cs typeface="Lexend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3703320"/>
            <a:ext cx="10515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E7E5E4"/>
                </a:solidFill>
                <a:latin typeface="Lexend" pitchFamily="34" charset="0"/>
                <a:ea typeface="Lexend" pitchFamily="34" charset="-122"/>
                <a:cs typeface="Lexend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822960" y="4206240"/>
            <a:ext cx="100584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A8A29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6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DreemGO · Semana 10 · Prototipo funcional · DS3022 UTEC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8716C"/>
                </a:solidFill>
                <a:latin typeface="Quattrocento Sans"/>
                <a:ea typeface="Quattrocento Sans"/>
                <a:cs typeface="Quattrocento Sans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8716C"/>
                </a:solidFill>
                <a:latin typeface="Quattrocento Sans"/>
                <a:ea typeface="Quattrocento Sans"/>
                <a:cs typeface="Quattrocento Sans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1887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2410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DS3022 · DESARROLLO DE PRODUCTO DE DATOS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600200"/>
            <a:ext cx="5669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1C191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DreemGO</a:t>
            </a: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74320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0D9488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Inteligencia de rutas en el Perú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61188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Semana 10 · Prototipo funcional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Universidad de Ingeniería y Tecnología · UTEC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Prof. Carlos Abel Dominguez Bautista · Ciclo 2026-2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07492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Miguel · Alejandro · Diego · Christopher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78716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21 de octubre de 2026</a:t>
            </a:r>
            <a:endParaRPr lang="en-US" sz="1600" dirty="0"/>
          </a:p>
        </p:txBody>
      </p:sp>
      <p:sp>
        <p:nvSpPr>
          <p:cNvPr id="7" name="fondo de las capturas"/>
          <p:cNvSpPr/>
          <p:nvPr/>
        </p:nvSpPr>
        <p:spPr>
          <a:xfrm>
            <a:off x="6720840" y="128016"/>
            <a:ext cx="5470855" cy="6729984"/>
          </a:xfrm>
          <a:prstGeom prst="rect">
            <a:avLst/>
          </a:prstGeom>
          <a:solidFill>
            <a:srgbClr val="F5F5F4"/>
          </a:solidFill>
          <a:ln w="12700">
            <a:solidFill>
              <a:srgbClr val="F5F5F4"/>
            </a:solidFill>
            <a:prstDash val="solid"/>
          </a:ln>
        </p:spPr>
      </p:sp>
      <p:pic>
        <p:nvPicPr>
          <p:cNvPr id="8" name="cel_03_viaje_huaraz_celular.png" descr="La app: el viaje a Huaraz, con su foto, su costo y su clim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0" y="960120"/>
            <a:ext cx="2531859" cy="5074920"/>
          </a:xfrm>
          <a:prstGeom prst="rect">
            <a:avLst/>
          </a:prstGeom>
        </p:spPr>
      </p:pic>
      <p:pic>
        <p:nvPicPr>
          <p:cNvPr id="9" name="cel_02_tres_viajes_celular.png" descr="La app: tres viajes desde Lima en juli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548640"/>
            <a:ext cx="2759954" cy="55321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086600" y="62636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8716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La app publicada, con los datos 2026.10.4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749808" y="31089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C191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El prototipo, de punta a punta</a:t>
            </a:r>
            <a:endParaRPr lang="en-US" sz="2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749808" y="932688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Lo que se puede demostrar hoy, con datos reales y desde un celular</a:t>
            </a:r>
            <a:endParaRPr lang="en-US" sz="1400" dirty="0"/>
          </a:p>
        </p:txBody>
      </p:sp>
      <p:sp>
        <p:nvSpPr>
          <p:cNvPr id="4" name="paso 1"/>
          <p:cNvSpPr/>
          <p:nvPr/>
        </p:nvSpPr>
        <p:spPr>
          <a:xfrm>
            <a:off x="548640" y="1618488"/>
            <a:ext cx="420624" cy="420624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184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600200"/>
            <a:ext cx="6400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El viajero pregunta.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Desde cuál de 24 ciudades sale, cuántos días tiene, en qué mes y, si quiere, qué le interesa, cuánto gastar y hasta qué altura.</a:t>
            </a:r>
            <a:endParaRPr lang="en-US" sz="1500" dirty="0"/>
          </a:p>
        </p:txBody>
      </p:sp>
      <p:sp>
        <p:nvSpPr>
          <p:cNvPr id="7" name="paso 2"/>
          <p:cNvSpPr/>
          <p:nvPr/>
        </p:nvSpPr>
        <p:spPr>
          <a:xfrm>
            <a:off x="548640" y="2514600"/>
            <a:ext cx="420624" cy="420624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514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2496312"/>
            <a:ext cx="6400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DreemGO propone tres viajes,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cada uno a un polo distinto: su costo en una banda, cuánto se tarda en llegar, si el mes conviene y por qué.</a:t>
            </a:r>
            <a:endParaRPr lang="en-US" sz="1500" dirty="0"/>
          </a:p>
        </p:txBody>
      </p:sp>
      <p:sp>
        <p:nvSpPr>
          <p:cNvPr id="10" name="paso 3"/>
          <p:cNvSpPr/>
          <p:nvPr/>
        </p:nvSpPr>
        <p:spPr>
          <a:xfrm>
            <a:off x="548640" y="3410712"/>
            <a:ext cx="420624" cy="420624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4107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3392424"/>
            <a:ext cx="6400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Cada viaje trae su plan día por día,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sobre un mapa, con la ficha oficial de cada lugar y las fiestas de esas fechas.</a:t>
            </a:r>
            <a:endParaRPr lang="en-US" sz="1500" dirty="0"/>
          </a:p>
        </p:txBody>
      </p:sp>
      <p:sp>
        <p:nvSpPr>
          <p:cNvPr id="13" name="paso 4"/>
          <p:cNvSpPr/>
          <p:nvPr/>
        </p:nvSpPr>
        <p:spPr>
          <a:xfrm>
            <a:off x="548640" y="4306824"/>
            <a:ext cx="420624" cy="420624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3068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4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4288536"/>
            <a:ext cx="6400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 comparte con un enlace.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No hay cuentas: la misma consulta con los mismos datos da siempre la misma respuesta.</a:t>
            </a:r>
            <a:endParaRPr lang="en-US" sz="1500" dirty="0"/>
          </a:p>
        </p:txBody>
      </p:sp>
      <p:sp>
        <p:nvSpPr>
          <p:cNvPr id="16" name="paso 5"/>
          <p:cNvSpPr/>
          <p:nvPr/>
        </p:nvSpPr>
        <p:spPr>
          <a:xfrm>
            <a:off x="548640" y="5202936"/>
            <a:ext cx="420624" cy="42062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52029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5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5184648"/>
            <a:ext cx="6400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Un municipio publica un evento,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que sale en el calendario y en los viajes que pasan cerca.</a:t>
            </a:r>
            <a:endParaRPr lang="en-US" sz="1500" dirty="0"/>
          </a:p>
        </p:txBody>
      </p:sp>
      <p:sp>
        <p:nvSpPr>
          <p:cNvPr id="19" name="panel del QR"/>
          <p:cNvSpPr/>
          <p:nvPr/>
        </p:nvSpPr>
        <p:spPr>
          <a:xfrm>
            <a:off x="8229600" y="1600200"/>
            <a:ext cx="3410712" cy="4343400"/>
          </a:xfrm>
          <a:prstGeom prst="roundRect">
            <a:avLst>
              <a:gd name="adj" fmla="val 3217"/>
            </a:avLst>
          </a:prstGeom>
          <a:solidFill>
            <a:srgbClr val="F5F5F4"/>
          </a:solidFill>
          <a:ln w="12700">
            <a:solidFill>
              <a:srgbClr val="E7E5E4"/>
            </a:solidFill>
            <a:prstDash val="solid"/>
          </a:ln>
        </p:spPr>
      </p:sp>
      <p:pic>
        <p:nvPicPr>
          <p:cNvPr id="20" name="qr_app.png" descr="Código QR de la app publicad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1874520"/>
            <a:ext cx="2313432" cy="2313432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503920" y="438912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C191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Pruébalo en tu celular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8412480" y="48006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B5C8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oswaldoaqm.github.io/Alejandros-Team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8503920" y="516636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8716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La primera consulta del día puede tardar cerca de un minuto: el servidor gratuito despierta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8716C"/>
                </a:solidFill>
                <a:latin typeface="Quattrocento Sans"/>
                <a:ea typeface="Quattrocento Sans"/>
                <a:cs typeface="Quattrocento Sans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749808" y="31089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C191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Quién presenta qué</a:t>
            </a:r>
            <a:endParaRPr lang="en-US" sz="2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749808" y="932688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Cuatro partes, en el orden de esta presentación</a:t>
            </a:r>
            <a:endParaRPr lang="en-US" sz="1400" dirty="0"/>
          </a:p>
        </p:txBody>
      </p:sp>
      <p:sp>
        <p:nvSpPr>
          <p:cNvPr id="4" name="tarjeta de Christopher"/>
          <p:cNvSpPr/>
          <p:nvPr/>
        </p:nvSpPr>
        <p:spPr>
          <a:xfrm>
            <a:off x="548640" y="1691640"/>
            <a:ext cx="2551176" cy="3566160"/>
          </a:xfrm>
          <a:prstGeom prst="roundRect">
            <a:avLst>
              <a:gd name="adj" fmla="val 4301"/>
            </a:avLst>
          </a:prstGeom>
          <a:solidFill>
            <a:srgbClr val="FAFAF9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92024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C2410C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1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97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C191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Christopher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2004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8716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Frontend Developer y Product Owner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1148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D9488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La app y la demo</a:t>
            </a:r>
            <a:endParaRPr lang="en-US" sz="1600" dirty="0"/>
          </a:p>
        </p:txBody>
      </p:sp>
      <p:sp>
        <p:nvSpPr>
          <p:cNvPr id="9" name="tarjeta de Miguel"/>
          <p:cNvSpPr/>
          <p:nvPr/>
        </p:nvSpPr>
        <p:spPr>
          <a:xfrm>
            <a:off x="3328416" y="1691640"/>
            <a:ext cx="2551176" cy="3566160"/>
          </a:xfrm>
          <a:prstGeom prst="roundRect">
            <a:avLst>
              <a:gd name="adj" fmla="val 4301"/>
            </a:avLst>
          </a:prstGeom>
          <a:solidFill>
            <a:srgbClr val="FAFAF9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02736" y="192024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C2410C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2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3602736" y="2697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C191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Miguel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3602736" y="32004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8716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Data Engineer y Cloud Architect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602736" y="41148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D9488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Arquitectura y despliegue</a:t>
            </a:r>
            <a:endParaRPr lang="en-US" sz="1600" dirty="0"/>
          </a:p>
        </p:txBody>
      </p:sp>
      <p:sp>
        <p:nvSpPr>
          <p:cNvPr id="14" name="tarjeta de Diego"/>
          <p:cNvSpPr/>
          <p:nvPr/>
        </p:nvSpPr>
        <p:spPr>
          <a:xfrm>
            <a:off x="6108192" y="1691640"/>
            <a:ext cx="2551176" cy="3566160"/>
          </a:xfrm>
          <a:prstGeom prst="roundRect">
            <a:avLst>
              <a:gd name="adj" fmla="val 4301"/>
            </a:avLst>
          </a:prstGeom>
          <a:solidFill>
            <a:srgbClr val="FAFAF9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82512" y="192024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C2410C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3</a:t>
            </a:r>
            <a:endParaRPr lang="en-US" sz="3600" dirty="0"/>
          </a:p>
        </p:txBody>
      </p:sp>
      <p:sp>
        <p:nvSpPr>
          <p:cNvPr id="16" name="Text 14"/>
          <p:cNvSpPr txBox="1"/>
          <p:nvPr/>
        </p:nvSpPr>
        <p:spPr>
          <a:xfrm>
            <a:off x="6382512" y="2697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C191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Diego</a:t>
            </a:r>
            <a:endParaRPr lang="en-US" sz="2100" dirty="0"/>
          </a:p>
        </p:txBody>
      </p:sp>
      <p:sp>
        <p:nvSpPr>
          <p:cNvPr id="17" name="Text 15"/>
          <p:cNvSpPr txBox="1"/>
          <p:nvPr/>
        </p:nvSpPr>
        <p:spPr>
          <a:xfrm>
            <a:off x="6382512" y="32004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8716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Backend y algoritmos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382512" y="41148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D9488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El motor y su API</a:t>
            </a:r>
            <a:endParaRPr lang="en-US" sz="1600" dirty="0"/>
          </a:p>
        </p:txBody>
      </p:sp>
      <p:sp>
        <p:nvSpPr>
          <p:cNvPr id="19" name="tarjeta de Alejandro"/>
          <p:cNvSpPr/>
          <p:nvPr/>
        </p:nvSpPr>
        <p:spPr>
          <a:xfrm>
            <a:off x="8887968" y="1691640"/>
            <a:ext cx="2551176" cy="3566160"/>
          </a:xfrm>
          <a:prstGeom prst="roundRect">
            <a:avLst>
              <a:gd name="adj" fmla="val 4301"/>
            </a:avLst>
          </a:prstGeom>
          <a:solidFill>
            <a:srgbClr val="FAFAF9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62288" y="192024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C2410C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4</a:t>
            </a:r>
            <a:endParaRPr lang="en-US" sz="3600" dirty="0"/>
          </a:p>
        </p:txBody>
      </p:sp>
      <p:sp>
        <p:nvSpPr>
          <p:cNvPr id="21" name="Text 19"/>
          <p:cNvSpPr txBox="1"/>
          <p:nvPr/>
        </p:nvSpPr>
        <p:spPr>
          <a:xfrm>
            <a:off x="9162288" y="2697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C191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Alejandro</a:t>
            </a:r>
            <a:endParaRPr lang="en-US" sz="2100" dirty="0"/>
          </a:p>
        </p:txBody>
      </p:sp>
      <p:sp>
        <p:nvSpPr>
          <p:cNvPr id="22" name="Text 20"/>
          <p:cNvSpPr txBox="1"/>
          <p:nvPr/>
        </p:nvSpPr>
        <p:spPr>
          <a:xfrm>
            <a:off x="9162288" y="32004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8716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Data Scientist y ML Engineer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9162288" y="41148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D9488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Datos, modelo y cifras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55778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Al final, entre todos: los retos técnicos, lo que falta y las preguntas.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8716C"/>
                </a:solidFill>
                <a:latin typeface="Quattrocento Sans"/>
                <a:ea typeface="Quattrocento Sans"/>
                <a:cs typeface="Quattrocento Sans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15544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B923C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1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25146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La app y la demo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3703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000" dirty="0">
                <a:solidFill>
                  <a:srgbClr val="E7E5E4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Christopher</a:t>
            </a: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822960" y="4206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A8A29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 la pregunta a un viaje día por día, en el celular y en escritorio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8716C"/>
                </a:solidFill>
                <a:latin typeface="Quattrocento Sans"/>
                <a:ea typeface="Quattrocento Sans"/>
                <a:cs typeface="Quattrocento Sans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749808" y="31089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C191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De la pregunta a tres viajes</a:t>
            </a:r>
            <a:endParaRPr lang="en-US" sz="2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749808" y="932688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Desde Lima, 4 días en julio, naturaleza y caminatas, hasta S/ 1 000 por persona</a:t>
            </a:r>
            <a:endParaRPr lang="en-US" sz="1400" dirty="0"/>
          </a:p>
        </p:txBody>
      </p:sp>
      <p:pic>
        <p:nvPicPr>
          <p:cNvPr id="4" name="cel_01_consulta_celular.png" descr="Cinco filas. Las opciones salen del API: la app no las fija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1417320"/>
            <a:ext cx="2075668" cy="41605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66928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Cinco filas. Las opciones salen del API: la app no las fija.</a:t>
            </a:r>
            <a:endParaRPr lang="en-US" sz="1300" dirty="0"/>
          </a:p>
        </p:txBody>
      </p:sp>
      <p:pic>
        <p:nvPicPr>
          <p:cNvPr id="6" name="cel_02_tres_viajes_celular.png" descr="Tres viajes para comparar: precio, horas de ida y clima del mes.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3792" y="1417320"/>
            <a:ext cx="2075668" cy="41605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370832" y="566928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Tres viajes para comparar: precio, horas de ida y clima del mes.</a:t>
            </a:r>
            <a:endParaRPr lang="en-US" sz="1300" dirty="0"/>
          </a:p>
        </p:txBody>
      </p:sp>
      <p:pic>
        <p:nvPicPr>
          <p:cNvPr id="8" name="cel_03_viaje_huaraz_celular.png" descr="Cada viaje en su pantalla: por qué conviene y qué saber antes de ir.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15984" y="1417320"/>
            <a:ext cx="2075668" cy="416052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8193024" y="566928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Cada viaje en su pantalla: por qué conviene y qué saber antes de ir.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8716C"/>
                </a:solidFill>
                <a:latin typeface="Quattrocento Sans"/>
                <a:ea typeface="Quattrocento Sans"/>
                <a:cs typeface="Quattrocento Sans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749808" y="31089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C191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Un viaje, día por día</a:t>
            </a:r>
            <a:endParaRPr lang="en-US" sz="2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749808" y="932688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Huaraz: el plan con su mapa, el costo como banda, el clima del mes y la ficha de cada lugar</a:t>
            </a:r>
            <a:endParaRPr lang="en-US" sz="1400" dirty="0"/>
          </a:p>
        </p:txBody>
      </p:sp>
      <p:pic>
        <p:nvPicPr>
          <p:cNvPr id="4" name="cel_04_plan_y_mapa_celular.png" descr="Un pétalo por día, que sale del pueblo donde se duerm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1417320"/>
            <a:ext cx="2075668" cy="41605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66928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Un pétalo por día, que sale del pueblo donde se duerme.</a:t>
            </a:r>
            <a:endParaRPr lang="en-US" sz="1300" dirty="0"/>
          </a:p>
        </p:txBody>
      </p:sp>
      <p:pic>
        <p:nvPicPr>
          <p:cNvPr id="6" name="cel_05_costo_y_clima_celular.png" descr="De S/ 644 a S/ 871: una banda, no un precio. Julio es temporada seca.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3792" y="1417320"/>
            <a:ext cx="2075668" cy="41605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370832" y="566928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 S/ 644 a S/ 871: una banda, no un precio. Julio es temporada seca.</a:t>
            </a:r>
            <a:endParaRPr lang="en-US" sz="1300" dirty="0"/>
          </a:p>
        </p:txBody>
      </p:sp>
      <p:pic>
        <p:nvPicPr>
          <p:cNvPr id="8" name="cel_06_hoja_de_un_lugar_celular.png" descr="Cada lugar abre su hoja, con su foto y su ficha oficial de MINCETUR.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15984" y="1417320"/>
            <a:ext cx="2075668" cy="416052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8193024" y="566928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Cada lugar abre su hoja, con su foto y su ficha oficial de MINCETUR.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8716C"/>
                </a:solidFill>
                <a:latin typeface="Quattrocento Sans"/>
                <a:ea typeface="Quattrocento Sans"/>
                <a:cs typeface="Quattrocento Sans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749808" y="31089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C191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El mismo producto en escritorio</a:t>
            </a:r>
            <a:endParaRPr lang="en-US" sz="2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749808" y="932688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Desde el Cusco, 2 días en junio: Machupicchu Pueblo es el segundo de los tres viajes</a:t>
            </a:r>
            <a:endParaRPr lang="en-US" sz="1400" dirty="0"/>
          </a:p>
        </p:txBody>
      </p:sp>
      <p:pic>
        <p:nvPicPr>
          <p:cNvPr id="4" name="esc_12_machu_picchu_escritorio.png" descr="El viaje a Machupicchu Pueblo en escritori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371600"/>
            <a:ext cx="7498080" cy="480595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229600" y="1600200"/>
            <a:ext cx="3410712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Guardar, compartir e imprimir. </a:t>
            </a:r>
            <a:pPr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El enlace es el viaje: la consulta y la versión de los datos van en la dirección.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Antes de ir. </a:t>
            </a:r>
            <a:pPr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La ida y la vuelta se llevan 6 h 34 de los 2 días, y el tren tiene horarios y cupos fijos.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Fotos con su autor. </a:t>
            </a:r>
            <a:pPr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494 lugares tienen foto de Wikimedia Commons, de licencia libre y revisada a ojo.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Claro y oscuro. </a:t>
            </a:r>
            <a:pPr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Pensada primero para celular; al abrir baja unos 113 kB.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8716C"/>
                </a:solidFill>
                <a:latin typeface="Quattrocento Sans"/>
                <a:ea typeface="Quattrocento Sans"/>
                <a:cs typeface="Quattrocento Sans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749808" y="31089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C191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Fiestas y eventos de los municipios</a:t>
            </a:r>
            <a:endParaRPr lang="en-US" sz="2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749808" y="932688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Un municipio publica con su clave; el viajero lo ve en el calendario y en los viajes que pasan cerca</a:t>
            </a:r>
            <a:endParaRPr lang="en-US" sz="1400" dirty="0"/>
          </a:p>
        </p:txBody>
      </p:sp>
      <p:pic>
        <p:nvPicPr>
          <p:cNvPr id="4" name="esc_15_fiestas_escritorio.png" descr="Calendario de fiestas de juli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371600"/>
            <a:ext cx="5806440" cy="3721681"/>
          </a:xfrm>
          <a:prstGeom prst="rect">
            <a:avLst/>
          </a:prstGeom>
        </p:spPr>
      </p:pic>
      <p:pic>
        <p:nvPicPr>
          <p:cNvPr id="5" name="esc_17_evento_publicado_escritorio.png" descr="Un evento publicado por un municipi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371600"/>
            <a:ext cx="5440680" cy="1895556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537960" y="3520440"/>
            <a:ext cx="5074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758 fiestas y acontecimientos del inventario, 739 con fecha.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Lo publicado sale en el calendario y en los viajes que pasan a 10 km o menos en esas fechas.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No cambia qué viajes se proponen ni su orden (decisión 0011).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Hoy hay una sola clave compartida y no hay moderación.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8716C"/>
                </a:solidFill>
                <a:latin typeface="Quattrocento Sans"/>
                <a:ea typeface="Quattrocento Sans"/>
                <a:cs typeface="Quattrocento Sans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749808" y="31089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C191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Guion de la demo</a:t>
            </a:r>
            <a:endParaRPr lang="en-US" sz="2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749808" y="932688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Unos tres minutos con la app publicada. Si la red falla, estas capturas son el respaldo</a:t>
            </a:r>
            <a:endParaRPr lang="en-US" sz="1400" dirty="0"/>
          </a:p>
        </p:txBody>
      </p:sp>
      <p:sp>
        <p:nvSpPr>
          <p:cNvPr id="4" name="paso 1 de la demo"/>
          <p:cNvSpPr/>
          <p:nvPr/>
        </p:nvSpPr>
        <p:spPr>
          <a:xfrm>
            <a:off x="548640" y="1600200"/>
            <a:ext cx="420624" cy="420624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655064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Cusco, junio, 2 días. 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Sale Machupicchu Pueblo.</a:t>
            </a:r>
            <a:endParaRPr lang="en-US" sz="1600" dirty="0"/>
          </a:p>
        </p:txBody>
      </p:sp>
      <p:sp>
        <p:nvSpPr>
          <p:cNvPr id="7" name="paso 2 de la demo"/>
          <p:cNvSpPr/>
          <p:nvPr/>
        </p:nvSpPr>
        <p:spPr>
          <a:xfrm>
            <a:off x="548640" y="2331720"/>
            <a:ext cx="420624" cy="420624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3317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2386584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Lima, julio, 4 días, naturaleza y caminatas. 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Sale Huaraz, de S/ 644 a S/ 871.</a:t>
            </a:r>
            <a:endParaRPr lang="en-US" sz="1600" dirty="0"/>
          </a:p>
        </p:txBody>
      </p:sp>
      <p:sp>
        <p:nvSpPr>
          <p:cNvPr id="10" name="paso 3 de la demo"/>
          <p:cNvSpPr/>
          <p:nvPr/>
        </p:nvSpPr>
        <p:spPr>
          <a:xfrm>
            <a:off x="548640" y="3063240"/>
            <a:ext cx="420624" cy="420624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0632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3118104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Abrir Huaraz. 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El plan día por día, el mapa, el costo, el clima y las fiestas.</a:t>
            </a:r>
            <a:endParaRPr lang="en-US" sz="1600" dirty="0"/>
          </a:p>
        </p:txBody>
      </p:sp>
      <p:sp>
        <p:nvSpPr>
          <p:cNvPr id="13" name="paso 4 de la demo"/>
          <p:cNvSpPr/>
          <p:nvPr/>
        </p:nvSpPr>
        <p:spPr>
          <a:xfrm>
            <a:off x="548640" y="3794760"/>
            <a:ext cx="420624" cy="420624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7947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4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3849624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Cambiar a febrero. 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Huaraz ya no sale: es temporada de lluvias.</a:t>
            </a:r>
            <a:endParaRPr lang="en-US" sz="1600" dirty="0"/>
          </a:p>
        </p:txBody>
      </p:sp>
      <p:sp>
        <p:nvSpPr>
          <p:cNvPr id="16" name="paso 5 de la demo"/>
          <p:cNvSpPr/>
          <p:nvPr/>
        </p:nvSpPr>
        <p:spPr>
          <a:xfrm>
            <a:off x="548640" y="4526280"/>
            <a:ext cx="420624" cy="420624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5262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5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4581144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Guardar el viaje 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y copiar el enlace para compartirlo.</a:t>
            </a:r>
            <a:endParaRPr lang="en-US" sz="1600" dirty="0"/>
          </a:p>
        </p:txBody>
      </p:sp>
      <p:sp>
        <p:nvSpPr>
          <p:cNvPr id="19" name="paso 6 de la demo"/>
          <p:cNvSpPr/>
          <p:nvPr/>
        </p:nvSpPr>
        <p:spPr>
          <a:xfrm>
            <a:off x="548640" y="5257800"/>
            <a:ext cx="420624" cy="420624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5257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6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5312664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Publicar un evento 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con la clave y verlo en el calendario.</a:t>
            </a:r>
            <a:endParaRPr lang="en-US" sz="1600" dirty="0"/>
          </a:p>
        </p:txBody>
      </p:sp>
      <p:sp>
        <p:nvSpPr>
          <p:cNvPr id="22" name="antes de empezar"/>
          <p:cNvSpPr/>
          <p:nvPr/>
        </p:nvSpPr>
        <p:spPr>
          <a:xfrm>
            <a:off x="8001000" y="1600200"/>
            <a:ext cx="3639312" cy="3429000"/>
          </a:xfrm>
          <a:prstGeom prst="roundRect">
            <a:avLst>
              <a:gd name="adj" fmla="val 3200"/>
            </a:avLst>
          </a:prstGeom>
          <a:solidFill>
            <a:srgbClr val="F5F5F4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275320" y="18288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C191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Antes de empezar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8275320" y="2331720"/>
            <a:ext cx="31546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Dos minutos antes, abrir alejandros-team.onrender.com/v1/salud: Render tarda cerca de un minuto en despertar.</a:t>
            </a:r>
            <a:endParaRPr lang="en-US" sz="14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Revisar que diga la versión de datos 2026.10.4.</a:t>
            </a:r>
            <a:endParaRPr lang="en-US" sz="14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Tener la clave de publicar a mano, fuera de la pantalla compartida.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8716C"/>
                </a:solidFill>
                <a:latin typeface="Quattrocento Sans"/>
                <a:ea typeface="Quattrocento Sans"/>
                <a:cs typeface="Quattrocento Sans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15544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B923C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2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25146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Arquitectura y despliegue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3703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000" dirty="0">
                <a:solidFill>
                  <a:srgbClr val="E7E5E4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Miguel</a:t>
            </a: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822960" y="4206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A8A29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Qué pieza corre dónde, y por qué así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8716C"/>
                </a:solidFill>
                <a:latin typeface="Quattrocento Sans"/>
                <a:ea typeface="Quattrocento Sans"/>
                <a:cs typeface="Quattrocento Sans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749808" y="31089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C191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Arquitectura</a:t>
            </a:r>
            <a:endParaRPr lang="en-US" sz="2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749808" y="932688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Fuentes abiertas, un pipeline que corre el equipo y un API que responde desde memoria</a:t>
            </a:r>
            <a:endParaRPr lang="en-US" sz="1400" dirty="0"/>
          </a:p>
        </p:txBody>
      </p:sp>
      <p:pic>
        <p:nvPicPr>
          <p:cNvPr id="4" name="arquitectura.png" descr="Arquitectura: fuentes abiertas, pipeline, API y quién lo us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463040"/>
            <a:ext cx="10652760" cy="479721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8716C"/>
                </a:solidFill>
                <a:latin typeface="Quattrocento Sans"/>
                <a:ea typeface="Quattrocento Sans"/>
                <a:cs typeface="Quattrocento Sans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749808" y="31089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C191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Cómo se despliega cada pieza</a:t>
            </a:r>
            <a:endParaRPr lang="en-US" sz="2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749808" y="932688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Una sola imagen del API: corre en una laptop y en Render, y está lista para AWS Lambda</a:t>
            </a:r>
            <a:endParaRPr lang="en-US" sz="1400" dirty="0"/>
          </a:p>
        </p:txBody>
      </p:sp>
      <p:graphicFrame>
        <p:nvGraphicFramePr>
          <p:cNvPr id="13" name="tabla de despliegu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68580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2377440"/>
                <a:gridCol w="2880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Pieza</a:t>
                      </a:r>
                      <a:endParaRPr lang="en-US" sz="125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410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Tecnología</a:t>
                      </a:r>
                      <a:endParaRPr lang="en-US" sz="125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410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Dónde corre</a:t>
                      </a:r>
                      <a:endParaRPr lang="en-US" sz="125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410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1917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Pipeline</a:t>
                      </a:r>
                      <a:endParaRPr lang="en-US" sz="125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7534E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Python, pandas, scipy y osmium</a:t>
                      </a:r>
                      <a:endParaRPr lang="en-US" sz="125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7534E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En la computadora de un integrante, cuando cambia una fuente</a:t>
                      </a:r>
                      <a:endParaRPr lang="en-US" sz="125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1917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Motor y API</a:t>
                      </a:r>
                      <a:endParaRPr lang="en-US" sz="125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7534E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Python, numpy, pydantic y FastAPI</a:t>
                      </a:r>
                      <a:endParaRPr lang="en-US" sz="125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7534E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Una imagen de contenedor: hoy en Render; el destino, AWS Lambda</a:t>
                      </a:r>
                      <a:endParaRPr lang="en-US" sz="125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1917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Eventos publicados</a:t>
                      </a:r>
                      <a:endParaRPr lang="en-US" sz="125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7534E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DynamoDB en AWS; fuera, un archivo o la memoria</a:t>
                      </a:r>
                      <a:endParaRPr lang="en-US" sz="125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7534E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Junto al API</a:t>
                      </a:r>
                      <a:endParaRPr lang="en-US" sz="125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1917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App</a:t>
                      </a:r>
                      <a:endParaRPr lang="en-US" sz="125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7534E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React, Vite, TypeScript y MapLibre GL</a:t>
                      </a:r>
                      <a:endParaRPr lang="en-US" sz="125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7534E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GitHub Pages, con cada cambio de main</a:t>
                      </a:r>
                      <a:endParaRPr lang="en-US" sz="125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1917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Integración continua</a:t>
                      </a:r>
                      <a:endParaRPr lang="en-US" sz="125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7534E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GitHub Actions</a:t>
                      </a:r>
                      <a:endParaRPr lang="en-US" sz="125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7534E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En cada pull request: lint, pruebas, imágenes y la app contra el API</a:t>
                      </a:r>
                      <a:endParaRPr lang="en-US" sz="125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9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4983480"/>
            <a:ext cx="6858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En el navegador del viajero: </a:t>
            </a:r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las fotos llegan de Wikimedia Commons y el fondo del mapa de OpenFreeMap. Si no cargan, la app sigue, sin fotos y con un mapa liso.</a:t>
            </a:r>
            <a:endParaRPr lang="en-US" sz="1350" dirty="0"/>
          </a:p>
        </p:txBody>
      </p:sp>
      <p:sp>
        <p:nvSpPr>
          <p:cNvPr id="6" name="decisión 1"/>
          <p:cNvSpPr/>
          <p:nvPr/>
        </p:nvSpPr>
        <p:spPr>
          <a:xfrm>
            <a:off x="7772400" y="1508760"/>
            <a:ext cx="3867912" cy="1325880"/>
          </a:xfrm>
          <a:prstGeom prst="roundRect">
            <a:avLst>
              <a:gd name="adj" fmla="val 8276"/>
            </a:avLst>
          </a:prstGeom>
          <a:solidFill>
            <a:srgbClr val="FAFAF9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001000" y="166420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C191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El motor responde desde memoria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8001000" y="201168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Los datos del motor son archivos con versión que se cargan al arrancar. No hay base de datos (decisión 0003).</a:t>
            </a:r>
            <a:endParaRPr lang="en-US" sz="1250" dirty="0"/>
          </a:p>
        </p:txBody>
      </p:sp>
      <p:sp>
        <p:nvSpPr>
          <p:cNvPr id="9" name="decisión 2"/>
          <p:cNvSpPr/>
          <p:nvPr/>
        </p:nvSpPr>
        <p:spPr>
          <a:xfrm>
            <a:off x="7772400" y="2990088"/>
            <a:ext cx="3867912" cy="1325880"/>
          </a:xfrm>
          <a:prstGeom prst="roundRect">
            <a:avLst>
              <a:gd name="adj" fmla="val 8276"/>
            </a:avLst>
          </a:prstGeom>
          <a:solidFill>
            <a:srgbClr val="FAFAF9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001000" y="3145536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C191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No hay cuentas</a:t>
            </a:r>
            <a:endParaRPr lang="en-US" sz="1450" dirty="0"/>
          </a:p>
        </p:txBody>
      </p:sp>
      <p:sp>
        <p:nvSpPr>
          <p:cNvPr id="11" name="Text 8"/>
          <p:cNvSpPr txBox="1"/>
          <p:nvPr/>
        </p:nvSpPr>
        <p:spPr>
          <a:xfrm>
            <a:off x="8001000" y="3493008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La consulta viaja en la dirección y el motor es determinista: el enlace es el viaje (0001).</a:t>
            </a:r>
            <a:endParaRPr lang="en-US" sz="1250" dirty="0"/>
          </a:p>
        </p:txBody>
      </p:sp>
      <p:sp>
        <p:nvSpPr>
          <p:cNvPr id="12" name="decisión 3"/>
          <p:cNvSpPr/>
          <p:nvPr/>
        </p:nvSpPr>
        <p:spPr>
          <a:xfrm>
            <a:off x="7772400" y="4471416"/>
            <a:ext cx="3867912" cy="1325880"/>
          </a:xfrm>
          <a:prstGeom prst="roundRect">
            <a:avLst>
              <a:gd name="adj" fmla="val 8276"/>
            </a:avLst>
          </a:prstGeom>
          <a:solidFill>
            <a:srgbClr val="FAFAF9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001000" y="4626864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C191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Render hoy, AWS después</a:t>
            </a:r>
            <a:endParaRPr lang="en-US" sz="1450" dirty="0"/>
          </a:p>
        </p:txBody>
      </p:sp>
      <p:sp>
        <p:nvSpPr>
          <p:cNvPr id="14" name="Text 11"/>
          <p:cNvSpPr txBox="1"/>
          <p:nvPr/>
        </p:nvSpPr>
        <p:spPr>
          <a:xfrm>
            <a:off x="8001000" y="4974336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Render es gratis, pero se duerme a los 15 minutos y pierde lo publicado al reiniciarse. En AWS lo publicado dura (0012).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8716C"/>
                </a:solidFill>
                <a:latin typeface="Quattrocento Sans"/>
                <a:ea typeface="Quattrocento Sans"/>
                <a:cs typeface="Quattrocento Sans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15544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B923C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3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25146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El motor y su API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3703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000" dirty="0">
                <a:solidFill>
                  <a:srgbClr val="E7E5E4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Diego</a:t>
            </a: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822960" y="4206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A8A29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Qué recibe, cómo arma un viaje y qué garantiza en cada respuesta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8716C"/>
                </a:solidFill>
                <a:latin typeface="Quattrocento Sans"/>
                <a:ea typeface="Quattrocento Sans"/>
                <a:cs typeface="Quattrocento Sans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749808" y="31089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C191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Qué recibe y qué devuelve el API</a:t>
            </a:r>
            <a:endParaRPr lang="en-US" sz="2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749808" y="932688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Contrato 1.2: el esquema OpenAPI sale del código, y los errores llegan en español y con su campo</a:t>
            </a:r>
            <a:endParaRPr lang="en-US" sz="1400" dirty="0"/>
          </a:p>
        </p:txBody>
      </p:sp>
      <p:graphicFrame>
        <p:nvGraphicFramePr>
          <p:cNvPr id="15" name="tabla de endpoint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640080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40690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Método y ruta</a:t>
                      </a:r>
                      <a:endParaRPr lang="en-US" sz="13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410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Qué hace</a:t>
                      </a:r>
                      <a:endParaRPr lang="en-US" sz="13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410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C191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GET /v1/viajes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7534E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Hasta tres viajes para una consulta</a:t>
                      </a:r>
                      <a:endParaRPr lang="en-US" sz="13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C191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GET /v1/opciones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7534E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Orígenes, intereses y rangos del formulario</a:t>
                      </a:r>
                      <a:endParaRPr lang="en-US" sz="13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C191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GET /v1/polos/{id}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7534E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Un polo: sus lugares, su clima de 12 meses y sus eventos</a:t>
                      </a:r>
                      <a:endParaRPr lang="en-US" sz="13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C191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GET /v1/eventos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7534E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Fiestas y eventos entre dos fechas</a:t>
                      </a:r>
                      <a:endParaRPr lang="en-US" sz="13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C191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POST /v1/eventos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7534E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Un municipio publica un evento, con su clave</a:t>
                      </a:r>
                      <a:endParaRPr lang="en-US" sz="13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C191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GET /v1/salud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7534E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Versión del servicio, del contrato y de los datos</a:t>
                      </a:r>
                      <a:endParaRPr lang="en-US" sz="13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una consulta"/>
          <p:cNvSpPr/>
          <p:nvPr/>
        </p:nvSpPr>
        <p:spPr>
          <a:xfrm>
            <a:off x="7269480" y="1508760"/>
            <a:ext cx="4370832" cy="4526280"/>
          </a:xfrm>
          <a:prstGeom prst="roundRect">
            <a:avLst>
              <a:gd name="adj" fmla="val 2510"/>
            </a:avLst>
          </a:prstGeom>
          <a:solidFill>
            <a:srgbClr val="F5F5F4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498080" y="16916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C191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Una consulta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498080" y="210312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5C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/v1/viajes?origen=lima&amp;mes=7&amp;dias=4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B5C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&amp;intereses=naturaleza&amp;intereses=caminatas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B5C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&amp;presupuesto=1000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7498080" y="306324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Cada uno de los tres viajes trae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7498080" y="3429000"/>
            <a:ext cx="3977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el polo y el pueblo donde se duerme</a:t>
            </a:r>
            <a:endParaRPr lang="en-US" sz="135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los días y sus paradas, con la hora de llegada</a:t>
            </a:r>
            <a:endParaRPr lang="en-US" sz="135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el costo: percentiles 20, 50 y 80, con su desglose</a:t>
            </a:r>
            <a:endParaRPr lang="en-US" sz="135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el clima del mes, los eventos, los avisos y los motivos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7498080" y="54406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Responde en 0,25 s de mediana.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8716C"/>
                </a:solidFill>
                <a:latin typeface="Quattrocento Sans"/>
                <a:ea typeface="Quattrocento Sans"/>
                <a:cs typeface="Quattrocento Sans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749808" y="31089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C191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Cómo arma un viaje</a:t>
            </a:r>
            <a:endParaRPr lang="en-US" sz="2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749808" y="932688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Una estrella: se duerme en un pueblo y cada día sale un paseo que vuelve a él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704088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Un polo es lo que se visita desde un pueblo. </a:t>
            </a:r>
            <a:pPr indent="0" marL="0">
              <a:spcAft>
                <a:spcPts val="1800"/>
              </a:spcAft>
              <a:buNone/>
            </a:pPr>
            <a:r>
              <a:rPr lang="en-US" sz="16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 222 grupos, los que duermen en el mismo pueblo son uno solo: 194 polos.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Días con límite. </a:t>
            </a:r>
            <a:pPr indent="0" marL="0">
              <a:spcAft>
                <a:spcPts val="1800"/>
              </a:spcAft>
              <a:buNone/>
            </a:pPr>
            <a:r>
              <a:rPr lang="en-US" sz="16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Hasta 8 horas con visitas y 9 de solo viaje, con seis paradas por día como máximo.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Qué visitar y en qué orden. </a:t>
            </a:r>
            <a:pPr indent="0" marL="0">
              <a:spcAft>
                <a:spcPts val="1800"/>
              </a:spcAft>
              <a:buNone/>
            </a:pPr>
            <a:r>
              <a:rPr lang="en-US" sz="16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Inserción voraz, 2-opt y tres arranques: se queda el de más valor.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El valor de una parada </a:t>
            </a:r>
            <a:pPr indent="0" marL="0">
              <a:spcAft>
                <a:spcPts val="1800"/>
              </a:spcAft>
              <a:buNone/>
            </a:pPr>
            <a:r>
              <a:rPr lang="en-US" sz="16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es 1, 2, 6 o 24 según su jerarquía, para que un imperdible pese más que un día de lugares corrientes.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El puntaje: </a:t>
            </a:r>
            <a:pPr indent="0" marL="0">
              <a:spcAft>
                <a:spcPts val="1800"/>
              </a:spcAft>
              <a:buNone/>
            </a:pPr>
            <a:r>
              <a:rPr lang="en-US" sz="16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70 % calidad, con la temporada y el presupuesto, y 30 % novedad. No se propone un viaje con más días en el camino que allá.</a:t>
            </a:r>
            <a:endParaRPr lang="en-US" sz="1600" dirty="0"/>
          </a:p>
        </p:txBody>
      </p:sp>
      <p:pic>
        <p:nvPicPr>
          <p:cNvPr id="5" name="mapa_machu_picchu.png" descr="Mapa del viaje a Machupicchu Pueblo, con un pétalo por dí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1463040"/>
            <a:ext cx="2722893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0" y="5897880"/>
            <a:ext cx="3867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8716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Machupicchu Pueblo en 2 días: un pétalo por día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8716C"/>
                </a:solidFill>
                <a:latin typeface="Quattrocento Sans"/>
                <a:ea typeface="Quattrocento Sans"/>
                <a:cs typeface="Quattrocento Sans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749808" y="31089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C191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Diez garantías en cada respuesta</a:t>
            </a:r>
            <a:endParaRPr lang="en-US" sz="2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749808" y="932688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Son propiedades, no intenciones: las pruebas las verifican sobre 1 000 consultas generadas al azar</a:t>
            </a:r>
            <a:endParaRPr lang="en-US" sz="1400" dirty="0"/>
          </a:p>
        </p:txBody>
      </p:sp>
      <p:sp>
        <p:nvSpPr>
          <p:cNvPr id="4" name="propiedad 1"/>
          <p:cNvSpPr/>
          <p:nvPr/>
        </p:nvSpPr>
        <p:spPr>
          <a:xfrm>
            <a:off x="548640" y="1600200"/>
            <a:ext cx="420624" cy="42062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627632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Ninguna parada supera la altura máxima pedida.</a:t>
            </a:r>
            <a:endParaRPr lang="en-US" sz="1500" dirty="0"/>
          </a:p>
        </p:txBody>
      </p:sp>
      <p:sp>
        <p:nvSpPr>
          <p:cNvPr id="7" name="propiedad 2"/>
          <p:cNvSpPr/>
          <p:nvPr/>
        </p:nvSpPr>
        <p:spPr>
          <a:xfrm>
            <a:off x="548640" y="2468880"/>
            <a:ext cx="420624" cy="42062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4688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2496312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Los días suman exactamente los pedidos, con la ida y la vuelta.</a:t>
            </a:r>
            <a:endParaRPr lang="en-US" sz="1500" dirty="0"/>
          </a:p>
        </p:txBody>
      </p:sp>
      <p:sp>
        <p:nvSpPr>
          <p:cNvPr id="10" name="propiedad 3"/>
          <p:cNvSpPr/>
          <p:nvPr/>
        </p:nvSpPr>
        <p:spPr>
          <a:xfrm>
            <a:off x="548640" y="3337560"/>
            <a:ext cx="420624" cy="42062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3375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3364992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Ninguna jornada con visitas pasa de 8 horas; un día de solo viaje, de 9.</a:t>
            </a:r>
            <a:endParaRPr lang="en-US" sz="1500" dirty="0"/>
          </a:p>
        </p:txBody>
      </p:sp>
      <p:sp>
        <p:nvSpPr>
          <p:cNvPr id="13" name="propiedad 4"/>
          <p:cNvSpPr/>
          <p:nvPr/>
        </p:nvSpPr>
        <p:spPr>
          <a:xfrm>
            <a:off x="548640" y="4206240"/>
            <a:ext cx="420624" cy="42062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2062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4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4233672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Toda parada enlaza a su ficha oficial de MINCETUR.</a:t>
            </a:r>
            <a:endParaRPr lang="en-US" sz="1500" dirty="0"/>
          </a:p>
        </p:txBody>
      </p:sp>
      <p:sp>
        <p:nvSpPr>
          <p:cNvPr id="16" name="propiedad 5"/>
          <p:cNvSpPr/>
          <p:nvPr/>
        </p:nvSpPr>
        <p:spPr>
          <a:xfrm>
            <a:off x="548640" y="5074920"/>
            <a:ext cx="420624" cy="42062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50749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5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5102352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Un mes desaconsejado nunca aparece sin aviso.</a:t>
            </a:r>
            <a:endParaRPr lang="en-US" sz="1500" dirty="0"/>
          </a:p>
        </p:txBody>
      </p:sp>
      <p:sp>
        <p:nvSpPr>
          <p:cNvPr id="19" name="propiedad 6"/>
          <p:cNvSpPr/>
          <p:nvPr/>
        </p:nvSpPr>
        <p:spPr>
          <a:xfrm>
            <a:off x="6217920" y="1600200"/>
            <a:ext cx="420624" cy="42062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17920" y="1600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6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858000" y="1627632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Un evento solo aparece si cae en las fechas del viaje.</a:t>
            </a:r>
            <a:endParaRPr lang="en-US" sz="1500" dirty="0"/>
          </a:p>
        </p:txBody>
      </p:sp>
      <p:sp>
        <p:nvSpPr>
          <p:cNvPr id="22" name="propiedad 7"/>
          <p:cNvSpPr/>
          <p:nvPr/>
        </p:nvSpPr>
        <p:spPr>
          <a:xfrm>
            <a:off x="6217920" y="2468880"/>
            <a:ext cx="420624" cy="42062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17920" y="24688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7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0" y="2496312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El presupuesto ordena y advierte, pero nunca esconde un viaje.</a:t>
            </a:r>
            <a:endParaRPr lang="en-US" sz="1500" dirty="0"/>
          </a:p>
        </p:txBody>
      </p:sp>
      <p:sp>
        <p:nvSpPr>
          <p:cNvPr id="25" name="propiedad 8"/>
          <p:cNvSpPr/>
          <p:nvPr/>
        </p:nvSpPr>
        <p:spPr>
          <a:xfrm>
            <a:off x="6217920" y="3337560"/>
            <a:ext cx="420624" cy="42062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17920" y="33375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8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858000" y="3364992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La misma consulta con los mismos datos da la misma respuesta.</a:t>
            </a:r>
            <a:endParaRPr lang="en-US" sz="1500" dirty="0"/>
          </a:p>
        </p:txBody>
      </p:sp>
      <p:sp>
        <p:nvSpPr>
          <p:cNvPr id="28" name="propiedad 9"/>
          <p:cNvSpPr/>
          <p:nvPr/>
        </p:nvSpPr>
        <p:spPr>
          <a:xfrm>
            <a:off x="6217920" y="4206240"/>
            <a:ext cx="420624" cy="42062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217920" y="42062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9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8000" y="4233672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Los tres viajes son de polos distintos.</a:t>
            </a:r>
            <a:endParaRPr lang="en-US" sz="1500" dirty="0"/>
          </a:p>
        </p:txBody>
      </p:sp>
      <p:sp>
        <p:nvSpPr>
          <p:cNvPr id="31" name="propiedad 10"/>
          <p:cNvSpPr/>
          <p:nvPr/>
        </p:nvSpPr>
        <p:spPr>
          <a:xfrm>
            <a:off x="6217920" y="5074920"/>
            <a:ext cx="420624" cy="42062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217920" y="50749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10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6858000" y="5102352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Un dato que la fuente no trae viaja vacío, nunca inventado.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8716C"/>
                </a:solidFill>
                <a:latin typeface="Quattrocento Sans"/>
                <a:ea typeface="Quattrocento Sans"/>
                <a:cs typeface="Quattrocento Sans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15544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B923C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4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25146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Datos, modelo y cifras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3703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000" dirty="0">
                <a:solidFill>
                  <a:srgbClr val="E7E5E4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Alejandro</a:t>
            </a: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822960" y="4206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A8A29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 dónde salen los datos, cómo se decide y qué propone hoy el motor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8716C"/>
                </a:solidFill>
                <a:latin typeface="Quattrocento Sans"/>
                <a:ea typeface="Quattrocento Sans"/>
                <a:cs typeface="Quattrocento Sans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749808" y="31089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C191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De datos abiertos a 194 polos</a:t>
            </a:r>
            <a:endParaRPr lang="en-US" sz="2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749808" y="932688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Todo sale de fuentes abiertas que se pueden redistribuir, y los datos llevan versión</a:t>
            </a:r>
            <a:endParaRPr lang="en-US" sz="1400" dirty="0"/>
          </a:p>
        </p:txBody>
      </p:sp>
      <p:sp>
        <p:nvSpPr>
          <p:cNvPr id="4" name="fuente 1"/>
          <p:cNvSpPr/>
          <p:nvPr/>
        </p:nvSpPr>
        <p:spPr>
          <a:xfrm>
            <a:off x="548640" y="1554480"/>
            <a:ext cx="6675120" cy="713232"/>
          </a:xfrm>
          <a:prstGeom prst="roundRect">
            <a:avLst>
              <a:gd name="adj" fmla="val 15385"/>
            </a:avLst>
          </a:prstGeom>
          <a:solidFill>
            <a:srgbClr val="FAFAF9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37360"/>
            <a:ext cx="6309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6 225 fichas oficiales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de MINCETUR, leídas una por una</a:t>
            </a:r>
            <a:endParaRPr lang="en-US" sz="1500" dirty="0"/>
          </a:p>
        </p:txBody>
      </p:sp>
      <p:sp>
        <p:nvSpPr>
          <p:cNvPr id="6" name="fuente 2"/>
          <p:cNvSpPr/>
          <p:nvPr/>
        </p:nvSpPr>
        <p:spPr>
          <a:xfrm>
            <a:off x="548640" y="2432304"/>
            <a:ext cx="6675120" cy="713232"/>
          </a:xfrm>
          <a:prstGeom prst="roundRect">
            <a:avLst>
              <a:gd name="adj" fmla="val 15385"/>
            </a:avLst>
          </a:prstGeom>
          <a:solidFill>
            <a:srgbClr val="FAFAF9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615184"/>
            <a:ext cx="6309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758 fiestas y acontecimientos,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739 con fecha</a:t>
            </a:r>
            <a:endParaRPr lang="en-US" sz="1500" dirty="0"/>
          </a:p>
        </p:txBody>
      </p:sp>
      <p:sp>
        <p:nvSpPr>
          <p:cNvPr id="8" name="fuente 3"/>
          <p:cNvSpPr/>
          <p:nvPr/>
        </p:nvSpPr>
        <p:spPr>
          <a:xfrm>
            <a:off x="548640" y="3310128"/>
            <a:ext cx="6675120" cy="713232"/>
          </a:xfrm>
          <a:prstGeom prst="roundRect">
            <a:avLst>
              <a:gd name="adj" fmla="val 15385"/>
            </a:avLst>
          </a:prstGeom>
          <a:solidFill>
            <a:srgbClr val="FAFAF9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3493008"/>
            <a:ext cx="6309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Una red vial propia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sobre OpenStreetMap: carretera, tren y bote</a:t>
            </a:r>
            <a:endParaRPr lang="en-US" sz="1500" dirty="0"/>
          </a:p>
        </p:txBody>
      </p:sp>
      <p:sp>
        <p:nvSpPr>
          <p:cNvPr id="10" name="fuente 4"/>
          <p:cNvSpPr/>
          <p:nvPr/>
        </p:nvSpPr>
        <p:spPr>
          <a:xfrm>
            <a:off x="548640" y="4187952"/>
            <a:ext cx="6675120" cy="713232"/>
          </a:xfrm>
          <a:prstGeom prst="roundRect">
            <a:avLst>
              <a:gd name="adj" fmla="val 15385"/>
            </a:avLst>
          </a:prstGeom>
          <a:solidFill>
            <a:srgbClr val="FAFAF9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4370832"/>
            <a:ext cx="6309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Clima diario de diez años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en un punto de cada polo, de Open-Meteo</a:t>
            </a:r>
            <a:endParaRPr lang="en-US" sz="1500" dirty="0"/>
          </a:p>
        </p:txBody>
      </p:sp>
      <p:sp>
        <p:nvSpPr>
          <p:cNvPr id="12" name="fuente 5"/>
          <p:cNvSpPr/>
          <p:nvPr/>
        </p:nvSpPr>
        <p:spPr>
          <a:xfrm>
            <a:off x="548640" y="5065776"/>
            <a:ext cx="6675120" cy="713232"/>
          </a:xfrm>
          <a:prstGeom prst="roundRect">
            <a:avLst>
              <a:gd name="adj" fmla="val 15385"/>
            </a:avLst>
          </a:prstGeom>
          <a:solidFill>
            <a:srgbClr val="FAFAF9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5248656"/>
            <a:ext cx="6309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Fotos de licencia libre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de Wikimedia Commons</a:t>
            </a:r>
            <a:endParaRPr lang="en-US" sz="1500" dirty="0"/>
          </a:p>
        </p:txBody>
      </p:sp>
      <p:sp>
        <p:nvSpPr>
          <p:cNvPr id="14" name="flecha"/>
          <p:cNvSpPr/>
          <p:nvPr/>
        </p:nvSpPr>
        <p:spPr>
          <a:xfrm>
            <a:off x="7452360" y="3246120"/>
            <a:ext cx="594360" cy="457200"/>
          </a:xfrm>
          <a:prstGeom prst="rightArrow">
            <a:avLst/>
          </a:prstGeom>
          <a:solidFill>
            <a:srgbClr val="A8A29E"/>
          </a:solidFill>
          <a:ln w="12700">
            <a:solidFill>
              <a:srgbClr val="A8A29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1691640"/>
            <a:ext cx="3291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C2410C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194</a:t>
            </a:r>
            <a:endParaRPr lang="en-US" sz="80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288036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polos turísticos, uno por cada pueblo donde se duerme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3886200"/>
            <a:ext cx="3291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C191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4 465</a:t>
            </a:r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lugares que pueden ser parada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C191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24</a:t>
            </a:r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ciudades de origen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C191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2026.10.4</a:t>
            </a:r>
            <a:pPr indent="0" marL="0">
              <a:buNone/>
            </a:pPr>
            <a:r>
              <a:rPr lang="en-US" sz="16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la versión de los datos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8716C"/>
                </a:solidFill>
                <a:latin typeface="Quattrocento Sans"/>
                <a:ea typeface="Quattrocento Sans"/>
                <a:cs typeface="Quattrocento Sans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749808" y="31089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C191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Cuatro métodos, cada uno medido</a:t>
            </a:r>
            <a:endParaRPr lang="en-US" sz="2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749808" y="932688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No hay clics ni valoraciones de los que aprender: cada método es declarado y tiene su medida (decisión 0004)</a:t>
            </a:r>
            <a:endParaRPr lang="en-US" sz="1400" dirty="0"/>
          </a:p>
        </p:txBody>
      </p:sp>
      <p:graphicFrame>
        <p:nvGraphicFramePr>
          <p:cNvPr id="20" name="tabla de método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1672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4480560"/>
                <a:gridCol w="43708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Método</a:t>
                      </a:r>
                      <a:endParaRPr lang="en-US" sz="145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410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Qué hace</a:t>
                      </a:r>
                      <a:endParaRPr lang="en-US" sz="145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410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Cómo se midió</a:t>
                      </a:r>
                      <a:endParaRPr lang="en-US" sz="145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410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1C1917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Agrupamiento (TA-01)</a:t>
                      </a:r>
                      <a:endParaRPr lang="en-US" sz="145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57534E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Junta los lugares en 222 grupos; los que duermen en el mismo pueblo son un polo: 194</a:t>
                      </a:r>
                      <a:endParaRPr lang="en-US" sz="145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57534E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Ningún grupo pasa de 80 km de viaje. HDBSCAN daba grupos de 21 horas de punta a punta</a:t>
                      </a:r>
                      <a:endParaRPr lang="en-US" sz="145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1C1917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Tiempos de viaje</a:t>
                      </a:r>
                      <a:endParaRPr lang="en-US" sz="145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57534E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El camino más rápido sobre una red de 1,45 millones de vértices, con tren y botes</a:t>
                      </a:r>
                      <a:endParaRPr lang="en-US" sz="145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57534E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22 % de error medio contra 1 780 recorridos de las fichas. La fórmula inicial erraba en 48 %</a:t>
                      </a:r>
                      <a:endParaRPr lang="en-US" sz="145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1C1917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Estacionalidad (TA-05)</a:t>
                      </a:r>
                      <a:endParaRPr lang="en-US" sz="145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57534E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Cada mes conviene, lleva advertencia o se desaconseja, según diez años de lluvia</a:t>
                      </a:r>
                      <a:endParaRPr lang="en-US" sz="145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57534E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Regla declarada, no predicción</a:t>
                      </a:r>
                      <a:endParaRPr lang="en-US" sz="145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1C1917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Itinerario (TA-04)</a:t>
                      </a:r>
                      <a:endParaRPr lang="en-US" sz="145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57534E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Qué visitar y en qué orden, en jornadas de 8 horas</a:t>
                      </a:r>
                      <a:endParaRPr lang="en-US" sz="145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57534E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Diez propiedades, en 1 000 consultas al azar</a:t>
                      </a:r>
                      <a:endParaRPr lang="en-US" sz="145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puntaje"/>
          <p:cNvSpPr/>
          <p:nvPr/>
        </p:nvSpPr>
        <p:spPr>
          <a:xfrm>
            <a:off x="548640" y="4206240"/>
            <a:ext cx="5440680" cy="960120"/>
          </a:xfrm>
          <a:prstGeom prst="roundRect">
            <a:avLst>
              <a:gd name="adj" fmla="val 11429"/>
            </a:avLst>
          </a:prstGeom>
          <a:solidFill>
            <a:srgbClr val="F5F5F4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4361688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Puntaje =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70 % calidad, con la temporada y el presupuesto, + 30 % novedad</a:t>
            </a:r>
            <a:endParaRPr lang="en-US" sz="1500" dirty="0"/>
          </a:p>
        </p:txBody>
      </p:sp>
      <p:sp>
        <p:nvSpPr>
          <p:cNvPr id="7" name="costo"/>
          <p:cNvSpPr/>
          <p:nvPr/>
        </p:nvSpPr>
        <p:spPr>
          <a:xfrm>
            <a:off x="6199632" y="4206240"/>
            <a:ext cx="5440680" cy="960120"/>
          </a:xfrm>
          <a:prstGeom prst="roundRect">
            <a:avLst>
              <a:gd name="adj" fmla="val 11429"/>
            </a:avLst>
          </a:prstGeom>
          <a:solidFill>
            <a:srgbClr val="F5F5F4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28232" y="4361688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Costo =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banda del percentil 20 al 80, en 4 000 simulaciones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8716C"/>
                </a:solidFill>
                <a:latin typeface="Quattrocento Sans"/>
                <a:ea typeface="Quattrocento Sans"/>
                <a:cs typeface="Quattrocento Sans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749808" y="31089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C191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Lo que el motor propone hoy</a:t>
            </a:r>
            <a:endParaRPr lang="en-US" sz="2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749808" y="932688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Una rejilla de 1 152 consultas: 24 orígenes × 2, 4, 6 y 9 días × los 12 meses</a:t>
            </a:r>
            <a:endParaRPr lang="en-US" sz="1400" dirty="0"/>
          </a:p>
        </p:txBody>
      </p:sp>
      <p:sp>
        <p:nvSpPr>
          <p:cNvPr id="4" name="cifra 1"/>
          <p:cNvSpPr/>
          <p:nvPr/>
        </p:nvSpPr>
        <p:spPr>
          <a:xfrm>
            <a:off x="548640" y="1554480"/>
            <a:ext cx="3538728" cy="2240280"/>
          </a:xfrm>
          <a:prstGeom prst="roundRect">
            <a:avLst>
              <a:gd name="adj" fmla="val 4898"/>
            </a:avLst>
          </a:prstGeom>
          <a:solidFill>
            <a:srgbClr val="FAFAF9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1907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Rutas que duermen en Huaraz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24028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A8A29E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0</a:t>
            </a:r>
            <a:pPr indent="0" marL="0">
              <a:buNone/>
            </a:pPr>
            <a:r>
              <a:rPr lang="en-US" sz="2400" b="1" dirty="0">
                <a:solidFill>
                  <a:srgbClr val="A8A2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 </a:t>
            </a:r>
            <a:pPr indent="0" marL="0">
              <a:buNone/>
            </a:pPr>
            <a:r>
              <a:rPr lang="en-US" sz="3800" b="1" dirty="0">
                <a:solidFill>
                  <a:srgbClr val="C2410C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72</a:t>
            </a:r>
            <a:endParaRPr lang="en-US" sz="3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2004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8716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desde siete ciudades, Lima entre ellas</a:t>
            </a:r>
            <a:endParaRPr lang="en-US" sz="1300" dirty="0"/>
          </a:p>
        </p:txBody>
      </p:sp>
      <p:sp>
        <p:nvSpPr>
          <p:cNvPr id="8" name="cifra 2"/>
          <p:cNvSpPr/>
          <p:nvPr/>
        </p:nvSpPr>
        <p:spPr>
          <a:xfrm>
            <a:off x="4325112" y="1554480"/>
            <a:ext cx="3538728" cy="2240280"/>
          </a:xfrm>
          <a:prstGeom prst="roundRect">
            <a:avLst>
              <a:gd name="adj" fmla="val 4898"/>
            </a:avLst>
          </a:prstGeom>
          <a:solidFill>
            <a:srgbClr val="FAFAF9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53712" y="171907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Rutas que duermen en Machupicchu Pueblo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553712" y="224028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A8A29E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0</a:t>
            </a:r>
            <a:pPr indent="0" marL="0">
              <a:buNone/>
            </a:pPr>
            <a:r>
              <a:rPr lang="en-US" sz="2400" b="1" dirty="0">
                <a:solidFill>
                  <a:srgbClr val="A8A2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 </a:t>
            </a:r>
            <a:pPr indent="0" marL="0">
              <a:buNone/>
            </a:pPr>
            <a:r>
              <a:rPr lang="en-US" sz="3800" b="1" dirty="0">
                <a:solidFill>
                  <a:srgbClr val="C2410C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9</a:t>
            </a:r>
            <a:endParaRPr lang="en-US" sz="3800" dirty="0"/>
          </a:p>
        </p:txBody>
      </p:sp>
      <p:sp>
        <p:nvSpPr>
          <p:cNvPr id="11" name="Text 9"/>
          <p:cNvSpPr txBox="1"/>
          <p:nvPr/>
        </p:nvSpPr>
        <p:spPr>
          <a:xfrm>
            <a:off x="4553712" y="32004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8716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todas desde el Cusco</a:t>
            </a:r>
            <a:endParaRPr lang="en-US" sz="1300" dirty="0"/>
          </a:p>
        </p:txBody>
      </p:sp>
      <p:sp>
        <p:nvSpPr>
          <p:cNvPr id="12" name="cifra 3"/>
          <p:cNvSpPr/>
          <p:nvPr/>
        </p:nvSpPr>
        <p:spPr>
          <a:xfrm>
            <a:off x="8101584" y="1554480"/>
            <a:ext cx="3538728" cy="2240280"/>
          </a:xfrm>
          <a:prstGeom prst="roundRect">
            <a:avLst>
              <a:gd name="adj" fmla="val 4898"/>
            </a:avLst>
          </a:prstGeom>
          <a:solidFill>
            <a:srgbClr val="FAFAF9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30184" y="171907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Rutas fuera del circuito Lima-Cusco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330184" y="224028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A8A29E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84 %</a:t>
            </a:r>
            <a:pPr indent="0" marL="0">
              <a:buNone/>
            </a:pPr>
            <a:r>
              <a:rPr lang="en-US" sz="2400" b="1" dirty="0">
                <a:solidFill>
                  <a:srgbClr val="A8A2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 </a:t>
            </a:r>
            <a:pPr indent="0" marL="0">
              <a:buNone/>
            </a:pPr>
            <a:r>
              <a:rPr lang="en-US" sz="3800" b="1" dirty="0">
                <a:solidFill>
                  <a:srgbClr val="C2410C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77 %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8330184" y="32004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8716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el precio de proponer lo más conocido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0690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C191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Qué cambió el 7 y el 8 de octubre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480560"/>
            <a:ext cx="56692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Un polo por cada pueblo donde se duerme.</a:t>
            </a:r>
            <a:endParaRPr lang="en-US" sz="14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Un imperdible vale más: la escala 1-2-6-24.</a:t>
            </a:r>
            <a:endParaRPr lang="en-US" sz="14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Un día de solo viaje puede durar 9 horas.</a:t>
            </a:r>
            <a:endParaRPr lang="en-US" sz="14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Ningún viaje pasa más días en el camino que allá.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629400" y="40690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C191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El precio, en la misma rejilla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629400" y="4480560"/>
            <a:ext cx="501091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Los diez polos más propuestos se llevan el 57 % de las rutas; antes, el 50 %.</a:t>
            </a:r>
            <a:endParaRPr lang="en-US" sz="14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El aviso de que el camino pesa sale en el 37 %; antes, en el 27 %.</a:t>
            </a:r>
            <a:endParaRPr lang="en-US" sz="14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Si el balance es bueno se mide en la semana 12, con consultas anotadas.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8716C"/>
                </a:solidFill>
                <a:latin typeface="Quattrocento Sans"/>
                <a:ea typeface="Quattrocento Sans"/>
                <a:cs typeface="Quattrocento Sans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749808" y="31089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C191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El clima cambia la respuesta</a:t>
            </a:r>
            <a:endParaRPr lang="en-US" sz="2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749808" y="932688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La misma consulta desde Lima: 4 días, naturaleza y caminatas, hasta S/ 1 000</a:t>
            </a:r>
            <a:endParaRPr lang="en-US" sz="1400" dirty="0"/>
          </a:p>
        </p:txBody>
      </p:sp>
      <p:pic>
        <p:nvPicPr>
          <p:cNvPr id="4" name="esc_09_lima_julio_escritorio.png" descr="Julio: Huaraz, Huacho y La Merc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417320"/>
            <a:ext cx="5669280" cy="3407599"/>
          </a:xfrm>
          <a:prstGeom prst="rect">
            <a:avLst/>
          </a:prstGeom>
        </p:spPr>
      </p:pic>
      <p:pic>
        <p:nvPicPr>
          <p:cNvPr id="5" name="esc_10_lima_febrero_escritorio.png" descr="Febrero: Huacho, Paracas y Nasc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417320"/>
            <a:ext cx="5669280" cy="3407599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4916359"/>
            <a:ext cx="5440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Julio: 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Huaraz, Huacho y La Merced. En la sierra es temporada seca.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6263640" y="4916359"/>
            <a:ext cx="5376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Febrero: 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Huacho, Paracas y Nasca. Huaraz no sale: es temporada de lluvias.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El 10 de octubre entró el clima propio de los 194 polos: cambió la respuesta de 156 de las 1 152 consultas.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8716C"/>
                </a:solidFill>
                <a:latin typeface="Quattrocento Sans"/>
                <a:ea typeface="Quattrocento Sans"/>
                <a:cs typeface="Quattrocento Sans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749808" y="31089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C191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Cómo sabemos que funciona</a:t>
            </a:r>
            <a:endParaRPr lang="en-US" sz="2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749808" y="932688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Las cifras del informe salen del mismo código que responde el API</a:t>
            </a:r>
            <a:endParaRPr lang="en-US" sz="1400" dirty="0"/>
          </a:p>
        </p:txBody>
      </p:sp>
      <p:sp>
        <p:nvSpPr>
          <p:cNvPr id="4" name="estadística 1"/>
          <p:cNvSpPr/>
          <p:nvPr/>
        </p:nvSpPr>
        <p:spPr>
          <a:xfrm>
            <a:off x="548640" y="1554480"/>
            <a:ext cx="2587752" cy="1691640"/>
          </a:xfrm>
          <a:prstGeom prst="roundRect">
            <a:avLst>
              <a:gd name="adj" fmla="val 6486"/>
            </a:avLst>
          </a:prstGeom>
          <a:solidFill>
            <a:srgbClr val="FAFAF9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2410C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679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51460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pruebas del motor, el API y el pipeline</a:t>
            </a:r>
            <a:endParaRPr lang="en-US" sz="1300" dirty="0"/>
          </a:p>
        </p:txBody>
      </p:sp>
      <p:sp>
        <p:nvSpPr>
          <p:cNvPr id="7" name="estadística 2"/>
          <p:cNvSpPr/>
          <p:nvPr/>
        </p:nvSpPr>
        <p:spPr>
          <a:xfrm>
            <a:off x="3364992" y="1554480"/>
            <a:ext cx="2587752" cy="1691640"/>
          </a:xfrm>
          <a:prstGeom prst="roundRect">
            <a:avLst>
              <a:gd name="adj" fmla="val 6486"/>
            </a:avLst>
          </a:prstGeom>
          <a:solidFill>
            <a:srgbClr val="FAFAF9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3592" y="169164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2410C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177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3593592" y="251460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pruebas de la app</a:t>
            </a:r>
            <a:endParaRPr lang="en-US" sz="1300" dirty="0"/>
          </a:p>
        </p:txBody>
      </p:sp>
      <p:sp>
        <p:nvSpPr>
          <p:cNvPr id="10" name="estadística 3"/>
          <p:cNvSpPr/>
          <p:nvPr/>
        </p:nvSpPr>
        <p:spPr>
          <a:xfrm>
            <a:off x="6181344" y="1554480"/>
            <a:ext cx="2587752" cy="1691640"/>
          </a:xfrm>
          <a:prstGeom prst="roundRect">
            <a:avLst>
              <a:gd name="adj" fmla="val 6486"/>
            </a:avLst>
          </a:prstGeom>
          <a:solidFill>
            <a:srgbClr val="FAFAF9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9944" y="169164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2410C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28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6409944" y="251460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pruebas de humo en un navegador, contra el API</a:t>
            </a:r>
            <a:endParaRPr lang="en-US" sz="1300" dirty="0"/>
          </a:p>
        </p:txBody>
      </p:sp>
      <p:sp>
        <p:nvSpPr>
          <p:cNvPr id="13" name="estadística 4"/>
          <p:cNvSpPr/>
          <p:nvPr/>
        </p:nvSpPr>
        <p:spPr>
          <a:xfrm>
            <a:off x="8997696" y="1554480"/>
            <a:ext cx="2587752" cy="1691640"/>
          </a:xfrm>
          <a:prstGeom prst="roundRect">
            <a:avLst>
              <a:gd name="adj" fmla="val 6486"/>
            </a:avLst>
          </a:prstGeom>
          <a:solidFill>
            <a:srgbClr val="FAFAF9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26296" y="169164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D9488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0,25 s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9226296" y="251460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por consulta, de mediana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5204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C191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Cómo se prueba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3931920"/>
            <a:ext cx="5394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Cada pull request corre lint, las pruebas, las imágenes del API y la app contra el API.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Las diez propiedades se verifican con 1 000 consultas al azar al cerrar cada etapa.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El despliegue en AWS se ensayó contra un simulador.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263640" y="35204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C191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Los límites que declaramos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263640" y="3931920"/>
            <a:ext cx="537667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Machu Picchu solo sale desde el Cusco: no hay vuelos, y desde Lima son 24,6 horas por tierra.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La escala 1-2-6-24 es un supuesto, todavía sin calibrar.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El clima de cada polo es un solo punto.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Solo una de cada nueve paradas tiene foto.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8716C"/>
                </a:solidFill>
                <a:latin typeface="Quattrocento Sans"/>
                <a:ea typeface="Quattrocento Sans"/>
                <a:cs typeface="Quattrocento Sans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749808" y="31089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C191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Retos técnicos</a:t>
            </a:r>
            <a:endParaRPr lang="en-US" sz="2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749808" y="932688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Lo que no salía como esperábamos, y cómo se resolvió</a:t>
            </a:r>
            <a:endParaRPr lang="en-US" sz="1400" dirty="0"/>
          </a:p>
        </p:txBody>
      </p:sp>
      <p:sp>
        <p:nvSpPr>
          <p:cNvPr id="4" name="reto 1"/>
          <p:cNvSpPr/>
          <p:nvPr/>
        </p:nvSpPr>
        <p:spPr>
          <a:xfrm>
            <a:off x="548640" y="1554480"/>
            <a:ext cx="3538728" cy="2057400"/>
          </a:xfrm>
          <a:prstGeom prst="roundRect">
            <a:avLst>
              <a:gd name="adj" fmla="val 5333"/>
            </a:avLst>
          </a:prstGeom>
          <a:solidFill>
            <a:srgbClr val="FAFAF9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55648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191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Latitud y longitud intercambiadas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468880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Con sus etiquetas, ningún recurso caía en el Perú. Se corrige al leer y cada coordenada queda marcada.</a:t>
            </a:r>
            <a:endParaRPr lang="en-US" sz="1350" dirty="0"/>
          </a:p>
        </p:txBody>
      </p:sp>
      <p:sp>
        <p:nvSpPr>
          <p:cNvPr id="7" name="reto 2"/>
          <p:cNvSpPr/>
          <p:nvPr/>
        </p:nvSpPr>
        <p:spPr>
          <a:xfrm>
            <a:off x="4325112" y="1554480"/>
            <a:ext cx="3538728" cy="2057400"/>
          </a:xfrm>
          <a:prstGeom prst="roundRect">
            <a:avLst>
              <a:gd name="adj" fmla="val 5333"/>
            </a:avLst>
          </a:prstGeom>
          <a:solidFill>
            <a:srgbClr val="FAFAF9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53712" y="1755648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191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La jerarquía coincidía en el 59,7 %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553712" y="2468880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 leyeron las 6 225 fichas oficiales, y cada campo dice de dónde salió.</a:t>
            </a:r>
            <a:endParaRPr lang="en-US" sz="1350" dirty="0"/>
          </a:p>
        </p:txBody>
      </p:sp>
      <p:sp>
        <p:nvSpPr>
          <p:cNvPr id="10" name="reto 3"/>
          <p:cNvSpPr/>
          <p:nvPr/>
        </p:nvSpPr>
        <p:spPr>
          <a:xfrm>
            <a:off x="8101584" y="1554480"/>
            <a:ext cx="3538728" cy="2057400"/>
          </a:xfrm>
          <a:prstGeom prst="roundRect">
            <a:avLst>
              <a:gd name="adj" fmla="val 5333"/>
            </a:avLst>
          </a:prstGeom>
          <a:solidFill>
            <a:srgbClr val="FAFAF9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30184" y="1755648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191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La línea recta no dice cuánto se tarda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330184" y="2468880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Una red propia sobre OpenStreetMap: el error bajó de 48 % a 22 %.</a:t>
            </a:r>
            <a:endParaRPr lang="en-US" sz="1350" dirty="0"/>
          </a:p>
        </p:txBody>
      </p:sp>
      <p:sp>
        <p:nvSpPr>
          <p:cNvPr id="13" name="reto 4"/>
          <p:cNvSpPr/>
          <p:nvPr/>
        </p:nvSpPr>
        <p:spPr>
          <a:xfrm>
            <a:off x="548640" y="3840480"/>
            <a:ext cx="3538728" cy="2057400"/>
          </a:xfrm>
          <a:prstGeom prst="roundRect">
            <a:avLst>
              <a:gd name="adj" fmla="val 5333"/>
            </a:avLst>
          </a:prstGeom>
          <a:solidFill>
            <a:srgbClr val="FAFAF9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4041648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191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A Machu Picchu se llega en tren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4754880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El tren y los botes entraron a la red: los pares sin camino bajaron de 427 a 24.</a:t>
            </a:r>
            <a:endParaRPr lang="en-US" sz="1350" dirty="0"/>
          </a:p>
        </p:txBody>
      </p:sp>
      <p:sp>
        <p:nvSpPr>
          <p:cNvPr id="16" name="reto 5"/>
          <p:cNvSpPr/>
          <p:nvPr/>
        </p:nvSpPr>
        <p:spPr>
          <a:xfrm>
            <a:off x="4325112" y="3840480"/>
            <a:ext cx="3538728" cy="2057400"/>
          </a:xfrm>
          <a:prstGeom prst="roundRect">
            <a:avLst>
              <a:gd name="adj" fmla="val 5333"/>
            </a:avLst>
          </a:prstGeom>
          <a:solidFill>
            <a:srgbClr val="FAFAF9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53712" y="4041648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191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Las fichas publican teléfonos y nombres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553712" y="4754880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Un filtro los reemplaza al leer, revisado a mano sobre las 6 225 fichas.</a:t>
            </a:r>
            <a:endParaRPr lang="en-US" sz="1350" dirty="0"/>
          </a:p>
        </p:txBody>
      </p:sp>
      <p:sp>
        <p:nvSpPr>
          <p:cNvPr id="19" name="reto 6"/>
          <p:cNvSpPr/>
          <p:nvPr/>
        </p:nvSpPr>
        <p:spPr>
          <a:xfrm>
            <a:off x="8101584" y="3840480"/>
            <a:ext cx="3538728" cy="2057400"/>
          </a:xfrm>
          <a:prstGeom prst="roundRect">
            <a:avLst>
              <a:gd name="adj" fmla="val 5333"/>
            </a:avLst>
          </a:prstGeom>
          <a:solidFill>
            <a:srgbClr val="FAFAF9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330184" y="4041648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191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Desplegar sin presupuesto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330184" y="4754880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Una sola imagen para Lambda y para un host gratuito, ensayada contra un simulador.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8716C"/>
                </a:solidFill>
                <a:latin typeface="Quattrocento Sans"/>
                <a:ea typeface="Quattrocento Sans"/>
                <a:cs typeface="Quattrocento Sans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749808" y="31089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C191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Lo que falta</a:t>
            </a:r>
            <a:endParaRPr lang="en-US" sz="2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749808" y="932688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Para la semana 12 y para la entrega final</a:t>
            </a:r>
            <a:endParaRPr lang="en-US" sz="1400" dirty="0"/>
          </a:p>
        </p:txBody>
      </p:sp>
      <p:sp>
        <p:nvSpPr>
          <p:cNvPr id="4" name="semana 12"/>
          <p:cNvSpPr/>
          <p:nvPr/>
        </p:nvSpPr>
        <p:spPr>
          <a:xfrm>
            <a:off x="548640" y="1554480"/>
            <a:ext cx="6720840" cy="4480560"/>
          </a:xfrm>
          <a:prstGeom prst="roundRect">
            <a:avLst>
              <a:gd name="adj" fmla="val 2449"/>
            </a:avLst>
          </a:prstGeom>
          <a:solidFill>
            <a:srgbClr val="FAFAF9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8308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2410C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Semana 12: calibrar y evaluar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31720"/>
            <a:ext cx="62179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Calibrar el valor de una parada con consultas anotadas por el equipo.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Viajes de varios polos, y poder pedir un destino.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La distancia del itinerario al óptimo exacto.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Una prueba de usabilidad con cinco personas y tres casos de estudio.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El API en AWS, con su arranque en frío medido, y la app en un celular con datos móviles.</a:t>
            </a:r>
            <a:endParaRPr lang="en-US" sz="1500" dirty="0"/>
          </a:p>
        </p:txBody>
      </p:sp>
      <p:sp>
        <p:nvSpPr>
          <p:cNvPr id="7" name="entrega final"/>
          <p:cNvSpPr/>
          <p:nvPr/>
        </p:nvSpPr>
        <p:spPr>
          <a:xfrm>
            <a:off x="7543800" y="1554480"/>
            <a:ext cx="4096512" cy="4480560"/>
          </a:xfrm>
          <a:prstGeom prst="roundRect">
            <a:avLst>
              <a:gd name="adj" fmla="val 2679"/>
            </a:avLst>
          </a:prstGeom>
          <a:solidFill>
            <a:srgbClr val="FAFAF9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818120" y="178308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Entrega final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818120" y="2331720"/>
            <a:ext cx="35661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El informe final y el video.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La página del proyecto.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El Canvas y los requisitos finales.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8716C"/>
                </a:solidFill>
                <a:latin typeface="Quattrocento Sans"/>
                <a:ea typeface="Quattrocento Sans"/>
                <a:cs typeface="Quattrocento Sans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1C191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Gracias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1460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0D9488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¿Preguntas?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520440"/>
            <a:ext cx="6583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La app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0B5C8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oswaldoaqm.github.io/Alejandros-Team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El API y sus endpoints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0B5C8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alejandros-team.onrender.com/v1/docs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El código, los datos y el informe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0B5C8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github.com/oswaldoaqm/Alejandros-Team, en deliveries/week10</a:t>
            </a:r>
            <a:endParaRPr lang="en-US" sz="1500" dirty="0"/>
          </a:p>
        </p:txBody>
      </p:sp>
      <p:sp>
        <p:nvSpPr>
          <p:cNvPr id="5" name="panel del QR del cierre"/>
          <p:cNvSpPr/>
          <p:nvPr/>
        </p:nvSpPr>
        <p:spPr>
          <a:xfrm>
            <a:off x="8092440" y="1417320"/>
            <a:ext cx="3383280" cy="3840480"/>
          </a:xfrm>
          <a:prstGeom prst="roundRect">
            <a:avLst>
              <a:gd name="adj" fmla="val 3243"/>
            </a:avLst>
          </a:prstGeom>
          <a:solidFill>
            <a:srgbClr val="F5F5F4"/>
          </a:solidFill>
          <a:ln w="12700">
            <a:solidFill>
              <a:srgbClr val="E7E5E4"/>
            </a:solidFill>
            <a:prstDash val="solid"/>
          </a:ln>
        </p:spPr>
      </p:sp>
      <p:pic>
        <p:nvPicPr>
          <p:cNvPr id="6" name="qr_app.png" descr="Código QR de la app publicad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1737360"/>
            <a:ext cx="2560320" cy="2560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75320" y="45262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C191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Pruébalo en tu celular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8716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DreemGO · Miguel · Alejandro · Diego · Christopher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reemGO semana 10">
  <a:themeElements>
    <a:clrScheme name="DreemGO semana 10">
      <a:dk1>
        <a:srgbClr val="1C1917"/>
      </a:dk1>
      <a:lt1>
        <a:srgbClr val="FFFFFF"/>
      </a:lt1>
      <a:dk2>
        <a:srgbClr val="57534E"/>
      </a:dk2>
      <a:lt2>
        <a:srgbClr val="FAFAF9"/>
      </a:lt2>
      <a:accent1>
        <a:srgbClr val="C2410C"/>
      </a:accent1>
      <a:accent2>
        <a:srgbClr val="0D9488"/>
      </a:accent2>
      <a:accent3>
        <a:srgbClr val="7C3AED"/>
      </a:accent3>
      <a:accent4>
        <a:srgbClr val="0B5C80"/>
      </a:accent4>
      <a:accent5>
        <a:srgbClr val="B98000"/>
      </a:accent5>
      <a:accent6>
        <a:srgbClr val="78716C"/>
      </a:accent6>
      <a:hlink>
        <a:srgbClr val="0B5C80"/>
      </a:hlink>
      <a:folHlink>
        <a:srgbClr val="7C3AED"/>
      </a:folHlink>
    </a:clrScheme>
    <a:fontScheme name="DreemGO semana 10">
      <a:majorFont>
        <a:latin typeface="Lexen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Quattrocento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UTEC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DreemGO · Semana 10 · Prototipo funcional</dc:title>
  <dc:subject>DS3022 Desarrollo de Producto de Datos</dc:subject>
  <dc:creator>Miguel, Alejandro, Diego y Christopher</dc:creator>
  <cp:lastModifiedBy>Miguel, Alejandro, Diego y Christopher</cp:lastModifiedBy>
  <cp:revision>1</cp:revision>
  <dcterms:created xsi:type="dcterms:W3CDTF">2026-10-14T05:49:16Z</dcterms:created>
  <dcterms:modified xsi:type="dcterms:W3CDTF">2026-10-14T05:49:16Z</dcterms:modified>
</cp:coreProperties>
</file>