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7874d139-db1c-e23a-ced4-948e5194f89c}">
          <p14:sldIdLst>
            <p14:sldId id="256"/>
            <p14:sldId id="257"/>
            <p14:sldId id="258"/>
          </p14:sldIdLst>
        </p14:section>
        <p14:section name="La app" id="{e143373b-7089-39cd-1cac-769ed516c620}">
          <p14:sldIdLst>
            <p14:sldId id="259"/>
            <p14:sldId id="260"/>
            <p14:sldId id="261"/>
            <p14:sldId id="262"/>
            <p14:sldId id="263"/>
            <p14:sldId id="264"/>
            <p14:sldId id="265"/>
          </p14:sldIdLst>
        </p14:section>
        <p14:section name="Arquitectura" id="{a1de8721-12b8-38aa-0aef-5ed4b4c9b201}">
          <p14:sldIdLst>
            <p14:sldId id="266"/>
            <p14:sldId id="267"/>
            <p14:sldId id="268"/>
          </p14:sldIdLst>
        </p14:section>
        <p14:section name="Motor y API" id="{62e6f005-3dbf-7c3c-061b-da78dc72140f}">
          <p14:sldIdLst>
            <p14:sldId id="269"/>
            <p14:sldId id="270"/>
            <p14:sldId id="271"/>
            <p14:sldId id="272"/>
          </p14:sldIdLst>
        </p14:section>
        <p14:section name="Datos y modelo" id="{d2d7a8e3-d4c4-fd8a-4449-8beb97219f6d}">
          <p14:sldIdLst>
            <p14:sldId id="273"/>
            <p14:sldId id="274"/>
            <p14:sldId id="275"/>
            <p14:sldId id="276"/>
            <p14:sldId id="277"/>
            <p14:sldId id="278"/>
            <p14:sldId id="279"/>
          </p14:sldIdLst>
        </p14:section>
        <p14:section name="Cierre" id="{ef1fbff7-03af-32c7-8e6d-6b8826983461}">
          <p14:sldIdLst>
            <p14:sldId id="280"/>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Christopher abre. En la semana 7 mostramos una maqueta; hoy es la app publicada, con datos reales y con el frontend nuevo que el equipo armó esta semana. Desde el 10 de octubre se sumaron los vuelos, «Quiero ir a…», un plan con almuerzo y bus de noche, la noche y un primer día tranquilo en la altura. Cada uno va a mostrar su parte.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Christopher. Este es el flujo completo que funciona hoy. Lo nuevo desde el 10 de octubre está en los pasos 1 a 3: pedir una zona, los vuelos y el bus de noche, y un plan con almuerzo, noche y un primer día tranquilo en la altura. Invitar al profesor a escanear el QR. Si es la primera consulta del día, avisar que el API en Render tarda cerca de un minuto en despertar; por eso lo abrimos antes de empezar.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Christopher. Cada uno defiende su parte, como en el plan del proyecto. Las preguntas de cada área las responde quien la presenta.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Christopher. El frontend es nuevo desde esta semana. El carrusel muestra cinco destinos con su foto de Commons y su crédito, como el resto de la app; el botón arma el viaje a esa zona. Se puede detener con su botón, y si el sistema pide menos movimiento arranca detenido. Pide una foto a la vez: al abrir son 261 kB de foto, no los 1,8 MB de las cinco. Debajo sigue el formulario de siempre, con sus siete filas.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Christopher. El formulario tiene siete filas y sus opciones vienen del API. Dos son nuevas: «A dónde», para pedir una zona, y los vuelos, que se toman solo si por tierra la ida pasa de 16 horas. Con esta consulta salen Íllimo, Huaraz y Huacho. A Íllimo y a Huaraz se va en bus de noche: sale la noche antes del día 1 y vuelve la noche del último, así que los cuatro días son allá.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Christopher. El almuerzo es una hora que no cuenta en las 8 de la jornada, y va donde hay dónde comer; si no hay nada registrado, la app dice que lo lleves. El bus de noche va en lo que por tierra toma de 7 a 16 horas. El primer día en la altura es tranquilo: medio día, sin subir más de 500 m ni caminatas largas, como recomienda el CDC. Y cada noche que se duerme en la zona puede traer un plan: salir, ver estrellas o descansar.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Christopher. Era un caso de uso de la semana 5 que faltaba: el viajero ya sabe a dónde quiere ir. El motor arma solo el viaje a esa zona, con las mismas reglas. Si no cabe, dice lo primero que lo impide y propone cambios que ya comprobó: aquí, 4 días. También se llega desde la página de una zona y desde una fiesta del calendario.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Christopher. El calendario reúne las fiestas del inventario de MINCETUR. Un municipio entra a «Publicar un evento», marca el lugar en un mapa y lo publica con su clave; hoy es una sola clave compartida, sin moderación. El evento de la captura es de prueba, en un API local. En la demo publicamos uno de verdad con la clave del equipo.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Christopher. El orden importa: primero lo que propone el motor, después lo que cambia con el mes, y al final lo que pide el viajero. Machu Picchu en 2 días muestra que el motor no esconde por qué algo no sale. La clave no se muestra en pantalla.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Miguel. A la izquierda, las fuentes abiertas. Desde el 10 de octubre se sumaron las rutas aéreas, Overture para dónde comer y salir, NOAA y VIIRS para el cielo de noche, y Terrain Tiles para la altura de cada base. El pipeline lo corre el equipo cuando cambia una fuente y deja los artefactos con versión, 2,0 MB, que el motor carga al arrancar. El API tiene dos entradas: el viajero pide viajes y el municipio publica eventos con su clave. Todo el API es una sola imagen de contenedor.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Miguel. Tres decisiones explican la forma del sistema. El API corre hoy en Render porque es gratis y no pide tarjeta; el destino es AWS, con Lambda detrás de una HTTP API y DynamoDB para lo publicado. La plantilla se ensayó contra un simulador de AWS. Las fotos y el fondo del mapa los pide el navegador a Wikimedia y a OpenFreeMap. Lo nuevo del pipeline (los vuelos, la noche, la comida y la altura) no cambió el despliegue: son más archivos en los mismos artefactos.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Diego. El contrato está en docs/CONTRATO.md. De la 1.2 a la 1.7, cada versión sumó campos sin quitar ninguno: los vuelos (1.3), el destino (1.4), la noche (1.5), el almuerzo y el bus de noche (1.6) y el día tranquilo (1.7). La app no fija nada: hasta las opciones del formulario vienen del API. La misma consulta con la misma versión de datos devuelve siempre lo mismo.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Diego. El viaje es una estrella desde la base del polo, que es un pueblo real de OpenStreetMap. Lo que por tierra pasa de 16 horas se vuela, con el camino hasta el aeropuerto y dos horas antes del vuelo; lo que toma de 7 a 16, va en bus de noche, y sus noches van fuera de los días. El orden de las visitas es una heurística, no el óptimo: su distancia al óptimo exacto se mide en la semana 12. Detalle en las decisiones 0009 y de la 0013 a la 0020.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Diego. Estas catorce propiedades están en el contrato, §3. Las diez de antes siguen, algunas con más cosas: la 1 ahora cuida también la base, la 7 dice que el presupuesto entra a elegir, y la 9, que con destino sale solo esa zona. Se suman cuatro, una por cada cosa nueva del plan: la noche, el almuerzo, el bus de noche y el día tranquilo. Se prueban en cada pull request y, al cerrar cada etapa, con 1 000 consultas al azar.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Alejandro. Todo sale de fuentes abiertas que se pueden redistribuir. El dataset de MINCETUR traía la latitud y la longitud intercambiadas, y su jerarquía coincidía con la ficha oficial solo en el 59,7 % de los recursos: por eso leímos las 6 225 fichas, y cada dato dice de dónde salió. Desde el 10 de octubre entraron cuatro fuentes más: las rutas aéreas, Overture, NOAA con VIIRS para la noche, y Terrain Tiles para la altura. Los teléfonos y nombres de contacto se filtran al leer. Los datos llevan versión: la misma consulta con los mismos datos da siempre la misma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Alejandro. No usamos modelos supervisados porque no hay clics ni valoraciones de los que aprender (decisión 0004). Cada método es declarado y tiene su medida. Una parada vale 1, 2, 6 o 24 según su jerarquía, para que un lugar imperdible pese más que un día lleno de lugares corrientes. El costo se da como banda y no como precio: su ancho dice cuánto no sabemos, y con los vuelos cobra cada tramo entre la tarifa más baja publicada y 2,2 veces esa.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Alejandro. Es la misma rejilla de la semana 10, sin intereses. Lo que ganó el plan está a la izquierda: con el bus de noche y los vuelos casi ningún viaje se pasa la mitad del tiempo en el camino. Lo que costó está a la derecha, y lo decimos tal cual: con vuelos, el Cusco gana en casi todas las ciudades, los diez polos más propuestos pasan a llevarse el 80 % de los viajes, y Machu Picchu sale una sola vez, porque desde Lima se vuela al Cusco y la ciudad tiene más que visitar. Con «Historia» sale desde el Cusco, y con «Quiero ir a…» se pide desde cualquier ciudad. Si el balance es bueno no lo dice la rejilla: lo dice la evaluación de la semana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Alejandro. El profesor revisó la versión del 10 de octubre en una copia aparte y nos pidió esta comparación. Con S/ 800, si se elige por el costo central, salen Huaraz, Huacho y Nasca; con el escenario conservador, los tres pasan el monto y entran Trujillo, Huánuco y Pozuzo, que caben pero puntúan menos. En la hoja de Huacho marcamos dos paradas con cobro desconocido, un sitio arqueológico y un museo, porque en ese mismo viaje cuatro de los cinco sitios arqueológicos y museos con dato cobran entrada, de S/ 5 a S/ 11; no completamos ni horarios ni tarifas. El costo de Huacho no es definitivo por tres razones: hay entradas sin dato, los rangos de la simulación no están calibrados con viajes reales y nada de lo pendiente está verificado. En la app de hoy el presupuesto se compara con el P50 y no esconde viajes: el que lo pasa sale con su aviso, que es la propiedad 7. Si conviene filtrar con P80, como en la copia, lo decidimos en la semana 12, porque cambia esa propiedad. Y un detalle: en esa copia, el día 4 de Huacho llegaba a la playa a las 19:30; desde la 1.6, la jornada no se corre.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Alejandro. Es el ejemplo de la guía que le mandamos al profesor. Cada polo tiene su punto de clima desde el 10 de octubre; antes, varios polos de la sierra tenían el de la capital de su región, en la costa, y salían como secos todo el año. Desde el 20 de octubre, las temperaturas se llevan a la altura de la base: en 23 polos cambian, y ningún veredicto del 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Alejandro. Las propiedades son garantías, no intenciones: por ejemplo, ninguna parada pasa la altitud pedida y un mes desaconsejado nunca sale sin aviso. Los límites están escritos en el informe con sus cifras, y cada decisión dice lo que todavía no hace. El de la escala es el más importante: es lo que mide la evaluación de la semana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Entre todos. Cada reto tiene su cifra en el informe, §9, y su decisión. El de los datos personales importa: ningún teléfono ni nombre de contacto llega al repositorio ni a los artefactos. Los METAR, además, no se pueden redistribuir: el repositorio guarda solo la parte de noches despejadas, calculada aquí.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Entre todos. Lo más importante de la semana 12 es la evaluación, y su kit ya está en el repositorio: las consultas, el cuadernillo para calificar y las cifras, escritas antes de calificar (decisión 0021). Hoy el motor cumple sus garantías; si sus propuestas son buenas lo tienen que decir las calificaciones y las personas usándolo.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Dejar el QR en pantalla durante las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C2410C"/>
          </a:solidFill>
          <a:ln w="12700">
            <a:solidFill>
              <a:srgbClr val="C2410C"/>
            </a:solidFill>
            <a:prstDash val="solid"/>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29768"/>
            <a:ext cx="64008" cy="420624"/>
          </a:xfrm>
          <a:prstGeom prst="rect">
            <a:avLst/>
          </a:prstGeom>
          <a:solidFill>
            <a:srgbClr val="C2410C"/>
          </a:solidFill>
          <a:ln w="12700">
            <a:solidFill>
              <a:srgbClr val="C2410C"/>
            </a:solidFill>
            <a:prstDash val="solid"/>
          </a:ln>
        </p:spPr>
      </p:sp>
      <p:sp>
        <p:nvSpPr>
          <p:cNvPr id="3" name="Text 1"/>
          <p:cNvSpPr/>
          <p:nvPr>
            <p:ph idx="101" type="title" hasCustomPrompt="1"/>
          </p:nvPr>
        </p:nvSpPr>
        <p:spPr>
          <a:xfrm>
            <a:off x="749808" y="310896"/>
            <a:ext cx="10881360" cy="658368"/>
          </a:xfrm>
          <a:prstGeom prst="rect">
            <a:avLst/>
          </a:prstGeom>
          <a:noFill/>
          <a:ln/>
        </p:spPr>
        <p:txBody>
          <a:bodyPr wrap="square" rtlCol="0"/>
          <a:lstStyle>
            <a:lvl1pPr algn="l" indent="0" marL="0">
              <a:buNone/>
              <a:defRPr lang="en-US" sz="2600" b="1" dirty="0">
                <a:solidFill>
                  <a:srgbClr val="1C1917"/>
                </a:solidFill>
                <a:latin typeface="Lexend" pitchFamily="34" charset="0"/>
                <a:ea typeface="Lexend" pitchFamily="34" charset="-122"/>
                <a:cs typeface="Lexend" pitchFamily="34" charset="-120"/>
              </a:defRPr>
            </a:lvl1pPr>
          </a:lstStyle>
          <a:p>
            <a:pPr algn="l" indent="0" marL="0">
              <a:buNone/>
            </a:pPr>
            <a:endParaRPr lang="en-US" sz="2600" dirty="0"/>
          </a:p>
        </p:txBody>
      </p:sp>
      <p:sp>
        <p:nvSpPr>
          <p:cNvPr id="4" name="Text 1"/>
          <p:cNvSpPr/>
          <p:nvPr>
            <p:ph idx="102" type="body" hasCustomPrompt="1"/>
          </p:nvPr>
        </p:nvSpPr>
        <p:spPr>
          <a:xfrm>
            <a:off x="749808" y="932688"/>
            <a:ext cx="10881360" cy="384048"/>
          </a:xfrm>
          <a:prstGeom prst="rect">
            <a:avLst/>
          </a:prstGeom>
          <a:noFill/>
          <a:ln/>
        </p:spPr>
        <p:txBody>
          <a:bodyPr wrap="square" rtlCol="0"/>
          <a:lstStyle>
            <a:lvl1pPr algn="l" indent="0" marL="0">
              <a:buNone/>
              <a:defRPr lang="en-US" sz="1400" dirty="0">
                <a:solidFill>
                  <a:srgbClr val="57534E"/>
                </a:solidFill>
                <a:latin typeface="Quattrocento Sans" pitchFamily="34" charset="0"/>
                <a:ea typeface="Quattrocento Sans" pitchFamily="34" charset="-122"/>
                <a:cs typeface="Quattrocento Sans" pitchFamily="34" charset="-120"/>
              </a:defRPr>
            </a:lvl1pPr>
          </a:lstStyle>
          <a:p>
            <a:pPr algn="l" indent="0" marL="0">
              <a:buNone/>
            </a:pPr>
            <a:endParaRPr lang="en-US" sz="1400" dirty="0"/>
          </a:p>
        </p:txBody>
      </p:sp>
      <p:sp>
        <p:nvSpPr>
          <p:cNvPr id="5" name="Text 1"/>
          <p:cNvSpPr/>
          <p:nvPr/>
        </p:nvSpPr>
        <p:spPr>
          <a:xfrm>
            <a:off x="548640" y="6400800"/>
            <a:ext cx="7315200" cy="274320"/>
          </a:xfrm>
          <a:prstGeom prst="rect">
            <a:avLst/>
          </a:prstGeom>
          <a:noFill/>
          <a:ln/>
        </p:spPr>
        <p:txBody>
          <a:bodyPr wrap="square" lIns="0" tIns="0" rIns="0" bIns="0" rtlCol="0" anchor="ctr"/>
          <a:lstStyle/>
          <a:p>
            <a:pPr indent="0" marL="0">
              <a:buNone/>
            </a:pPr>
            <a:r>
              <a:rPr lang="en-US" sz="900" dirty="0">
                <a:solidFill>
                  <a:srgbClr val="78716C"/>
                </a:solidFill>
                <a:latin typeface="Quattrocento Sans" pitchFamily="34" charset="0"/>
                <a:ea typeface="Quattrocento Sans" pitchFamily="34" charset="-122"/>
                <a:cs typeface="Quattrocento Sans" pitchFamily="34" charset="-120"/>
              </a:rPr>
              <a:t>DreemGO · Semana 10 · Prototipo funcional · DS3022 UTEC</a:t>
            </a:r>
            <a:endParaRPr lang="en-US" sz="9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latin typeface="Quattrocento Sans"/>
                <a:ea typeface="Quattrocento Sans"/>
                <a:cs typeface="Quattrocento Sans"/>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CION">
    <p:bg>
      <p:bgPr>
        <a:solidFill>
          <a:srgbClr val="1C1917"/>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1554480"/>
            <a:ext cx="2743200" cy="914400"/>
          </a:xfrm>
          <a:prstGeom prst="rect">
            <a:avLst/>
          </a:prstGeom>
          <a:noFill/>
          <a:ln/>
        </p:spPr>
        <p:txBody>
          <a:bodyPr wrap="square" rtlCol="0"/>
          <a:lstStyle>
            <a:lvl1pPr algn="l" indent="0" marL="0">
              <a:buNone/>
              <a:defRPr lang="en-US" sz="5400" b="1" dirty="0">
                <a:solidFill>
                  <a:srgbClr val="FB923C"/>
                </a:solidFill>
                <a:latin typeface="Lexend" pitchFamily="34" charset="0"/>
                <a:ea typeface="Lexend" pitchFamily="34" charset="-122"/>
                <a:cs typeface="Lexend" pitchFamily="34" charset="-120"/>
              </a:defRPr>
            </a:lvl1pPr>
          </a:lstStyle>
          <a:p>
            <a:pPr algn="l" indent="0" marL="0">
              <a:buNone/>
            </a:pPr>
            <a:endParaRPr lang="en-US" sz="5400" dirty="0"/>
          </a:p>
        </p:txBody>
      </p:sp>
      <p:sp>
        <p:nvSpPr>
          <p:cNvPr id="3" name="Text 0"/>
          <p:cNvSpPr/>
          <p:nvPr>
            <p:ph idx="101" type="title" hasCustomPrompt="1"/>
          </p:nvPr>
        </p:nvSpPr>
        <p:spPr>
          <a:xfrm>
            <a:off x="822960" y="2514600"/>
            <a:ext cx="10515600" cy="1097280"/>
          </a:xfrm>
          <a:prstGeom prst="rect">
            <a:avLst/>
          </a:prstGeom>
          <a:noFill/>
          <a:ln/>
        </p:spPr>
        <p:txBody>
          <a:bodyPr wrap="square" rtlCol="0"/>
          <a:lstStyle>
            <a:lvl1pPr algn="l" indent="0" marL="0">
              <a:buNone/>
              <a:defRPr lang="en-US" sz="4400" b="1" dirty="0">
                <a:solidFill>
                  <a:srgbClr val="FFFFFF"/>
                </a:solidFill>
                <a:latin typeface="Lexend" pitchFamily="34" charset="0"/>
                <a:ea typeface="Lexend" pitchFamily="34" charset="-122"/>
                <a:cs typeface="Lexend" pitchFamily="34" charset="-120"/>
              </a:defRPr>
            </a:lvl1pPr>
          </a:lstStyle>
          <a:p>
            <a:pPr algn="l" indent="0" marL="0">
              <a:buNone/>
            </a:pPr>
            <a:endParaRPr lang="en-US" sz="4400" dirty="0"/>
          </a:p>
        </p:txBody>
      </p:sp>
      <p:sp>
        <p:nvSpPr>
          <p:cNvPr id="4" name="Text 0"/>
          <p:cNvSpPr/>
          <p:nvPr>
            <p:ph idx="102" type="body" hasCustomPrompt="1"/>
          </p:nvPr>
        </p:nvSpPr>
        <p:spPr>
          <a:xfrm>
            <a:off x="822960" y="3703320"/>
            <a:ext cx="10515600" cy="457200"/>
          </a:xfrm>
          <a:prstGeom prst="rect">
            <a:avLst/>
          </a:prstGeom>
          <a:noFill/>
          <a:ln/>
        </p:spPr>
        <p:txBody>
          <a:bodyPr wrap="square" rtlCol="0"/>
          <a:lstStyle>
            <a:lvl1pPr algn="l" indent="0" marL="0">
              <a:buNone/>
              <a:defRPr lang="en-US" sz="2000" dirty="0">
                <a:solidFill>
                  <a:srgbClr val="E7E5E4"/>
                </a:solidFill>
                <a:latin typeface="Lexend" pitchFamily="34" charset="0"/>
                <a:ea typeface="Lexend" pitchFamily="34" charset="-122"/>
                <a:cs typeface="Lexend" pitchFamily="34" charset="-120"/>
              </a:defRPr>
            </a:lvl1pPr>
          </a:lstStyle>
          <a:p>
            <a:pPr algn="l" indent="0" marL="0">
              <a:buNone/>
            </a:pPr>
            <a:endParaRPr lang="en-US" sz="2000" dirty="0"/>
          </a:p>
        </p:txBody>
      </p:sp>
      <p:sp>
        <p:nvSpPr>
          <p:cNvPr id="5" name="Text 0"/>
          <p:cNvSpPr/>
          <p:nvPr>
            <p:ph idx="103" type="body" hasCustomPrompt="1"/>
          </p:nvPr>
        </p:nvSpPr>
        <p:spPr>
          <a:xfrm>
            <a:off x="822960" y="4206240"/>
            <a:ext cx="10058400" cy="457200"/>
          </a:xfrm>
          <a:prstGeom prst="rect">
            <a:avLst/>
          </a:prstGeom>
          <a:noFill/>
          <a:ln/>
        </p:spPr>
        <p:txBody>
          <a:bodyPr wrap="square" rtlCol="0"/>
          <a:lstStyle>
            <a:lvl1pPr algn="l" indent="0" marL="0">
              <a:buNone/>
              <a:defRPr lang="en-US" sz="1600" dirty="0">
                <a:solidFill>
                  <a:srgbClr val="A8A29E"/>
                </a:solidFill>
                <a:latin typeface="Quattrocento Sans" pitchFamily="34" charset="0"/>
                <a:ea typeface="Quattrocento Sans" pitchFamily="34" charset="-122"/>
                <a:cs typeface="Quattrocento Sans" pitchFamily="34" charset="-120"/>
              </a:defRPr>
            </a:lvl1pPr>
          </a:lstStyle>
          <a:p>
            <a:pPr algn="l" indent="0" marL="0">
              <a:buNone/>
            </a:pPr>
            <a:endParaRPr lang="en-US" sz="1600" dirty="0"/>
          </a:p>
        </p:txBody>
      </p:sp>
      <p:sp>
        <p:nvSpPr>
          <p:cNvPr id="6"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900" dirty="0">
                <a:solidFill>
                  <a:srgbClr val="78716C"/>
                </a:solidFill>
                <a:latin typeface="Quattrocento Sans" pitchFamily="34" charset="0"/>
                <a:ea typeface="Quattrocento Sans" pitchFamily="34" charset="-122"/>
                <a:cs typeface="Quattrocento Sans" pitchFamily="34" charset="-120"/>
              </a:rPr>
              <a:t>DreemGO · Semana 10 · Prototipo funcional · DS3022 UTEC</a:t>
            </a:r>
            <a:endParaRPr lang="en-US" sz="9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latin typeface="Quattrocento Sans"/>
                <a:ea typeface="Quattrocento Sans"/>
                <a:cs typeface="Quattrocento Sans"/>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latin typeface="Quattrocento Sans"/>
                <a:ea typeface="Quattrocento Sans"/>
                <a:cs typeface="Quattrocento San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3.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188720"/>
            <a:ext cx="5486400" cy="320040"/>
          </a:xfrm>
          <a:prstGeom prst="rect">
            <a:avLst/>
          </a:prstGeom>
          <a:noFill/>
          <a:ln/>
        </p:spPr>
        <p:txBody>
          <a:bodyPr wrap="square" lIns="0" tIns="0" rIns="0" bIns="0" rtlCol="0" anchor="t"/>
          <a:lstStyle/>
          <a:p>
            <a:pPr indent="0" marL="0">
              <a:buNone/>
            </a:pPr>
            <a:r>
              <a:rPr lang="en-US" sz="1200" b="1" spc="100" kern="0" dirty="0">
                <a:solidFill>
                  <a:srgbClr val="C2410C"/>
                </a:solidFill>
                <a:latin typeface="Quattrocento Sans" pitchFamily="34" charset="0"/>
                <a:ea typeface="Quattrocento Sans" pitchFamily="34" charset="-122"/>
                <a:cs typeface="Quattrocento Sans" pitchFamily="34" charset="-120"/>
              </a:rPr>
              <a:t>DS3022 · DESARROLLO DE PRODUCTO DE DATOS</a:t>
            </a:r>
            <a:endParaRPr lang="en-US" sz="1200" dirty="0"/>
          </a:p>
        </p:txBody>
      </p:sp>
      <p:sp>
        <p:nvSpPr>
          <p:cNvPr id="3" name="Text 1"/>
          <p:cNvSpPr txBox="1"/>
          <p:nvPr/>
        </p:nvSpPr>
        <p:spPr>
          <a:xfrm>
            <a:off x="731520" y="1600200"/>
            <a:ext cx="5669280" cy="1143000"/>
          </a:xfrm>
          <a:prstGeom prst="rect">
            <a:avLst/>
          </a:prstGeom>
          <a:noFill/>
          <a:ln/>
        </p:spPr>
        <p:txBody>
          <a:bodyPr wrap="square" lIns="0" tIns="0" rIns="0" bIns="0" rtlCol="0" anchor="ctr"/>
          <a:lstStyle/>
          <a:p>
            <a:pPr indent="0" marL="0">
              <a:buNone/>
            </a:pPr>
            <a:r>
              <a:rPr lang="en-US" sz="6600" b="1" dirty="0">
                <a:solidFill>
                  <a:srgbClr val="1C1917"/>
                </a:solidFill>
                <a:latin typeface="Lexend" pitchFamily="34" charset="0"/>
                <a:ea typeface="Lexend" pitchFamily="34" charset="-122"/>
                <a:cs typeface="Lexend" pitchFamily="34" charset="-120"/>
              </a:rPr>
              <a:t>DreemGO</a:t>
            </a:r>
            <a:endParaRPr lang="en-US" sz="6600" dirty="0"/>
          </a:p>
        </p:txBody>
      </p:sp>
      <p:sp>
        <p:nvSpPr>
          <p:cNvPr id="4" name="Text 2"/>
          <p:cNvSpPr txBox="1"/>
          <p:nvPr/>
        </p:nvSpPr>
        <p:spPr>
          <a:xfrm>
            <a:off x="731520" y="2743200"/>
            <a:ext cx="5669280" cy="548640"/>
          </a:xfrm>
          <a:prstGeom prst="rect">
            <a:avLst/>
          </a:prstGeom>
          <a:noFill/>
          <a:ln/>
        </p:spPr>
        <p:txBody>
          <a:bodyPr wrap="square" lIns="0" tIns="0" rIns="0" bIns="0" rtlCol="0" anchor="t"/>
          <a:lstStyle/>
          <a:p>
            <a:pPr indent="0" marL="0">
              <a:buNone/>
            </a:pPr>
            <a:r>
              <a:rPr lang="en-US" sz="2600" dirty="0">
                <a:solidFill>
                  <a:srgbClr val="0D9488"/>
                </a:solidFill>
                <a:latin typeface="Lexend" pitchFamily="34" charset="0"/>
                <a:ea typeface="Lexend" pitchFamily="34" charset="-122"/>
                <a:cs typeface="Lexend" pitchFamily="34" charset="-120"/>
              </a:rPr>
              <a:t>Inteligencia de rutas en el Perú</a:t>
            </a:r>
            <a:endParaRPr lang="en-US" sz="2600" dirty="0"/>
          </a:p>
        </p:txBody>
      </p:sp>
      <p:sp>
        <p:nvSpPr>
          <p:cNvPr id="5" name="Text 3"/>
          <p:cNvSpPr txBox="1"/>
          <p:nvPr/>
        </p:nvSpPr>
        <p:spPr>
          <a:xfrm>
            <a:off x="731520" y="3611880"/>
            <a:ext cx="5669280" cy="1097280"/>
          </a:xfrm>
          <a:prstGeom prst="rect">
            <a:avLst/>
          </a:prstGeom>
          <a:noFill/>
          <a:ln/>
        </p:spPr>
        <p:txBody>
          <a:bodyPr wrap="square" lIns="0" tIns="0" rIns="0" bIns="0" rtlCol="0" anchor="t"/>
          <a:lstStyle/>
          <a:p>
            <a:pPr indent="0" marL="0">
              <a:spcAft>
                <a:spcPts val="600"/>
              </a:spcAft>
              <a:buNone/>
            </a:pPr>
            <a:r>
              <a:rPr lang="en-US" sz="1700" b="1" dirty="0">
                <a:solidFill>
                  <a:srgbClr val="1C1917"/>
                </a:solidFill>
                <a:latin typeface="Quattrocento Sans" pitchFamily="34" charset="0"/>
                <a:ea typeface="Quattrocento Sans" pitchFamily="34" charset="-122"/>
                <a:cs typeface="Quattrocento Sans" pitchFamily="34" charset="-120"/>
              </a:rPr>
              <a:t>Semana 10 · Prototipo funcional</a:t>
            </a:r>
            <a:endParaRPr lang="en-US" sz="1500" dirty="0"/>
          </a:p>
          <a:p>
            <a:pPr indent="0" marL="0">
              <a:spcAft>
                <a:spcPts val="200"/>
              </a:spcAft>
              <a:buNone/>
            </a:pPr>
            <a:r>
              <a:rPr lang="en-US" sz="1500" dirty="0">
                <a:solidFill>
                  <a:srgbClr val="57534E"/>
                </a:solidFill>
                <a:latin typeface="Quattrocento Sans" pitchFamily="34" charset="0"/>
                <a:ea typeface="Quattrocento Sans" pitchFamily="34" charset="-122"/>
                <a:cs typeface="Quattrocento Sans" pitchFamily="34" charset="-120"/>
              </a:rPr>
              <a:t>Universidad de Ingeniería y Tecnología · UTEC</a:t>
            </a:r>
            <a:endParaRPr lang="en-US" sz="1500" dirty="0"/>
          </a:p>
          <a:p>
            <a:pPr indent="0" marL="0">
              <a:buNone/>
            </a:pPr>
            <a:r>
              <a:rPr lang="en-US" sz="1500" dirty="0">
                <a:solidFill>
                  <a:srgbClr val="57534E"/>
                </a:solidFill>
                <a:latin typeface="Quattrocento Sans" pitchFamily="34" charset="0"/>
                <a:ea typeface="Quattrocento Sans" pitchFamily="34" charset="-122"/>
                <a:cs typeface="Quattrocento Sans" pitchFamily="34" charset="-120"/>
              </a:rPr>
              <a:t>Prof. Carlos Abel Dominguez Bautista · Ciclo 2026-2</a:t>
            </a:r>
            <a:endParaRPr lang="en-US" sz="1500" dirty="0"/>
          </a:p>
        </p:txBody>
      </p:sp>
      <p:sp>
        <p:nvSpPr>
          <p:cNvPr id="6" name="Text 4"/>
          <p:cNvSpPr txBox="1"/>
          <p:nvPr/>
        </p:nvSpPr>
        <p:spPr>
          <a:xfrm>
            <a:off x="731520" y="5074920"/>
            <a:ext cx="5669280" cy="731520"/>
          </a:xfrm>
          <a:prstGeom prst="rect">
            <a:avLst/>
          </a:prstGeom>
          <a:noFill/>
          <a:ln/>
        </p:spPr>
        <p:txBody>
          <a:bodyPr wrap="square" lIns="0" tIns="0" rIns="0" bIns="0" rtlCol="0" anchor="t"/>
          <a:lstStyle/>
          <a:p>
            <a:pPr indent="0" marL="0">
              <a:spcAft>
                <a:spcPts val="400"/>
              </a:spcAft>
              <a:buNone/>
            </a:pPr>
            <a:r>
              <a:rPr lang="en-US" sz="1600" b="1" dirty="0">
                <a:solidFill>
                  <a:srgbClr val="1C1917"/>
                </a:solidFill>
                <a:latin typeface="Quattrocento Sans" pitchFamily="34" charset="0"/>
                <a:ea typeface="Quattrocento Sans" pitchFamily="34" charset="-122"/>
                <a:cs typeface="Quattrocento Sans" pitchFamily="34" charset="-120"/>
              </a:rPr>
              <a:t>Miguel · Alejandro · Diego · Christopher</a:t>
            </a:r>
            <a:endParaRPr lang="en-US" sz="1600" dirty="0"/>
          </a:p>
          <a:p>
            <a:pPr indent="0" marL="0">
              <a:buNone/>
            </a:pPr>
            <a:r>
              <a:rPr lang="en-US" sz="1400" dirty="0">
                <a:solidFill>
                  <a:srgbClr val="78716C"/>
                </a:solidFill>
                <a:latin typeface="Quattrocento Sans" pitchFamily="34" charset="0"/>
                <a:ea typeface="Quattrocento Sans" pitchFamily="34" charset="-122"/>
                <a:cs typeface="Quattrocento Sans" pitchFamily="34" charset="-120"/>
              </a:rPr>
              <a:t>25 de octubre de 2026</a:t>
            </a:r>
            <a:endParaRPr lang="en-US" sz="1600" dirty="0"/>
          </a:p>
        </p:txBody>
      </p:sp>
      <p:sp>
        <p:nvSpPr>
          <p:cNvPr id="7" name="fondo de las capturas"/>
          <p:cNvSpPr/>
          <p:nvPr/>
        </p:nvSpPr>
        <p:spPr>
          <a:xfrm>
            <a:off x="6720840" y="128016"/>
            <a:ext cx="5470855" cy="6729984"/>
          </a:xfrm>
          <a:prstGeom prst="rect">
            <a:avLst/>
          </a:prstGeom>
          <a:solidFill>
            <a:srgbClr val="F5F5F4"/>
          </a:solidFill>
          <a:ln w="12700">
            <a:solidFill>
              <a:srgbClr val="F5F5F4"/>
            </a:solidFill>
            <a:prstDash val="solid"/>
          </a:ln>
        </p:spPr>
      </p:sp>
      <p:pic>
        <p:nvPicPr>
          <p:cNvPr id="8" name="cel_24_inicio_celular.png" descr="La app: el inicio, con el carrusel de destinos">    </p:cNvPr>
          <p:cNvPicPr>
            <a:picLocks noChangeAspect="1"/>
          </p:cNvPicPr>
          <p:nvPr/>
        </p:nvPicPr>
        <p:blipFill>
          <a:blip r:embed="rId1"/>
          <a:stretch>
            <a:fillRect/>
          </a:stretch>
        </p:blipFill>
        <p:spPr>
          <a:xfrm>
            <a:off x="9189720" y="960120"/>
            <a:ext cx="2533556" cy="5074920"/>
          </a:xfrm>
          <a:prstGeom prst="rect">
            <a:avLst/>
          </a:prstGeom>
        </p:spPr>
      </p:pic>
      <p:pic>
        <p:nvPicPr>
          <p:cNvPr id="9" name="cel_02_tres_viajes_celular.png" descr="La app: tres viajes desde Lima en julio">    </p:cNvPr>
          <p:cNvPicPr>
            <a:picLocks noChangeAspect="1"/>
          </p:cNvPicPr>
          <p:nvPr/>
        </p:nvPicPr>
        <p:blipFill>
          <a:blip r:embed="rId2"/>
          <a:stretch>
            <a:fillRect/>
          </a:stretch>
        </p:blipFill>
        <p:spPr>
          <a:xfrm>
            <a:off x="7086600" y="548640"/>
            <a:ext cx="2761805" cy="5532120"/>
          </a:xfrm>
          <a:prstGeom prst="rect">
            <a:avLst/>
          </a:prstGeom>
        </p:spPr>
      </p:pic>
      <p:sp>
        <p:nvSpPr>
          <p:cNvPr id="10" name="Text 6"/>
          <p:cNvSpPr txBox="1"/>
          <p:nvPr/>
        </p:nvSpPr>
        <p:spPr>
          <a:xfrm>
            <a:off x="7086600" y="6263640"/>
            <a:ext cx="4754880" cy="274320"/>
          </a:xfrm>
          <a:prstGeom prst="rect">
            <a:avLst/>
          </a:prstGeom>
          <a:noFill/>
          <a:ln/>
        </p:spPr>
        <p:txBody>
          <a:bodyPr wrap="square" lIns="0" tIns="0" rIns="0" bIns="0" rtlCol="0" anchor="t"/>
          <a:lstStyle/>
          <a:p>
            <a:pPr indent="0" marL="0">
              <a:buNone/>
            </a:pPr>
            <a:r>
              <a:rPr lang="en-US" sz="1100" dirty="0">
                <a:solidFill>
                  <a:srgbClr val="78716C"/>
                </a:solidFill>
                <a:latin typeface="Quattrocento Sans" pitchFamily="34" charset="0"/>
                <a:ea typeface="Quattrocento Sans" pitchFamily="34" charset="-122"/>
                <a:cs typeface="Quattrocento Sans" pitchFamily="34" charset="-120"/>
              </a:rPr>
              <a:t>La app, con los datos 2026.10.8</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749808" y="310896"/>
            <a:ext cx="10881360" cy="658368"/>
          </a:xfrm>
          <a:prstGeom prst="rect">
            <a:avLst/>
          </a:prstGeom>
          <a:noFill/>
          <a:ln/>
        </p:spPr>
        <p:txBody>
          <a:bodyPr wrap="square" lIns="0" tIns="0" rIns="0" bIns="0" rtlCol="0" anchor="ctr"/>
          <a:lstStyle/>
          <a:p>
            <a:pPr algn="l" indent="0" marL="0">
              <a:buNone/>
            </a:pPr>
            <a:r>
              <a:rPr lang="en-US" sz="2600" b="1" dirty="0">
                <a:solidFill>
                  <a:srgbClr val="1C1917"/>
                </a:solidFill>
                <a:latin typeface="Lexend" pitchFamily="34" charset="0"/>
                <a:ea typeface="Lexend" pitchFamily="34" charset="-122"/>
                <a:cs typeface="Lexend" pitchFamily="34" charset="-120"/>
              </a:rPr>
              <a:t>El prototipo, de punta a punta</a:t>
            </a:r>
            <a:endParaRPr lang="en-US" sz="2600" dirty="0"/>
          </a:p>
        </p:txBody>
      </p:sp>
      <p:sp>
        <p:nvSpPr>
          <p:cNvPr id="3" name="Text 1"/>
          <p:cNvSpPr/>
          <p:nvPr>
            <p:ph idx="102" type="body" hasCustomPrompt="1"/>
          </p:nvPr>
        </p:nvSpPr>
        <p:spPr>
          <a:xfrm>
            <a:off x="749808" y="932688"/>
            <a:ext cx="10881360" cy="384048"/>
          </a:xfrm>
          <a:prstGeom prst="rect">
            <a:avLst/>
          </a:prstGeom>
          <a:noFill/>
          <a:ln/>
        </p:spPr>
        <p:txBody>
          <a:bodyPr wrap="square" lIns="0" tIns="0" rIns="0" bIns="0" rtlCol="0" anchor="t"/>
          <a:lstStyle/>
          <a:p>
            <a:pPr algn="l" indent="0" marL="0">
              <a:buNone/>
            </a:pPr>
            <a:r>
              <a:rPr lang="en-US" sz="1400" dirty="0">
                <a:solidFill>
                  <a:srgbClr val="57534E"/>
                </a:solidFill>
                <a:latin typeface="Quattrocento Sans" pitchFamily="34" charset="0"/>
                <a:ea typeface="Quattrocento Sans" pitchFamily="34" charset="-122"/>
                <a:cs typeface="Quattrocento Sans" pitchFamily="34" charset="-120"/>
              </a:rPr>
              <a:t>Lo que se puede demostrar hoy, con datos reales y desde un celular</a:t>
            </a:r>
            <a:endParaRPr lang="en-US" sz="1400" dirty="0"/>
          </a:p>
        </p:txBody>
      </p:sp>
      <p:sp>
        <p:nvSpPr>
          <p:cNvPr id="4" name="paso 1"/>
          <p:cNvSpPr/>
          <p:nvPr/>
        </p:nvSpPr>
        <p:spPr>
          <a:xfrm>
            <a:off x="548640" y="1572768"/>
            <a:ext cx="420624" cy="420624"/>
          </a:xfrm>
          <a:prstGeom prst="ellipse">
            <a:avLst/>
          </a:prstGeom>
          <a:solidFill>
            <a:srgbClr val="C2410C"/>
          </a:solidFill>
          <a:ln w="12700">
            <a:solidFill>
              <a:srgbClr val="C2410C"/>
            </a:solidFill>
            <a:prstDash val="solid"/>
          </a:ln>
        </p:spPr>
      </p:sp>
      <p:sp>
        <p:nvSpPr>
          <p:cNvPr id="5" name="Text 3"/>
          <p:cNvSpPr txBox="1"/>
          <p:nvPr/>
        </p:nvSpPr>
        <p:spPr>
          <a:xfrm>
            <a:off x="548640" y="1572768"/>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Lexend" pitchFamily="34" charset="0"/>
                <a:ea typeface="Lexend" pitchFamily="34" charset="-122"/>
                <a:cs typeface="Lexend" pitchFamily="34" charset="-120"/>
              </a:rPr>
              <a:t>1</a:t>
            </a:r>
            <a:endParaRPr lang="en-US" sz="1200" dirty="0"/>
          </a:p>
        </p:txBody>
      </p:sp>
      <p:sp>
        <p:nvSpPr>
          <p:cNvPr id="6" name="Text 4"/>
          <p:cNvSpPr txBox="1"/>
          <p:nvPr/>
        </p:nvSpPr>
        <p:spPr>
          <a:xfrm>
            <a:off x="1188720" y="1554480"/>
            <a:ext cx="6629400" cy="841248"/>
          </a:xfrm>
          <a:prstGeom prst="rect">
            <a:avLst/>
          </a:prstGeom>
          <a:noFill/>
          <a:ln/>
        </p:spPr>
        <p:txBody>
          <a:bodyPr wrap="square" lIns="0" tIns="0" rIns="0" bIns="0" rtlCol="0" anchor="t"/>
          <a:lstStyle/>
          <a:p>
            <a:pPr indent="0" marL="0">
              <a:buNone/>
            </a:pPr>
            <a:r>
              <a:rPr lang="en-US" sz="1450" b="1" dirty="0">
                <a:solidFill>
                  <a:srgbClr val="1C1917"/>
                </a:solidFill>
                <a:latin typeface="Quattrocento Sans" pitchFamily="34" charset="0"/>
                <a:ea typeface="Quattrocento Sans" pitchFamily="34" charset="-122"/>
                <a:cs typeface="Quattrocento Sans" pitchFamily="34" charset="-120"/>
              </a:rPr>
              <a:t>El viajero pregunta. </a:t>
            </a:r>
            <a:pPr indent="0" marL="0">
              <a:spcAft>
                <a:spcPts val="1000"/>
              </a:spcAft>
              <a:buNone/>
            </a:pPr>
            <a:r>
              <a:rPr lang="en-US" sz="1450" dirty="0">
                <a:solidFill>
                  <a:srgbClr val="57534E"/>
                </a:solidFill>
                <a:latin typeface="Quattrocento Sans" pitchFamily="34" charset="0"/>
                <a:ea typeface="Quattrocento Sans" pitchFamily="34" charset="-122"/>
                <a:cs typeface="Quattrocento Sans" pitchFamily="34" charset="-120"/>
              </a:rPr>
              <a:t>Desde cuál de 24 ciudades sale, cuántos días tiene, en qué mes y, si quiere, qué le interesa, cuánto gastar, hasta qué altura y a qué zona quiere ir.</a:t>
            </a:r>
            <a:endParaRPr lang="en-US" sz="1450" dirty="0"/>
          </a:p>
        </p:txBody>
      </p:sp>
      <p:sp>
        <p:nvSpPr>
          <p:cNvPr id="7" name="paso 2"/>
          <p:cNvSpPr/>
          <p:nvPr/>
        </p:nvSpPr>
        <p:spPr>
          <a:xfrm>
            <a:off x="548640" y="2487168"/>
            <a:ext cx="420624" cy="420624"/>
          </a:xfrm>
          <a:prstGeom prst="ellipse">
            <a:avLst/>
          </a:prstGeom>
          <a:solidFill>
            <a:srgbClr val="C2410C"/>
          </a:solidFill>
          <a:ln w="12700">
            <a:solidFill>
              <a:srgbClr val="C2410C"/>
            </a:solidFill>
            <a:prstDash val="solid"/>
          </a:ln>
        </p:spPr>
      </p:sp>
      <p:sp>
        <p:nvSpPr>
          <p:cNvPr id="8" name="Text 6"/>
          <p:cNvSpPr txBox="1"/>
          <p:nvPr/>
        </p:nvSpPr>
        <p:spPr>
          <a:xfrm>
            <a:off x="548640" y="2487168"/>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Lexend" pitchFamily="34" charset="0"/>
                <a:ea typeface="Lexend" pitchFamily="34" charset="-122"/>
                <a:cs typeface="Lexend" pitchFamily="34" charset="-120"/>
              </a:rPr>
              <a:t>2</a:t>
            </a:r>
            <a:endParaRPr lang="en-US" sz="1200" dirty="0"/>
          </a:p>
        </p:txBody>
      </p:sp>
      <p:sp>
        <p:nvSpPr>
          <p:cNvPr id="9" name="Text 7"/>
          <p:cNvSpPr txBox="1"/>
          <p:nvPr/>
        </p:nvSpPr>
        <p:spPr>
          <a:xfrm>
            <a:off x="1188720" y="2468880"/>
            <a:ext cx="6629400" cy="841248"/>
          </a:xfrm>
          <a:prstGeom prst="rect">
            <a:avLst/>
          </a:prstGeom>
          <a:noFill/>
          <a:ln/>
        </p:spPr>
        <p:txBody>
          <a:bodyPr wrap="square" lIns="0" tIns="0" rIns="0" bIns="0" rtlCol="0" anchor="t"/>
          <a:lstStyle/>
          <a:p>
            <a:pPr indent="0" marL="0">
              <a:buNone/>
            </a:pPr>
            <a:r>
              <a:rPr lang="en-US" sz="1450" b="1" dirty="0">
                <a:solidFill>
                  <a:srgbClr val="1C1917"/>
                </a:solidFill>
                <a:latin typeface="Quattrocento Sans" pitchFamily="34" charset="0"/>
                <a:ea typeface="Quattrocento Sans" pitchFamily="34" charset="-122"/>
                <a:cs typeface="Quattrocento Sans" pitchFamily="34" charset="-120"/>
              </a:rPr>
              <a:t>DreemGO propone tres viajes, </a:t>
            </a:r>
            <a:pPr indent="0" marL="0">
              <a:spcAft>
                <a:spcPts val="1000"/>
              </a:spcAft>
              <a:buNone/>
            </a:pPr>
            <a:r>
              <a:rPr lang="en-US" sz="1450" dirty="0">
                <a:solidFill>
                  <a:srgbClr val="57534E"/>
                </a:solidFill>
                <a:latin typeface="Quattrocento Sans" pitchFamily="34" charset="0"/>
                <a:ea typeface="Quattrocento Sans" pitchFamily="34" charset="-122"/>
                <a:cs typeface="Quattrocento Sans" pitchFamily="34" charset="-120"/>
              </a:rPr>
              <a:t>cada uno a una zona distinta, en bus, en bus de noche o en avión: su costo en una banda, si el mes conviene y por qué. Si la zona elegida no cabe, dice qué cambiar.</a:t>
            </a:r>
            <a:endParaRPr lang="en-US" sz="1450" dirty="0"/>
          </a:p>
        </p:txBody>
      </p:sp>
      <p:sp>
        <p:nvSpPr>
          <p:cNvPr id="10" name="paso 3"/>
          <p:cNvSpPr/>
          <p:nvPr/>
        </p:nvSpPr>
        <p:spPr>
          <a:xfrm>
            <a:off x="548640" y="3401568"/>
            <a:ext cx="420624" cy="420624"/>
          </a:xfrm>
          <a:prstGeom prst="ellipse">
            <a:avLst/>
          </a:prstGeom>
          <a:solidFill>
            <a:srgbClr val="C2410C"/>
          </a:solidFill>
          <a:ln w="12700">
            <a:solidFill>
              <a:srgbClr val="C2410C"/>
            </a:solidFill>
            <a:prstDash val="solid"/>
          </a:ln>
        </p:spPr>
      </p:sp>
      <p:sp>
        <p:nvSpPr>
          <p:cNvPr id="11" name="Text 9"/>
          <p:cNvSpPr txBox="1"/>
          <p:nvPr/>
        </p:nvSpPr>
        <p:spPr>
          <a:xfrm>
            <a:off x="548640" y="3401568"/>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Lexend" pitchFamily="34" charset="0"/>
                <a:ea typeface="Lexend" pitchFamily="34" charset="-122"/>
                <a:cs typeface="Lexend" pitchFamily="34" charset="-120"/>
              </a:rPr>
              <a:t>3</a:t>
            </a:r>
            <a:endParaRPr lang="en-US" sz="1200" dirty="0"/>
          </a:p>
        </p:txBody>
      </p:sp>
      <p:sp>
        <p:nvSpPr>
          <p:cNvPr id="12" name="Text 10"/>
          <p:cNvSpPr txBox="1"/>
          <p:nvPr/>
        </p:nvSpPr>
        <p:spPr>
          <a:xfrm>
            <a:off x="1188720" y="3383280"/>
            <a:ext cx="6629400" cy="841248"/>
          </a:xfrm>
          <a:prstGeom prst="rect">
            <a:avLst/>
          </a:prstGeom>
          <a:noFill/>
          <a:ln/>
        </p:spPr>
        <p:txBody>
          <a:bodyPr wrap="square" lIns="0" tIns="0" rIns="0" bIns="0" rtlCol="0" anchor="t"/>
          <a:lstStyle/>
          <a:p>
            <a:pPr indent="0" marL="0">
              <a:buNone/>
            </a:pPr>
            <a:r>
              <a:rPr lang="en-US" sz="1450" b="1" dirty="0">
                <a:solidFill>
                  <a:srgbClr val="1C1917"/>
                </a:solidFill>
                <a:latin typeface="Quattrocento Sans" pitchFamily="34" charset="0"/>
                <a:ea typeface="Quattrocento Sans" pitchFamily="34" charset="-122"/>
                <a:cs typeface="Quattrocento Sans" pitchFamily="34" charset="-120"/>
              </a:rPr>
              <a:t>Cada viaje trae su plan día por día: </a:t>
            </a:r>
            <a:pPr indent="0" marL="0">
              <a:spcAft>
                <a:spcPts val="1000"/>
              </a:spcAft>
              <a:buNone/>
            </a:pPr>
            <a:r>
              <a:rPr lang="en-US" sz="1450" dirty="0">
                <a:solidFill>
                  <a:srgbClr val="57534E"/>
                </a:solidFill>
                <a:latin typeface="Quattrocento Sans" pitchFamily="34" charset="0"/>
                <a:ea typeface="Quattrocento Sans" pitchFamily="34" charset="-122"/>
                <a:cs typeface="Quattrocento Sans" pitchFamily="34" charset="-120"/>
              </a:rPr>
              <a:t>qué visitar y a qué hora, dónde almorzar y qué hacer de noche, con un primer día tranquilo en la altura; sobre un mapa y con la ficha oficial de cada lugar.</a:t>
            </a:r>
            <a:endParaRPr lang="en-US" sz="1450" dirty="0"/>
          </a:p>
        </p:txBody>
      </p:sp>
      <p:sp>
        <p:nvSpPr>
          <p:cNvPr id="13" name="paso 4"/>
          <p:cNvSpPr/>
          <p:nvPr/>
        </p:nvSpPr>
        <p:spPr>
          <a:xfrm>
            <a:off x="548640" y="4315968"/>
            <a:ext cx="420624" cy="420624"/>
          </a:xfrm>
          <a:prstGeom prst="ellipse">
            <a:avLst/>
          </a:prstGeom>
          <a:solidFill>
            <a:srgbClr val="C2410C"/>
          </a:solidFill>
          <a:ln w="12700">
            <a:solidFill>
              <a:srgbClr val="C2410C"/>
            </a:solidFill>
            <a:prstDash val="solid"/>
          </a:ln>
        </p:spPr>
      </p:sp>
      <p:sp>
        <p:nvSpPr>
          <p:cNvPr id="14" name="Text 12"/>
          <p:cNvSpPr txBox="1"/>
          <p:nvPr/>
        </p:nvSpPr>
        <p:spPr>
          <a:xfrm>
            <a:off x="548640" y="4315968"/>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Lexend" pitchFamily="34" charset="0"/>
                <a:ea typeface="Lexend" pitchFamily="34" charset="-122"/>
                <a:cs typeface="Lexend" pitchFamily="34" charset="-120"/>
              </a:rPr>
              <a:t>4</a:t>
            </a:r>
            <a:endParaRPr lang="en-US" sz="1200" dirty="0"/>
          </a:p>
        </p:txBody>
      </p:sp>
      <p:sp>
        <p:nvSpPr>
          <p:cNvPr id="15" name="Text 13"/>
          <p:cNvSpPr txBox="1"/>
          <p:nvPr/>
        </p:nvSpPr>
        <p:spPr>
          <a:xfrm>
            <a:off x="1188720" y="4297680"/>
            <a:ext cx="6629400" cy="841248"/>
          </a:xfrm>
          <a:prstGeom prst="rect">
            <a:avLst/>
          </a:prstGeom>
          <a:noFill/>
          <a:ln/>
        </p:spPr>
        <p:txBody>
          <a:bodyPr wrap="square" lIns="0" tIns="0" rIns="0" bIns="0" rtlCol="0" anchor="t"/>
          <a:lstStyle/>
          <a:p>
            <a:pPr indent="0" marL="0">
              <a:buNone/>
            </a:pPr>
            <a:r>
              <a:rPr lang="en-US" sz="1450" b="1" dirty="0">
                <a:solidFill>
                  <a:srgbClr val="1C1917"/>
                </a:solidFill>
                <a:latin typeface="Quattrocento Sans" pitchFamily="34" charset="0"/>
                <a:ea typeface="Quattrocento Sans" pitchFamily="34" charset="-122"/>
                <a:cs typeface="Quattrocento Sans" pitchFamily="34" charset="-120"/>
              </a:rPr>
              <a:t>Se comparte con un enlace. </a:t>
            </a:r>
            <a:pPr indent="0" marL="0">
              <a:spcAft>
                <a:spcPts val="1000"/>
              </a:spcAft>
              <a:buNone/>
            </a:pPr>
            <a:r>
              <a:rPr lang="en-US" sz="1450" dirty="0">
                <a:solidFill>
                  <a:srgbClr val="57534E"/>
                </a:solidFill>
                <a:latin typeface="Quattrocento Sans" pitchFamily="34" charset="0"/>
                <a:ea typeface="Quattrocento Sans" pitchFamily="34" charset="-122"/>
                <a:cs typeface="Quattrocento Sans" pitchFamily="34" charset="-120"/>
              </a:rPr>
              <a:t>No hay cuentas: la misma consulta con los mismos datos da siempre la misma respuesta.</a:t>
            </a:r>
            <a:endParaRPr lang="en-US" sz="1450" dirty="0"/>
          </a:p>
        </p:txBody>
      </p:sp>
      <p:sp>
        <p:nvSpPr>
          <p:cNvPr id="16" name="paso 5"/>
          <p:cNvSpPr/>
          <p:nvPr/>
        </p:nvSpPr>
        <p:spPr>
          <a:xfrm>
            <a:off x="548640" y="5230368"/>
            <a:ext cx="420624" cy="420624"/>
          </a:xfrm>
          <a:prstGeom prst="ellipse">
            <a:avLst/>
          </a:prstGeom>
          <a:solidFill>
            <a:srgbClr val="0D9488"/>
          </a:solidFill>
          <a:ln w="12700">
            <a:solidFill>
              <a:srgbClr val="0D9488"/>
            </a:solidFill>
            <a:prstDash val="solid"/>
          </a:ln>
        </p:spPr>
      </p:sp>
      <p:sp>
        <p:nvSpPr>
          <p:cNvPr id="17" name="Text 15"/>
          <p:cNvSpPr txBox="1"/>
          <p:nvPr/>
        </p:nvSpPr>
        <p:spPr>
          <a:xfrm>
            <a:off x="548640" y="5230368"/>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Lexend" pitchFamily="34" charset="0"/>
                <a:ea typeface="Lexend" pitchFamily="34" charset="-122"/>
                <a:cs typeface="Lexend" pitchFamily="34" charset="-120"/>
              </a:rPr>
              <a:t>5</a:t>
            </a:r>
            <a:endParaRPr lang="en-US" sz="1200" dirty="0"/>
          </a:p>
        </p:txBody>
      </p:sp>
      <p:sp>
        <p:nvSpPr>
          <p:cNvPr id="18" name="Text 16"/>
          <p:cNvSpPr txBox="1"/>
          <p:nvPr/>
        </p:nvSpPr>
        <p:spPr>
          <a:xfrm>
            <a:off x="1188720" y="5212080"/>
            <a:ext cx="6629400" cy="841248"/>
          </a:xfrm>
          <a:prstGeom prst="rect">
            <a:avLst/>
          </a:prstGeom>
          <a:noFill/>
          <a:ln/>
        </p:spPr>
        <p:txBody>
          <a:bodyPr wrap="square" lIns="0" tIns="0" rIns="0" bIns="0" rtlCol="0" anchor="t"/>
          <a:lstStyle/>
          <a:p>
            <a:pPr indent="0" marL="0">
              <a:buNone/>
            </a:pPr>
            <a:r>
              <a:rPr lang="en-US" sz="1450" b="1" dirty="0">
                <a:solidFill>
                  <a:srgbClr val="1C1917"/>
                </a:solidFill>
                <a:latin typeface="Quattrocento Sans" pitchFamily="34" charset="0"/>
                <a:ea typeface="Quattrocento Sans" pitchFamily="34" charset="-122"/>
                <a:cs typeface="Quattrocento Sans" pitchFamily="34" charset="-120"/>
              </a:rPr>
              <a:t>Un municipio publica un evento, </a:t>
            </a:r>
            <a:pPr indent="0" marL="0">
              <a:spcAft>
                <a:spcPts val="1000"/>
              </a:spcAft>
              <a:buNone/>
            </a:pPr>
            <a:r>
              <a:rPr lang="en-US" sz="1450" dirty="0">
                <a:solidFill>
                  <a:srgbClr val="57534E"/>
                </a:solidFill>
                <a:latin typeface="Quattrocento Sans" pitchFamily="34" charset="0"/>
                <a:ea typeface="Quattrocento Sans" pitchFamily="34" charset="-122"/>
                <a:cs typeface="Quattrocento Sans" pitchFamily="34" charset="-120"/>
              </a:rPr>
              <a:t>que sale en el calendario y en los viajes que pasan cerca.</a:t>
            </a:r>
            <a:endParaRPr lang="en-US" sz="1450" dirty="0"/>
          </a:p>
        </p:txBody>
      </p:sp>
      <p:sp>
        <p:nvSpPr>
          <p:cNvPr id="19" name="panel del QR"/>
          <p:cNvSpPr/>
          <p:nvPr/>
        </p:nvSpPr>
        <p:spPr>
          <a:xfrm>
            <a:off x="8229600" y="1600200"/>
            <a:ext cx="3410712" cy="4343400"/>
          </a:xfrm>
          <a:prstGeom prst="roundRect">
            <a:avLst>
              <a:gd name="adj" fmla="val 3217"/>
            </a:avLst>
          </a:prstGeom>
          <a:solidFill>
            <a:srgbClr val="F5F5F4"/>
          </a:solidFill>
          <a:ln w="12700">
            <a:solidFill>
              <a:srgbClr val="E7E5E4"/>
            </a:solidFill>
            <a:prstDash val="solid"/>
          </a:ln>
        </p:spPr>
      </p:sp>
      <p:pic>
        <p:nvPicPr>
          <p:cNvPr id="20" name="qr_app.png" descr="Código QR de la app publicada">    </p:cNvPr>
          <p:cNvPicPr>
            <a:picLocks noChangeAspect="1"/>
          </p:cNvPicPr>
          <p:nvPr/>
        </p:nvPicPr>
        <p:blipFill>
          <a:blip r:embed="rId1"/>
          <a:stretch>
            <a:fillRect/>
          </a:stretch>
        </p:blipFill>
        <p:spPr>
          <a:xfrm>
            <a:off x="8778240" y="1874520"/>
            <a:ext cx="2313432" cy="2313432"/>
          </a:xfrm>
          <a:prstGeom prst="rect">
            <a:avLst/>
          </a:prstGeom>
        </p:spPr>
      </p:pic>
      <p:sp>
        <p:nvSpPr>
          <p:cNvPr id="21" name="Text 18"/>
          <p:cNvSpPr txBox="1"/>
          <p:nvPr/>
        </p:nvSpPr>
        <p:spPr>
          <a:xfrm>
            <a:off x="8503920" y="4389120"/>
            <a:ext cx="2880360" cy="365760"/>
          </a:xfrm>
          <a:prstGeom prst="rect">
            <a:avLst/>
          </a:prstGeom>
          <a:noFill/>
          <a:ln/>
        </p:spPr>
        <p:txBody>
          <a:bodyPr wrap="square" lIns="0" tIns="0" rIns="0" bIns="0" rtlCol="0" anchor="t"/>
          <a:lstStyle/>
          <a:p>
            <a:pPr algn="ctr" indent="0" marL="0">
              <a:buNone/>
            </a:pPr>
            <a:r>
              <a:rPr lang="en-US" sz="1700" b="1" dirty="0">
                <a:solidFill>
                  <a:srgbClr val="1C1917"/>
                </a:solidFill>
                <a:latin typeface="Lexend" pitchFamily="34" charset="0"/>
                <a:ea typeface="Lexend" pitchFamily="34" charset="-122"/>
                <a:cs typeface="Lexend" pitchFamily="34" charset="-120"/>
              </a:rPr>
              <a:t>Pruébalo en tu celular</a:t>
            </a:r>
            <a:endParaRPr lang="en-US" sz="1700" dirty="0"/>
          </a:p>
        </p:txBody>
      </p:sp>
      <p:sp>
        <p:nvSpPr>
          <p:cNvPr id="22" name="Text 19"/>
          <p:cNvSpPr txBox="1"/>
          <p:nvPr/>
        </p:nvSpPr>
        <p:spPr>
          <a:xfrm>
            <a:off x="8412480" y="4800600"/>
            <a:ext cx="3063240" cy="320040"/>
          </a:xfrm>
          <a:prstGeom prst="rect">
            <a:avLst/>
          </a:prstGeom>
          <a:noFill/>
          <a:ln/>
        </p:spPr>
        <p:txBody>
          <a:bodyPr wrap="square" lIns="0" tIns="0" rIns="0" bIns="0" rtlCol="0" anchor="t"/>
          <a:lstStyle/>
          <a:p>
            <a:pPr algn="ctr" indent="0" marL="0">
              <a:buNone/>
            </a:pPr>
            <a:r>
              <a:rPr lang="en-US" sz="1300" dirty="0">
                <a:solidFill>
                  <a:srgbClr val="0B5C80"/>
                </a:solidFill>
                <a:latin typeface="Quattrocento Sans" pitchFamily="34" charset="0"/>
                <a:ea typeface="Quattrocento Sans" pitchFamily="34" charset="-122"/>
                <a:cs typeface="Quattrocento Sans" pitchFamily="34" charset="-120"/>
              </a:rPr>
              <a:t>oswaldoaqm.github.io/Alejandros-Team</a:t>
            </a:r>
            <a:endParaRPr lang="en-US" sz="1300" dirty="0"/>
          </a:p>
        </p:txBody>
      </p:sp>
      <p:sp>
        <p:nvSpPr>
          <p:cNvPr id="23" name="Text 20"/>
          <p:cNvSpPr txBox="1"/>
          <p:nvPr/>
        </p:nvSpPr>
        <p:spPr>
          <a:xfrm>
            <a:off x="8503920" y="5166360"/>
            <a:ext cx="2880360" cy="640080"/>
          </a:xfrm>
          <a:prstGeom prst="rect">
            <a:avLst/>
          </a:prstGeom>
          <a:noFill/>
          <a:ln/>
        </p:spPr>
        <p:txBody>
          <a:bodyPr wrap="square" lIns="0" tIns="0" rIns="0" bIns="0" rtlCol="0" anchor="t"/>
          <a:lstStyle/>
          <a:p>
            <a:pPr algn="ctr" indent="0" marL="0">
              <a:buNone/>
            </a:pPr>
            <a:r>
              <a:rPr lang="en-US" sz="1100" dirty="0">
                <a:solidFill>
                  <a:srgbClr val="78716C"/>
                </a:solidFill>
                <a:latin typeface="Quattrocento Sans" pitchFamily="34" charset="0"/>
                <a:ea typeface="Quattrocento Sans" pitchFamily="34" charset="-122"/>
                <a:cs typeface="Quattrocento Sans" pitchFamily="34" charset="-120"/>
              </a:rPr>
              <a:t>La primera consulta del día puede tardar cerca de un minuto: el servidor gratuito despierta</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latin typeface="Quattrocento Sans"/>
                <a:ea typeface="Quattrocento Sans"/>
                <a:cs typeface="Quattrocento San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749808" y="310896"/>
            <a:ext cx="10881360" cy="658368"/>
          </a:xfrm>
          <a:prstGeom prst="rect">
            <a:avLst/>
          </a:prstGeom>
          <a:noFill/>
          <a:ln/>
        </p:spPr>
        <p:txBody>
          <a:bodyPr wrap="square" lIns="0" tIns="0" rIns="0" bIns="0" rtlCol="0" anchor="ctr"/>
          <a:lstStyle/>
          <a:p>
            <a:pPr algn="l" indent="0" marL="0">
              <a:buNone/>
            </a:pPr>
            <a:r>
              <a:rPr lang="en-US" sz="2600" b="1" dirty="0">
                <a:solidFill>
                  <a:srgbClr val="1C1917"/>
                </a:solidFill>
                <a:latin typeface="Lexend" pitchFamily="34" charset="0"/>
                <a:ea typeface="Lexend" pitchFamily="34" charset="-122"/>
                <a:cs typeface="Lexend" pitchFamily="34" charset="-120"/>
              </a:rPr>
              <a:t>Quién presenta qué</a:t>
            </a:r>
            <a:endParaRPr lang="en-US" sz="2600" dirty="0"/>
          </a:p>
        </p:txBody>
      </p:sp>
      <p:sp>
        <p:nvSpPr>
          <p:cNvPr id="3" name="Text 1"/>
          <p:cNvSpPr/>
          <p:nvPr>
            <p:ph idx="102" type="body" hasCustomPrompt="1"/>
          </p:nvPr>
        </p:nvSpPr>
        <p:spPr>
          <a:xfrm>
            <a:off x="749808" y="932688"/>
            <a:ext cx="10881360" cy="384048"/>
          </a:xfrm>
          <a:prstGeom prst="rect">
            <a:avLst/>
          </a:prstGeom>
          <a:noFill/>
          <a:ln/>
        </p:spPr>
        <p:txBody>
          <a:bodyPr wrap="square" lIns="0" tIns="0" rIns="0" bIns="0" rtlCol="0" anchor="t"/>
          <a:lstStyle/>
          <a:p>
            <a:pPr algn="l" indent="0" marL="0">
              <a:buNone/>
            </a:pPr>
            <a:r>
              <a:rPr lang="en-US" sz="1400" dirty="0">
                <a:solidFill>
                  <a:srgbClr val="57534E"/>
                </a:solidFill>
                <a:latin typeface="Quattrocento Sans" pitchFamily="34" charset="0"/>
                <a:ea typeface="Quattrocento Sans" pitchFamily="34" charset="-122"/>
                <a:cs typeface="Quattrocento Sans" pitchFamily="34" charset="-120"/>
              </a:rPr>
              <a:t>Cuatro partes, en el orden de esta presentación</a:t>
            </a:r>
            <a:endParaRPr lang="en-US" sz="1400" dirty="0"/>
          </a:p>
        </p:txBody>
      </p:sp>
      <p:sp>
        <p:nvSpPr>
          <p:cNvPr id="4" name="tarjeta de Christopher"/>
          <p:cNvSpPr/>
          <p:nvPr/>
        </p:nvSpPr>
        <p:spPr>
          <a:xfrm>
            <a:off x="548640" y="1691640"/>
            <a:ext cx="2551176" cy="3566160"/>
          </a:xfrm>
          <a:prstGeom prst="roundRect">
            <a:avLst>
              <a:gd name="adj" fmla="val 4301"/>
            </a:avLst>
          </a:prstGeom>
          <a:solidFill>
            <a:srgbClr val="FAFAF9"/>
          </a:solidFill>
          <a:ln w="12700">
            <a:solidFill>
              <a:srgbClr val="E7E5E4"/>
            </a:solidFill>
            <a:prstDash val="solid"/>
          </a:ln>
        </p:spPr>
      </p:sp>
      <p:sp>
        <p:nvSpPr>
          <p:cNvPr id="5" name="Text 3"/>
          <p:cNvSpPr txBox="1"/>
          <p:nvPr/>
        </p:nvSpPr>
        <p:spPr>
          <a:xfrm>
            <a:off x="822960" y="1920240"/>
            <a:ext cx="914400" cy="685800"/>
          </a:xfrm>
          <a:prstGeom prst="rect">
            <a:avLst/>
          </a:prstGeom>
          <a:noFill/>
          <a:ln/>
        </p:spPr>
        <p:txBody>
          <a:bodyPr wrap="square" lIns="0" tIns="0" rIns="0" bIns="0" rtlCol="0" anchor="t"/>
          <a:lstStyle/>
          <a:p>
            <a:pPr indent="0" marL="0">
              <a:buNone/>
            </a:pPr>
            <a:r>
              <a:rPr lang="en-US" sz="3600" b="1" dirty="0">
                <a:solidFill>
                  <a:srgbClr val="C2410C"/>
                </a:solidFill>
                <a:latin typeface="Lexend" pitchFamily="34" charset="0"/>
                <a:ea typeface="Lexend" pitchFamily="34" charset="-122"/>
                <a:cs typeface="Lexend" pitchFamily="34" charset="-120"/>
              </a:rPr>
              <a:t>1</a:t>
            </a:r>
            <a:endParaRPr lang="en-US" sz="3600" dirty="0"/>
          </a:p>
        </p:txBody>
      </p:sp>
      <p:sp>
        <p:nvSpPr>
          <p:cNvPr id="6" name="Text 4"/>
          <p:cNvSpPr txBox="1"/>
          <p:nvPr/>
        </p:nvSpPr>
        <p:spPr>
          <a:xfrm>
            <a:off x="822960" y="2697480"/>
            <a:ext cx="2103120" cy="457200"/>
          </a:xfrm>
          <a:prstGeom prst="rect">
            <a:avLst/>
          </a:prstGeom>
          <a:noFill/>
          <a:ln/>
        </p:spPr>
        <p:txBody>
          <a:bodyPr wrap="square" lIns="0" tIns="0" rIns="0" bIns="0" rtlCol="0" anchor="t"/>
          <a:lstStyle/>
          <a:p>
            <a:pPr indent="0" marL="0">
              <a:buNone/>
            </a:pPr>
            <a:r>
              <a:rPr lang="en-US" sz="2100" b="1" dirty="0">
                <a:solidFill>
                  <a:srgbClr val="1C1917"/>
                </a:solidFill>
                <a:latin typeface="Lexend" pitchFamily="34" charset="0"/>
                <a:ea typeface="Lexend" pitchFamily="34" charset="-122"/>
                <a:cs typeface="Lexend" pitchFamily="34" charset="-120"/>
              </a:rPr>
              <a:t>Christopher</a:t>
            </a:r>
            <a:endParaRPr lang="en-US" sz="2100" dirty="0"/>
          </a:p>
        </p:txBody>
      </p:sp>
      <p:sp>
        <p:nvSpPr>
          <p:cNvPr id="7" name="Text 5"/>
          <p:cNvSpPr txBox="1"/>
          <p:nvPr/>
        </p:nvSpPr>
        <p:spPr>
          <a:xfrm>
            <a:off x="822960" y="3200400"/>
            <a:ext cx="2103120" cy="640080"/>
          </a:xfrm>
          <a:prstGeom prst="rect">
            <a:avLst/>
          </a:prstGeom>
          <a:noFill/>
          <a:ln/>
        </p:spPr>
        <p:txBody>
          <a:bodyPr wrap="square" lIns="0" tIns="0" rIns="0" bIns="0" rtlCol="0" anchor="t"/>
          <a:lstStyle/>
          <a:p>
            <a:pPr indent="0" marL="0">
              <a:buNone/>
            </a:pPr>
            <a:r>
              <a:rPr lang="en-US" sz="1300" dirty="0">
                <a:solidFill>
                  <a:srgbClr val="78716C"/>
                </a:solidFill>
                <a:latin typeface="Quattrocento Sans" pitchFamily="34" charset="0"/>
                <a:ea typeface="Quattrocento Sans" pitchFamily="34" charset="-122"/>
                <a:cs typeface="Quattrocento Sans" pitchFamily="34" charset="-120"/>
              </a:rPr>
              <a:t>Frontend Developer y Product Owner</a:t>
            </a:r>
            <a:endParaRPr lang="en-US" sz="1300" dirty="0"/>
          </a:p>
        </p:txBody>
      </p:sp>
      <p:sp>
        <p:nvSpPr>
          <p:cNvPr id="8" name="Text 6"/>
          <p:cNvSpPr txBox="1"/>
          <p:nvPr/>
        </p:nvSpPr>
        <p:spPr>
          <a:xfrm>
            <a:off x="822960" y="4114800"/>
            <a:ext cx="2103120" cy="822960"/>
          </a:xfrm>
          <a:prstGeom prst="rect">
            <a:avLst/>
          </a:prstGeom>
          <a:noFill/>
          <a:ln/>
        </p:spPr>
        <p:txBody>
          <a:bodyPr wrap="square" lIns="0" tIns="0" rIns="0" bIns="0" rtlCol="0" anchor="t"/>
          <a:lstStyle/>
          <a:p>
            <a:pPr indent="0" marL="0">
              <a:buNone/>
            </a:pPr>
            <a:r>
              <a:rPr lang="en-US" sz="1600" dirty="0">
                <a:solidFill>
                  <a:srgbClr val="0D9488"/>
                </a:solidFill>
                <a:latin typeface="Lexend" pitchFamily="34" charset="0"/>
                <a:ea typeface="Lexend" pitchFamily="34" charset="-122"/>
                <a:cs typeface="Lexend" pitchFamily="34" charset="-120"/>
              </a:rPr>
              <a:t>La app y la demo</a:t>
            </a:r>
            <a:endParaRPr lang="en-US" sz="1600" dirty="0"/>
          </a:p>
        </p:txBody>
      </p:sp>
      <p:sp>
        <p:nvSpPr>
          <p:cNvPr id="9" name="tarjeta de Miguel"/>
          <p:cNvSpPr/>
          <p:nvPr/>
        </p:nvSpPr>
        <p:spPr>
          <a:xfrm>
            <a:off x="3328416" y="1691640"/>
            <a:ext cx="2551176" cy="3566160"/>
          </a:xfrm>
          <a:prstGeom prst="roundRect">
            <a:avLst>
              <a:gd name="adj" fmla="val 4301"/>
            </a:avLst>
          </a:prstGeom>
          <a:solidFill>
            <a:srgbClr val="FAFAF9"/>
          </a:solidFill>
          <a:ln w="12700">
            <a:solidFill>
              <a:srgbClr val="E7E5E4"/>
            </a:solidFill>
            <a:prstDash val="solid"/>
          </a:ln>
        </p:spPr>
      </p:sp>
      <p:sp>
        <p:nvSpPr>
          <p:cNvPr id="10" name="Text 8"/>
          <p:cNvSpPr txBox="1"/>
          <p:nvPr/>
        </p:nvSpPr>
        <p:spPr>
          <a:xfrm>
            <a:off x="3602736" y="1920240"/>
            <a:ext cx="914400" cy="685800"/>
          </a:xfrm>
          <a:prstGeom prst="rect">
            <a:avLst/>
          </a:prstGeom>
          <a:noFill/>
          <a:ln/>
        </p:spPr>
        <p:txBody>
          <a:bodyPr wrap="square" lIns="0" tIns="0" rIns="0" bIns="0" rtlCol="0" anchor="t"/>
          <a:lstStyle/>
          <a:p>
            <a:pPr indent="0" marL="0">
              <a:buNone/>
            </a:pPr>
            <a:r>
              <a:rPr lang="en-US" sz="3600" b="1" dirty="0">
                <a:solidFill>
                  <a:srgbClr val="C2410C"/>
                </a:solidFill>
                <a:latin typeface="Lexend" pitchFamily="34" charset="0"/>
                <a:ea typeface="Lexend" pitchFamily="34" charset="-122"/>
                <a:cs typeface="Lexend" pitchFamily="34" charset="-120"/>
              </a:rPr>
              <a:t>2</a:t>
            </a:r>
            <a:endParaRPr lang="en-US" sz="3600" dirty="0"/>
          </a:p>
        </p:txBody>
      </p:sp>
      <p:sp>
        <p:nvSpPr>
          <p:cNvPr id="11" name="Text 9"/>
          <p:cNvSpPr txBox="1"/>
          <p:nvPr/>
        </p:nvSpPr>
        <p:spPr>
          <a:xfrm>
            <a:off x="3602736" y="2697480"/>
            <a:ext cx="2103120" cy="457200"/>
          </a:xfrm>
          <a:prstGeom prst="rect">
            <a:avLst/>
          </a:prstGeom>
          <a:noFill/>
          <a:ln/>
        </p:spPr>
        <p:txBody>
          <a:bodyPr wrap="square" lIns="0" tIns="0" rIns="0" bIns="0" rtlCol="0" anchor="t"/>
          <a:lstStyle/>
          <a:p>
            <a:pPr indent="0" marL="0">
              <a:buNone/>
            </a:pPr>
            <a:r>
              <a:rPr lang="en-US" sz="2100" b="1" dirty="0">
                <a:solidFill>
                  <a:srgbClr val="1C1917"/>
                </a:solidFill>
                <a:latin typeface="Lexend" pitchFamily="34" charset="0"/>
                <a:ea typeface="Lexend" pitchFamily="34" charset="-122"/>
                <a:cs typeface="Lexend" pitchFamily="34" charset="-120"/>
              </a:rPr>
              <a:t>Miguel</a:t>
            </a:r>
            <a:endParaRPr lang="en-US" sz="2100" dirty="0"/>
          </a:p>
        </p:txBody>
      </p:sp>
      <p:sp>
        <p:nvSpPr>
          <p:cNvPr id="12" name="Text 10"/>
          <p:cNvSpPr txBox="1"/>
          <p:nvPr/>
        </p:nvSpPr>
        <p:spPr>
          <a:xfrm>
            <a:off x="3602736" y="3200400"/>
            <a:ext cx="2103120" cy="640080"/>
          </a:xfrm>
          <a:prstGeom prst="rect">
            <a:avLst/>
          </a:prstGeom>
          <a:noFill/>
          <a:ln/>
        </p:spPr>
        <p:txBody>
          <a:bodyPr wrap="square" lIns="0" tIns="0" rIns="0" bIns="0" rtlCol="0" anchor="t"/>
          <a:lstStyle/>
          <a:p>
            <a:pPr indent="0" marL="0">
              <a:buNone/>
            </a:pPr>
            <a:r>
              <a:rPr lang="en-US" sz="1300" dirty="0">
                <a:solidFill>
                  <a:srgbClr val="78716C"/>
                </a:solidFill>
                <a:latin typeface="Quattrocento Sans" pitchFamily="34" charset="0"/>
                <a:ea typeface="Quattrocento Sans" pitchFamily="34" charset="-122"/>
                <a:cs typeface="Quattrocento Sans" pitchFamily="34" charset="-120"/>
              </a:rPr>
              <a:t>Data Engineer y Cloud Architect</a:t>
            </a:r>
            <a:endParaRPr lang="en-US" sz="1300" dirty="0"/>
          </a:p>
        </p:txBody>
      </p:sp>
      <p:sp>
        <p:nvSpPr>
          <p:cNvPr id="13" name="Text 11"/>
          <p:cNvSpPr txBox="1"/>
          <p:nvPr/>
        </p:nvSpPr>
        <p:spPr>
          <a:xfrm>
            <a:off x="3602736" y="4114800"/>
            <a:ext cx="2103120" cy="822960"/>
          </a:xfrm>
          <a:prstGeom prst="rect">
            <a:avLst/>
          </a:prstGeom>
          <a:noFill/>
          <a:ln/>
        </p:spPr>
        <p:txBody>
          <a:bodyPr wrap="square" lIns="0" tIns="0" rIns="0" bIns="0" rtlCol="0" anchor="t"/>
          <a:lstStyle/>
          <a:p>
            <a:pPr indent="0" marL="0">
              <a:buNone/>
            </a:pPr>
            <a:r>
              <a:rPr lang="en-US" sz="1600" dirty="0">
                <a:solidFill>
                  <a:srgbClr val="0D9488"/>
                </a:solidFill>
                <a:latin typeface="Lexend" pitchFamily="34" charset="0"/>
                <a:ea typeface="Lexend" pitchFamily="34" charset="-122"/>
                <a:cs typeface="Lexend" pitchFamily="34" charset="-120"/>
              </a:rPr>
              <a:t>Arquitectura y despliegue</a:t>
            </a:r>
            <a:endParaRPr lang="en-US" sz="1600" dirty="0"/>
          </a:p>
        </p:txBody>
      </p:sp>
      <p:sp>
        <p:nvSpPr>
          <p:cNvPr id="14" name="tarjeta de Diego"/>
          <p:cNvSpPr/>
          <p:nvPr/>
        </p:nvSpPr>
        <p:spPr>
          <a:xfrm>
            <a:off x="6108192" y="1691640"/>
            <a:ext cx="2551176" cy="3566160"/>
          </a:xfrm>
          <a:prstGeom prst="roundRect">
            <a:avLst>
              <a:gd name="adj" fmla="val 4301"/>
            </a:avLst>
          </a:prstGeom>
          <a:solidFill>
            <a:srgbClr val="FAFAF9"/>
          </a:solidFill>
          <a:ln w="12700">
            <a:solidFill>
              <a:srgbClr val="E7E5E4"/>
            </a:solidFill>
            <a:prstDash val="solid"/>
          </a:ln>
        </p:spPr>
      </p:sp>
      <p:sp>
        <p:nvSpPr>
          <p:cNvPr id="15" name="Text 13"/>
          <p:cNvSpPr txBox="1"/>
          <p:nvPr/>
        </p:nvSpPr>
        <p:spPr>
          <a:xfrm>
            <a:off x="6382512" y="1920240"/>
            <a:ext cx="914400" cy="685800"/>
          </a:xfrm>
          <a:prstGeom prst="rect">
            <a:avLst/>
          </a:prstGeom>
          <a:noFill/>
          <a:ln/>
        </p:spPr>
        <p:txBody>
          <a:bodyPr wrap="square" lIns="0" tIns="0" rIns="0" bIns="0" rtlCol="0" anchor="t"/>
          <a:lstStyle/>
          <a:p>
            <a:pPr indent="0" marL="0">
              <a:buNone/>
            </a:pPr>
            <a:r>
              <a:rPr lang="en-US" sz="3600" b="1" dirty="0">
                <a:solidFill>
                  <a:srgbClr val="C2410C"/>
                </a:solidFill>
                <a:latin typeface="Lexend" pitchFamily="34" charset="0"/>
                <a:ea typeface="Lexend" pitchFamily="34" charset="-122"/>
                <a:cs typeface="Lexend" pitchFamily="34" charset="-120"/>
              </a:rPr>
              <a:t>3</a:t>
            </a:r>
            <a:endParaRPr lang="en-US" sz="3600" dirty="0"/>
          </a:p>
        </p:txBody>
      </p:sp>
      <p:sp>
        <p:nvSpPr>
          <p:cNvPr id="16" name="Text 14"/>
          <p:cNvSpPr txBox="1"/>
          <p:nvPr/>
        </p:nvSpPr>
        <p:spPr>
          <a:xfrm>
            <a:off x="6382512" y="2697480"/>
            <a:ext cx="2103120" cy="457200"/>
          </a:xfrm>
          <a:prstGeom prst="rect">
            <a:avLst/>
          </a:prstGeom>
          <a:noFill/>
          <a:ln/>
        </p:spPr>
        <p:txBody>
          <a:bodyPr wrap="square" lIns="0" tIns="0" rIns="0" bIns="0" rtlCol="0" anchor="t"/>
          <a:lstStyle/>
          <a:p>
            <a:pPr indent="0" marL="0">
              <a:buNone/>
            </a:pPr>
            <a:r>
              <a:rPr lang="en-US" sz="2100" b="1" dirty="0">
                <a:solidFill>
                  <a:srgbClr val="1C1917"/>
                </a:solidFill>
                <a:latin typeface="Lexend" pitchFamily="34" charset="0"/>
                <a:ea typeface="Lexend" pitchFamily="34" charset="-122"/>
                <a:cs typeface="Lexend" pitchFamily="34" charset="-120"/>
              </a:rPr>
              <a:t>Diego</a:t>
            </a:r>
            <a:endParaRPr lang="en-US" sz="2100" dirty="0"/>
          </a:p>
        </p:txBody>
      </p:sp>
      <p:sp>
        <p:nvSpPr>
          <p:cNvPr id="17" name="Text 15"/>
          <p:cNvSpPr txBox="1"/>
          <p:nvPr/>
        </p:nvSpPr>
        <p:spPr>
          <a:xfrm>
            <a:off x="6382512" y="3200400"/>
            <a:ext cx="2103120" cy="640080"/>
          </a:xfrm>
          <a:prstGeom prst="rect">
            <a:avLst/>
          </a:prstGeom>
          <a:noFill/>
          <a:ln/>
        </p:spPr>
        <p:txBody>
          <a:bodyPr wrap="square" lIns="0" tIns="0" rIns="0" bIns="0" rtlCol="0" anchor="t"/>
          <a:lstStyle/>
          <a:p>
            <a:pPr indent="0" marL="0">
              <a:buNone/>
            </a:pPr>
            <a:r>
              <a:rPr lang="en-US" sz="1300" dirty="0">
                <a:solidFill>
                  <a:srgbClr val="78716C"/>
                </a:solidFill>
                <a:latin typeface="Quattrocento Sans" pitchFamily="34" charset="0"/>
                <a:ea typeface="Quattrocento Sans" pitchFamily="34" charset="-122"/>
                <a:cs typeface="Quattrocento Sans" pitchFamily="34" charset="-120"/>
              </a:rPr>
              <a:t>Backend y algoritmos</a:t>
            </a:r>
            <a:endParaRPr lang="en-US" sz="1300" dirty="0"/>
          </a:p>
        </p:txBody>
      </p:sp>
      <p:sp>
        <p:nvSpPr>
          <p:cNvPr id="18" name="Text 16"/>
          <p:cNvSpPr txBox="1"/>
          <p:nvPr/>
        </p:nvSpPr>
        <p:spPr>
          <a:xfrm>
            <a:off x="6382512" y="4114800"/>
            <a:ext cx="2103120" cy="822960"/>
          </a:xfrm>
          <a:prstGeom prst="rect">
            <a:avLst/>
          </a:prstGeom>
          <a:noFill/>
          <a:ln/>
        </p:spPr>
        <p:txBody>
          <a:bodyPr wrap="square" lIns="0" tIns="0" rIns="0" bIns="0" rtlCol="0" anchor="t"/>
          <a:lstStyle/>
          <a:p>
            <a:pPr indent="0" marL="0">
              <a:buNone/>
            </a:pPr>
            <a:r>
              <a:rPr lang="en-US" sz="1600" dirty="0">
                <a:solidFill>
                  <a:srgbClr val="0D9488"/>
                </a:solidFill>
                <a:latin typeface="Lexend" pitchFamily="34" charset="0"/>
                <a:ea typeface="Lexend" pitchFamily="34" charset="-122"/>
                <a:cs typeface="Lexend" pitchFamily="34" charset="-120"/>
              </a:rPr>
              <a:t>El motor y su API</a:t>
            </a:r>
            <a:endParaRPr lang="en-US" sz="1600" dirty="0"/>
          </a:p>
        </p:txBody>
      </p:sp>
      <p:sp>
        <p:nvSpPr>
          <p:cNvPr id="19" name="tarjeta de Alejandro"/>
          <p:cNvSpPr/>
          <p:nvPr/>
        </p:nvSpPr>
        <p:spPr>
          <a:xfrm>
            <a:off x="8887968" y="1691640"/>
            <a:ext cx="2551176" cy="3566160"/>
          </a:xfrm>
          <a:prstGeom prst="roundRect">
            <a:avLst>
              <a:gd name="adj" fmla="val 4301"/>
            </a:avLst>
          </a:prstGeom>
          <a:solidFill>
            <a:srgbClr val="FAFAF9"/>
          </a:solidFill>
          <a:ln w="12700">
            <a:solidFill>
              <a:srgbClr val="E7E5E4"/>
            </a:solidFill>
            <a:prstDash val="solid"/>
          </a:ln>
        </p:spPr>
      </p:sp>
      <p:sp>
        <p:nvSpPr>
          <p:cNvPr id="20" name="Text 18"/>
          <p:cNvSpPr txBox="1"/>
          <p:nvPr/>
        </p:nvSpPr>
        <p:spPr>
          <a:xfrm>
            <a:off x="9162288" y="1920240"/>
            <a:ext cx="914400" cy="685800"/>
          </a:xfrm>
          <a:prstGeom prst="rect">
            <a:avLst/>
          </a:prstGeom>
          <a:noFill/>
          <a:ln/>
        </p:spPr>
        <p:txBody>
          <a:bodyPr wrap="square" lIns="0" tIns="0" rIns="0" bIns="0" rtlCol="0" anchor="t"/>
          <a:lstStyle/>
          <a:p>
            <a:pPr indent="0" marL="0">
              <a:buNone/>
            </a:pPr>
            <a:r>
              <a:rPr lang="en-US" sz="3600" b="1" dirty="0">
                <a:solidFill>
                  <a:srgbClr val="C2410C"/>
                </a:solidFill>
                <a:latin typeface="Lexend" pitchFamily="34" charset="0"/>
                <a:ea typeface="Lexend" pitchFamily="34" charset="-122"/>
                <a:cs typeface="Lexend" pitchFamily="34" charset="-120"/>
              </a:rPr>
              <a:t>4</a:t>
            </a:r>
            <a:endParaRPr lang="en-US" sz="3600" dirty="0"/>
          </a:p>
        </p:txBody>
      </p:sp>
      <p:sp>
        <p:nvSpPr>
          <p:cNvPr id="21" name="Text 19"/>
          <p:cNvSpPr txBox="1"/>
          <p:nvPr/>
        </p:nvSpPr>
        <p:spPr>
          <a:xfrm>
            <a:off x="9162288" y="2697480"/>
            <a:ext cx="2103120" cy="457200"/>
          </a:xfrm>
          <a:prstGeom prst="rect">
            <a:avLst/>
          </a:prstGeom>
          <a:noFill/>
          <a:ln/>
        </p:spPr>
        <p:txBody>
          <a:bodyPr wrap="square" lIns="0" tIns="0" rIns="0" bIns="0" rtlCol="0" anchor="t"/>
          <a:lstStyle/>
          <a:p>
            <a:pPr indent="0" marL="0">
              <a:buNone/>
            </a:pPr>
            <a:r>
              <a:rPr lang="en-US" sz="2100" b="1" dirty="0">
                <a:solidFill>
                  <a:srgbClr val="1C1917"/>
                </a:solidFill>
                <a:latin typeface="Lexend" pitchFamily="34" charset="0"/>
                <a:ea typeface="Lexend" pitchFamily="34" charset="-122"/>
                <a:cs typeface="Lexend" pitchFamily="34" charset="-120"/>
              </a:rPr>
              <a:t>Alejandro</a:t>
            </a:r>
            <a:endParaRPr lang="en-US" sz="2100" dirty="0"/>
          </a:p>
        </p:txBody>
      </p:sp>
      <p:sp>
        <p:nvSpPr>
          <p:cNvPr id="22" name="Text 20"/>
          <p:cNvSpPr txBox="1"/>
          <p:nvPr/>
        </p:nvSpPr>
        <p:spPr>
          <a:xfrm>
            <a:off x="9162288" y="3200400"/>
            <a:ext cx="2103120" cy="640080"/>
          </a:xfrm>
          <a:prstGeom prst="rect">
            <a:avLst/>
          </a:prstGeom>
          <a:noFill/>
          <a:ln/>
        </p:spPr>
        <p:txBody>
          <a:bodyPr wrap="square" lIns="0" tIns="0" rIns="0" bIns="0" rtlCol="0" anchor="t"/>
          <a:lstStyle/>
          <a:p>
            <a:pPr indent="0" marL="0">
              <a:buNone/>
            </a:pPr>
            <a:r>
              <a:rPr lang="en-US" sz="1300" dirty="0">
                <a:solidFill>
                  <a:srgbClr val="78716C"/>
                </a:solidFill>
                <a:latin typeface="Quattrocento Sans" pitchFamily="34" charset="0"/>
                <a:ea typeface="Quattrocento Sans" pitchFamily="34" charset="-122"/>
                <a:cs typeface="Quattrocento Sans" pitchFamily="34" charset="-120"/>
              </a:rPr>
              <a:t>Data Scientist y ML Engineer</a:t>
            </a:r>
            <a:endParaRPr lang="en-US" sz="1300" dirty="0"/>
          </a:p>
        </p:txBody>
      </p:sp>
      <p:sp>
        <p:nvSpPr>
          <p:cNvPr id="23" name="Text 21"/>
          <p:cNvSpPr txBox="1"/>
          <p:nvPr/>
        </p:nvSpPr>
        <p:spPr>
          <a:xfrm>
            <a:off x="9162288" y="4114800"/>
            <a:ext cx="2103120" cy="822960"/>
          </a:xfrm>
          <a:prstGeom prst="rect">
            <a:avLst/>
          </a:prstGeom>
          <a:noFill/>
          <a:ln/>
        </p:spPr>
        <p:txBody>
          <a:bodyPr wrap="square" lIns="0" tIns="0" rIns="0" bIns="0" rtlCol="0" anchor="t"/>
          <a:lstStyle/>
          <a:p>
            <a:pPr indent="0" marL="0">
              <a:buNone/>
            </a:pPr>
            <a:r>
              <a:rPr lang="en-US" sz="1600" dirty="0">
                <a:solidFill>
                  <a:srgbClr val="0D9488"/>
                </a:solidFill>
                <a:latin typeface="Lexend" pitchFamily="34" charset="0"/>
                <a:ea typeface="Lexend" pitchFamily="34" charset="-122"/>
                <a:cs typeface="Lexend" pitchFamily="34" charset="-120"/>
              </a:rPr>
              <a:t>Datos, modelo y cifras</a:t>
            </a:r>
            <a:endParaRPr lang="en-US" sz="1600" dirty="0"/>
          </a:p>
        </p:txBody>
      </p:sp>
      <p:sp>
        <p:nvSpPr>
          <p:cNvPr id="24" name="Text 22"/>
          <p:cNvSpPr txBox="1"/>
          <p:nvPr/>
        </p:nvSpPr>
        <p:spPr>
          <a:xfrm>
            <a:off x="548640" y="5577840"/>
            <a:ext cx="10972800" cy="365760"/>
          </a:xfrm>
          <a:prstGeom prst="rect">
            <a:avLst/>
          </a:prstGeom>
          <a:noFill/>
          <a:ln/>
        </p:spPr>
        <p:txBody>
          <a:bodyPr wrap="square" lIns="0" tIns="0" rIns="0" bIns="0" rtlCol="0" anchor="t"/>
          <a:lstStyle/>
          <a:p>
            <a:pPr indent="0" marL="0">
              <a:buNone/>
            </a:pPr>
            <a:r>
              <a:rPr lang="en-US" sz="1500" dirty="0">
                <a:solidFill>
                  <a:srgbClr val="57534E"/>
                </a:solidFill>
                <a:latin typeface="Quattrocento Sans" pitchFamily="34" charset="0"/>
                <a:ea typeface="Quattrocento Sans" pitchFamily="34" charset="-122"/>
                <a:cs typeface="Quattrocento Sans" pitchFamily="34" charset="-120"/>
              </a:rPr>
              <a:t>Al final, entre todos: los retos técnicos, lo que falta y las preguntas.</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latin typeface="Quattrocento Sans"/>
                <a:ea typeface="Quattrocento Sans"/>
                <a:cs typeface="Quattrocento San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822960" y="1554480"/>
            <a:ext cx="2743200" cy="914400"/>
          </a:xfrm>
          <a:prstGeom prst="rect">
            <a:avLst/>
          </a:prstGeom>
          <a:noFill/>
          <a:ln/>
        </p:spPr>
        <p:txBody>
          <a:bodyPr wrap="square" lIns="0" tIns="0" rIns="0" bIns="0" rtlCol="0" anchor="b"/>
          <a:lstStyle/>
          <a:p>
            <a:pPr algn="l" indent="0" marL="0">
              <a:buNone/>
            </a:pPr>
            <a:r>
              <a:rPr lang="en-US" sz="5400" b="1" dirty="0">
                <a:solidFill>
                  <a:srgbClr val="FB923C"/>
                </a:solidFill>
                <a:latin typeface="Lexend" pitchFamily="34" charset="0"/>
                <a:ea typeface="Lexend" pitchFamily="34" charset="-122"/>
                <a:cs typeface="Lexend" pitchFamily="34" charset="-120"/>
              </a:rPr>
              <a:t>1</a:t>
            </a:r>
            <a:endParaRPr lang="en-US" sz="5400" dirty="0"/>
          </a:p>
        </p:txBody>
      </p:sp>
      <p:sp>
        <p:nvSpPr>
          <p:cNvPr id="3" name="Text 0"/>
          <p:cNvSpPr/>
          <p:nvPr>
            <p:ph idx="101" type="title" hasCustomPrompt="1"/>
          </p:nvPr>
        </p:nvSpPr>
        <p:spPr>
          <a:xfrm>
            <a:off x="822960" y="2514600"/>
            <a:ext cx="10515600" cy="1097280"/>
          </a:xfrm>
          <a:prstGeom prst="rect">
            <a:avLst/>
          </a:prstGeom>
          <a:noFill/>
          <a:ln/>
        </p:spPr>
        <p:txBody>
          <a:bodyPr wrap="square" lIns="0" tIns="0" rIns="0" bIns="0" rtlCol="0" anchor="t"/>
          <a:lstStyle/>
          <a:p>
            <a:pPr algn="l" indent="0" marL="0">
              <a:buNone/>
            </a:pPr>
            <a:r>
              <a:rPr lang="en-US" sz="4400" b="1" dirty="0">
                <a:solidFill>
                  <a:srgbClr val="FFFFFF"/>
                </a:solidFill>
                <a:latin typeface="Lexend" pitchFamily="34" charset="0"/>
                <a:ea typeface="Lexend" pitchFamily="34" charset="-122"/>
                <a:cs typeface="Lexend" pitchFamily="34" charset="-120"/>
              </a:rPr>
              <a:t>La app y la demo</a:t>
            </a:r>
            <a:endParaRPr lang="en-US" sz="4400" dirty="0"/>
          </a:p>
        </p:txBody>
      </p:sp>
      <p:sp>
        <p:nvSpPr>
          <p:cNvPr id="4" name="Text 0"/>
          <p:cNvSpPr/>
          <p:nvPr>
            <p:ph idx="102" type="body" hasCustomPrompt="1"/>
          </p:nvPr>
        </p:nvSpPr>
        <p:spPr>
          <a:xfrm>
            <a:off x="822960" y="3703320"/>
            <a:ext cx="10515600" cy="457200"/>
          </a:xfrm>
          <a:prstGeom prst="rect">
            <a:avLst/>
          </a:prstGeom>
          <a:noFill/>
          <a:ln/>
        </p:spPr>
        <p:txBody>
          <a:bodyPr wrap="square" lIns="0" tIns="0" rIns="0" bIns="0" rtlCol="0"/>
          <a:lstStyle/>
          <a:p>
            <a:pPr algn="l" indent="0" marL="0">
              <a:buNone/>
            </a:pPr>
            <a:r>
              <a:rPr lang="en-US" sz="2000" dirty="0">
                <a:solidFill>
                  <a:srgbClr val="E7E5E4"/>
                </a:solidFill>
                <a:latin typeface="Lexend" pitchFamily="34" charset="0"/>
                <a:ea typeface="Lexend" pitchFamily="34" charset="-122"/>
                <a:cs typeface="Lexend" pitchFamily="34" charset="-120"/>
              </a:rPr>
              <a:t>Christopher</a:t>
            </a:r>
            <a:endParaRPr lang="en-US" sz="2000" dirty="0"/>
          </a:p>
        </p:txBody>
      </p:sp>
      <p:sp>
        <p:nvSpPr>
          <p:cNvPr id="5" name="Text 0"/>
          <p:cNvSpPr/>
          <p:nvPr>
            <p:ph idx="103" type="body" hasCustomPrompt="1"/>
          </p:nvPr>
        </p:nvSpPr>
        <p:spPr>
          <a:xfrm>
            <a:off x="822960" y="4206240"/>
            <a:ext cx="10058400" cy="457200"/>
          </a:xfrm>
          <a:prstGeom prst="rect">
            <a:avLst/>
          </a:prstGeom>
          <a:noFill/>
          <a:ln/>
        </p:spPr>
        <p:txBody>
          <a:bodyPr wrap="square" lIns="0" tIns="0" rIns="0" bIns="0" rtlCol="0"/>
          <a:lstStyle/>
          <a:p>
            <a:pPr algn="l" indent="0" marL="0">
              <a:buNone/>
            </a:pPr>
            <a:r>
              <a:rPr lang="en-US" sz="1600" dirty="0">
                <a:solidFill>
                  <a:srgbClr val="A8A29E"/>
                </a:solidFill>
                <a:latin typeface="Quattrocento Sans" pitchFamily="34" charset="0"/>
                <a:ea typeface="Quattrocento Sans" pitchFamily="34" charset="-122"/>
                <a:cs typeface="Quattrocento Sans" pitchFamily="34" charset="-120"/>
              </a:rPr>
              <a:t>De la pregunta a un viaje día por día, en el celular y en escritorio</a:t>
            </a: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latin typeface="Quattrocento Sans"/>
                <a:ea typeface="Quattrocento Sans"/>
                <a:cs typeface="Quattrocento San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749808" y="310896"/>
            <a:ext cx="10881360" cy="658368"/>
          </a:xfrm>
          <a:prstGeom prst="rect">
            <a:avLst/>
          </a:prstGeom>
          <a:noFill/>
          <a:ln/>
        </p:spPr>
        <p:txBody>
          <a:bodyPr wrap="square" lIns="0" tIns="0" rIns="0" bIns="0" rtlCol="0" anchor="ctr"/>
          <a:lstStyle/>
          <a:p>
            <a:pPr algn="l" indent="0" marL="0">
              <a:buNone/>
            </a:pPr>
            <a:r>
              <a:rPr lang="en-US" sz="2600" b="1" dirty="0">
                <a:solidFill>
                  <a:srgbClr val="1C1917"/>
                </a:solidFill>
                <a:latin typeface="Lexend" pitchFamily="34" charset="0"/>
                <a:ea typeface="Lexend" pitchFamily="34" charset="-122"/>
                <a:cs typeface="Lexend" pitchFamily="34" charset="-120"/>
              </a:rPr>
              <a:t>El inicio, con el frontend nuevo</a:t>
            </a:r>
            <a:endParaRPr lang="en-US" sz="2600" dirty="0"/>
          </a:p>
        </p:txBody>
      </p:sp>
      <p:sp>
        <p:nvSpPr>
          <p:cNvPr id="3" name="Text 1"/>
          <p:cNvSpPr/>
          <p:nvPr>
            <p:ph idx="102" type="body" hasCustomPrompt="1"/>
          </p:nvPr>
        </p:nvSpPr>
        <p:spPr>
          <a:xfrm>
            <a:off x="749808" y="932688"/>
            <a:ext cx="10881360" cy="384048"/>
          </a:xfrm>
          <a:prstGeom prst="rect">
            <a:avLst/>
          </a:prstGeom>
          <a:noFill/>
          <a:ln/>
        </p:spPr>
        <p:txBody>
          <a:bodyPr wrap="square" lIns="0" tIns="0" rIns="0" bIns="0" rtlCol="0" anchor="t"/>
          <a:lstStyle/>
          <a:p>
            <a:pPr algn="l" indent="0" marL="0">
              <a:buNone/>
            </a:pPr>
            <a:r>
              <a:rPr lang="en-US" sz="1400" dirty="0">
                <a:solidFill>
                  <a:srgbClr val="57534E"/>
                </a:solidFill>
                <a:latin typeface="Quattrocento Sans" pitchFamily="34" charset="0"/>
                <a:ea typeface="Quattrocento Sans" pitchFamily="34" charset="-122"/>
                <a:cs typeface="Quattrocento Sans" pitchFamily="34" charset="-120"/>
              </a:rPr>
              <a:t>El equipo rehízo el frontend: arriba va un carrusel de cinco destinos, y debajo, el mismo formulario</a:t>
            </a:r>
            <a:endParaRPr lang="en-US" sz="1400" dirty="0"/>
          </a:p>
        </p:txBody>
      </p:sp>
      <p:sp>
        <p:nvSpPr>
          <p:cNvPr id="4" name="fondo de las capturas del inicio"/>
          <p:cNvSpPr/>
          <p:nvPr/>
        </p:nvSpPr>
        <p:spPr>
          <a:xfrm>
            <a:off x="0" y="1371600"/>
            <a:ext cx="8549640" cy="4800600"/>
          </a:xfrm>
          <a:prstGeom prst="rect">
            <a:avLst/>
          </a:prstGeom>
          <a:solidFill>
            <a:srgbClr val="F5F5F4"/>
          </a:solidFill>
          <a:ln w="12700">
            <a:solidFill>
              <a:srgbClr val="F5F5F4"/>
            </a:solidFill>
            <a:prstDash val="solid"/>
          </a:ln>
        </p:spPr>
      </p:sp>
      <p:pic>
        <p:nvPicPr>
          <p:cNvPr id="5" name="esc_25_inicio_escritorio.png" descr="El inicio en escritorio: el carrusel en el Cusco y, debajo, el formulario">    </p:cNvPr>
          <p:cNvPicPr>
            <a:picLocks noChangeAspect="1"/>
          </p:cNvPicPr>
          <p:nvPr/>
        </p:nvPicPr>
        <p:blipFill>
          <a:blip r:embed="rId1"/>
          <a:stretch>
            <a:fillRect/>
          </a:stretch>
        </p:blipFill>
        <p:spPr>
          <a:xfrm>
            <a:off x="2514600" y="1645920"/>
            <a:ext cx="5806440" cy="3721681"/>
          </a:xfrm>
          <a:prstGeom prst="rect">
            <a:avLst/>
          </a:prstGeom>
        </p:spPr>
      </p:pic>
      <p:pic>
        <p:nvPicPr>
          <p:cNvPr id="6" name="cel_24_inicio_celular.png" descr="El inicio en el celular: el carrusel en el Cusco, con el crédito de la foto arriba">    </p:cNvPr>
          <p:cNvPicPr>
            <a:picLocks noChangeAspect="1"/>
          </p:cNvPicPr>
          <p:nvPr/>
        </p:nvPicPr>
        <p:blipFill>
          <a:blip r:embed="rId2"/>
          <a:stretch>
            <a:fillRect/>
          </a:stretch>
        </p:blipFill>
        <p:spPr>
          <a:xfrm>
            <a:off x="502920" y="1508760"/>
            <a:ext cx="2259658" cy="4526280"/>
          </a:xfrm>
          <a:prstGeom prst="rect">
            <a:avLst/>
          </a:prstGeom>
        </p:spPr>
      </p:pic>
      <p:sp>
        <p:nvSpPr>
          <p:cNvPr id="7" name="Text 3"/>
          <p:cNvSpPr txBox="1"/>
          <p:nvPr/>
        </p:nvSpPr>
        <p:spPr>
          <a:xfrm>
            <a:off x="8823960" y="1508760"/>
            <a:ext cx="2834640" cy="4526280"/>
          </a:xfrm>
          <a:prstGeom prst="rect">
            <a:avLst/>
          </a:prstGeom>
          <a:noFill/>
          <a:ln/>
        </p:spPr>
        <p:txBody>
          <a:bodyPr wrap="square" lIns="0" tIns="0" rIns="0" bIns="0" rtlCol="0" anchor="t"/>
          <a:lstStyle/>
          <a:p>
            <a:pPr marL="203200" indent="-203200">
              <a:spcAft>
                <a:spcPts val="1000"/>
              </a:spcAft>
              <a:buSzPct val="100000"/>
              <a:buChar char="•"/>
            </a:pPr>
            <a:r>
              <a:rPr lang="en-US" sz="1400" dirty="0">
                <a:solidFill>
                  <a:srgbClr val="1C1917"/>
                </a:solidFill>
                <a:latin typeface="Quattrocento Sans" pitchFamily="34" charset="0"/>
                <a:ea typeface="Quattrocento Sans" pitchFamily="34" charset="-122"/>
                <a:cs typeface="Quattrocento Sans" pitchFamily="34" charset="-120"/>
              </a:rPr>
              <a:t>Cinco destinos, cada uno con su foto de Wikimedia Commons, su autor y su licencia.</a:t>
            </a:r>
            <a:endParaRPr lang="en-US" sz="1400" dirty="0"/>
          </a:p>
          <a:p>
            <a:pPr marL="203200" indent="-203200">
              <a:spcAft>
                <a:spcPts val="1000"/>
              </a:spcAft>
              <a:buSzPct val="100000"/>
              <a:buChar char="•"/>
            </a:pPr>
            <a:r>
              <a:rPr lang="en-US" sz="1400" dirty="0">
                <a:solidFill>
                  <a:srgbClr val="1C1917"/>
                </a:solidFill>
                <a:latin typeface="Quattrocento Sans" pitchFamily="34" charset="0"/>
                <a:ea typeface="Quattrocento Sans" pitchFamily="34" charset="-122"/>
                <a:cs typeface="Quattrocento Sans" pitchFamily="34" charset="-120"/>
              </a:rPr>
              <a:t>Su botón arma el viaje a esa zona: «Explorar Cusco».</a:t>
            </a:r>
            <a:endParaRPr lang="en-US" sz="1400" dirty="0"/>
          </a:p>
          <a:p>
            <a:pPr marL="203200" indent="-203200">
              <a:spcAft>
                <a:spcPts val="1000"/>
              </a:spcAft>
              <a:buSzPct val="100000"/>
              <a:buChar char="•"/>
            </a:pPr>
            <a:r>
              <a:rPr lang="en-US" sz="1400" dirty="0">
                <a:solidFill>
                  <a:srgbClr val="1C1917"/>
                </a:solidFill>
                <a:latin typeface="Quattrocento Sans" pitchFamily="34" charset="0"/>
                <a:ea typeface="Quattrocento Sans" pitchFamily="34" charset="-122"/>
                <a:cs typeface="Quattrocento Sans" pitchFamily="34" charset="-120"/>
              </a:rPr>
              <a:t>Pasa solo cada 6,5 s. Se detiene con su botón o con el puntero encima, y arranca detenido si el sistema pide menos movimiento.</a:t>
            </a:r>
            <a:endParaRPr lang="en-US" sz="1400" dirty="0"/>
          </a:p>
          <a:p>
            <a:pPr marL="203200" indent="-203200">
              <a:spcAft>
                <a:spcPts val="1000"/>
              </a:spcAft>
              <a:buSzPct val="100000"/>
              <a:buChar char="•"/>
            </a:pPr>
            <a:r>
              <a:rPr lang="en-US" sz="1400" dirty="0">
                <a:solidFill>
                  <a:srgbClr val="1C1917"/>
                </a:solidFill>
                <a:latin typeface="Quattrocento Sans" pitchFamily="34" charset="0"/>
                <a:ea typeface="Quattrocento Sans" pitchFamily="34" charset="-122"/>
                <a:cs typeface="Quattrocento Sans" pitchFamily="34" charset="-120"/>
              </a:rPr>
              <a:t>Pide una foto a la vez: al abrir, 261 kB de foto y no los 1,8 MB de las cinco.</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latin typeface="Quattrocento Sans"/>
                <a:ea typeface="Quattrocento Sans"/>
                <a:cs typeface="Quattrocento San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749808" y="310896"/>
            <a:ext cx="10881360" cy="658368"/>
          </a:xfrm>
          <a:prstGeom prst="rect">
            <a:avLst/>
          </a:prstGeom>
          <a:noFill/>
          <a:ln/>
        </p:spPr>
        <p:txBody>
          <a:bodyPr wrap="square" lIns="0" tIns="0" rIns="0" bIns="0" rtlCol="0" anchor="ctr"/>
          <a:lstStyle/>
          <a:p>
            <a:pPr algn="l" indent="0" marL="0">
              <a:buNone/>
            </a:pPr>
            <a:r>
              <a:rPr lang="en-US" sz="2600" b="1" dirty="0">
                <a:solidFill>
                  <a:srgbClr val="1C1917"/>
                </a:solidFill>
                <a:latin typeface="Lexend" pitchFamily="34" charset="0"/>
                <a:ea typeface="Lexend" pitchFamily="34" charset="-122"/>
                <a:cs typeface="Lexend" pitchFamily="34" charset="-120"/>
              </a:rPr>
              <a:t>De la pregunta a tres viajes</a:t>
            </a:r>
            <a:endParaRPr lang="en-US" sz="2600" dirty="0"/>
          </a:p>
        </p:txBody>
      </p:sp>
      <p:sp>
        <p:nvSpPr>
          <p:cNvPr id="3" name="Text 1"/>
          <p:cNvSpPr/>
          <p:nvPr>
            <p:ph idx="102" type="body" hasCustomPrompt="1"/>
          </p:nvPr>
        </p:nvSpPr>
        <p:spPr>
          <a:xfrm>
            <a:off x="749808" y="932688"/>
            <a:ext cx="10881360" cy="384048"/>
          </a:xfrm>
          <a:prstGeom prst="rect">
            <a:avLst/>
          </a:prstGeom>
          <a:noFill/>
          <a:ln/>
        </p:spPr>
        <p:txBody>
          <a:bodyPr wrap="square" lIns="0" tIns="0" rIns="0" bIns="0" rtlCol="0" anchor="t"/>
          <a:lstStyle/>
          <a:p>
            <a:pPr algn="l" indent="0" marL="0">
              <a:buNone/>
            </a:pPr>
            <a:r>
              <a:rPr lang="en-US" sz="1400" dirty="0">
                <a:solidFill>
                  <a:srgbClr val="57534E"/>
                </a:solidFill>
                <a:latin typeface="Quattrocento Sans" pitchFamily="34" charset="0"/>
                <a:ea typeface="Quattrocento Sans" pitchFamily="34" charset="-122"/>
                <a:cs typeface="Quattrocento Sans" pitchFamily="34" charset="-120"/>
              </a:rPr>
              <a:t>Desde Lima, 4 días en julio, naturaleza y caminatas, hasta S/ 1 000 por persona</a:t>
            </a:r>
            <a:endParaRPr lang="en-US" sz="1400" dirty="0"/>
          </a:p>
        </p:txBody>
      </p:sp>
      <p:pic>
        <p:nvPicPr>
          <p:cNvPr id="4" name="cel_01_consulta_celular.png" descr="Siete filas, con «A dónde» y los vuelos. Las opciones salen del API.">    </p:cNvPr>
          <p:cNvPicPr>
            <a:picLocks noChangeAspect="1"/>
          </p:cNvPicPr>
          <p:nvPr/>
        </p:nvPicPr>
        <p:blipFill>
          <a:blip r:embed="rId1"/>
          <a:stretch>
            <a:fillRect/>
          </a:stretch>
        </p:blipFill>
        <p:spPr>
          <a:xfrm>
            <a:off x="1371600" y="1417320"/>
            <a:ext cx="2077060" cy="4160520"/>
          </a:xfrm>
          <a:prstGeom prst="rect">
            <a:avLst/>
          </a:prstGeom>
        </p:spPr>
      </p:pic>
      <p:sp>
        <p:nvSpPr>
          <p:cNvPr id="5" name="Text 2"/>
          <p:cNvSpPr txBox="1"/>
          <p:nvPr/>
        </p:nvSpPr>
        <p:spPr>
          <a:xfrm>
            <a:off x="548640" y="5669280"/>
            <a:ext cx="3611880" cy="640080"/>
          </a:xfrm>
          <a:prstGeom prst="rect">
            <a:avLst/>
          </a:prstGeom>
          <a:noFill/>
          <a:ln/>
        </p:spPr>
        <p:txBody>
          <a:bodyPr wrap="square" lIns="0" tIns="0" rIns="0" bIns="0" rtlCol="0" anchor="t"/>
          <a:lstStyle/>
          <a:p>
            <a:pPr algn="ctr" indent="0" marL="0">
              <a:buNone/>
            </a:pPr>
            <a:r>
              <a:rPr lang="en-US" sz="1300" dirty="0">
                <a:solidFill>
                  <a:srgbClr val="57534E"/>
                </a:solidFill>
                <a:latin typeface="Quattrocento Sans" pitchFamily="34" charset="0"/>
                <a:ea typeface="Quattrocento Sans" pitchFamily="34" charset="-122"/>
                <a:cs typeface="Quattrocento Sans" pitchFamily="34" charset="-120"/>
              </a:rPr>
              <a:t>Siete filas, con «A dónde» y los vuelos. Las opciones salen del API.</a:t>
            </a:r>
            <a:endParaRPr lang="en-US" sz="1300" dirty="0"/>
          </a:p>
        </p:txBody>
      </p:sp>
      <p:pic>
        <p:nvPicPr>
          <p:cNvPr id="6" name="cel_02_tres_viajes_celular.png" descr="Íllimo, Huaraz y Huacho. A los dos primeros se va en bus de noche.">    </p:cNvPr>
          <p:cNvPicPr>
            <a:picLocks noChangeAspect="1"/>
          </p:cNvPicPr>
          <p:nvPr/>
        </p:nvPicPr>
        <p:blipFill>
          <a:blip r:embed="rId2"/>
          <a:stretch>
            <a:fillRect/>
          </a:stretch>
        </p:blipFill>
        <p:spPr>
          <a:xfrm>
            <a:off x="5193792" y="1417320"/>
            <a:ext cx="2077060" cy="4160520"/>
          </a:xfrm>
          <a:prstGeom prst="rect">
            <a:avLst/>
          </a:prstGeom>
        </p:spPr>
      </p:pic>
      <p:sp>
        <p:nvSpPr>
          <p:cNvPr id="7" name="Text 3"/>
          <p:cNvSpPr txBox="1"/>
          <p:nvPr/>
        </p:nvSpPr>
        <p:spPr>
          <a:xfrm>
            <a:off x="4370832" y="5669280"/>
            <a:ext cx="3611880" cy="640080"/>
          </a:xfrm>
          <a:prstGeom prst="rect">
            <a:avLst/>
          </a:prstGeom>
          <a:noFill/>
          <a:ln/>
        </p:spPr>
        <p:txBody>
          <a:bodyPr wrap="square" lIns="0" tIns="0" rIns="0" bIns="0" rtlCol="0" anchor="t"/>
          <a:lstStyle/>
          <a:p>
            <a:pPr algn="ctr" indent="0" marL="0">
              <a:buNone/>
            </a:pPr>
            <a:r>
              <a:rPr lang="en-US" sz="1300" dirty="0">
                <a:solidFill>
                  <a:srgbClr val="57534E"/>
                </a:solidFill>
                <a:latin typeface="Quattrocento Sans" pitchFamily="34" charset="0"/>
                <a:ea typeface="Quattrocento Sans" pitchFamily="34" charset="-122"/>
                <a:cs typeface="Quattrocento Sans" pitchFamily="34" charset="-120"/>
              </a:rPr>
              <a:t>Íllimo, Huaraz y Huacho. A los dos primeros se va en bus de noche.</a:t>
            </a:r>
            <a:endParaRPr lang="en-US" sz="1300" dirty="0"/>
          </a:p>
        </p:txBody>
      </p:sp>
      <p:pic>
        <p:nvPicPr>
          <p:cNvPr id="8" name="cel_03_viaje_huaraz_celular.png" descr="Cada viaje en su pantalla: por qué conviene y qué saber antes de ir.">    </p:cNvPr>
          <p:cNvPicPr>
            <a:picLocks noChangeAspect="1"/>
          </p:cNvPicPr>
          <p:nvPr/>
        </p:nvPicPr>
        <p:blipFill>
          <a:blip r:embed="rId3"/>
          <a:stretch>
            <a:fillRect/>
          </a:stretch>
        </p:blipFill>
        <p:spPr>
          <a:xfrm>
            <a:off x="9015984" y="1417320"/>
            <a:ext cx="2077060" cy="4160520"/>
          </a:xfrm>
          <a:prstGeom prst="rect">
            <a:avLst/>
          </a:prstGeom>
        </p:spPr>
      </p:pic>
      <p:sp>
        <p:nvSpPr>
          <p:cNvPr id="9" name="Text 4"/>
          <p:cNvSpPr txBox="1"/>
          <p:nvPr/>
        </p:nvSpPr>
        <p:spPr>
          <a:xfrm>
            <a:off x="8193024" y="5669280"/>
            <a:ext cx="3611880" cy="640080"/>
          </a:xfrm>
          <a:prstGeom prst="rect">
            <a:avLst/>
          </a:prstGeom>
          <a:noFill/>
          <a:ln/>
        </p:spPr>
        <p:txBody>
          <a:bodyPr wrap="square" lIns="0" tIns="0" rIns="0" bIns="0" rtlCol="0" anchor="t"/>
          <a:lstStyle/>
          <a:p>
            <a:pPr algn="ctr" indent="0" marL="0">
              <a:buNone/>
            </a:pPr>
            <a:r>
              <a:rPr lang="en-US" sz="1300" dirty="0">
                <a:solidFill>
                  <a:srgbClr val="57534E"/>
                </a:solidFill>
                <a:latin typeface="Quattrocento Sans" pitchFamily="34" charset="0"/>
                <a:ea typeface="Quattrocento Sans" pitchFamily="34" charset="-122"/>
                <a:cs typeface="Quattrocento Sans" pitchFamily="34" charset="-120"/>
              </a:rPr>
              <a:t>Cada viaje en su pantalla: por qué conviene y qué saber antes de ir.</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latin typeface="Quattrocento Sans"/>
                <a:ea typeface="Quattrocento Sans"/>
                <a:cs typeface="Quattrocento San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749808" y="310896"/>
            <a:ext cx="10881360" cy="658368"/>
          </a:xfrm>
          <a:prstGeom prst="rect">
            <a:avLst/>
          </a:prstGeom>
          <a:noFill/>
          <a:ln/>
        </p:spPr>
        <p:txBody>
          <a:bodyPr wrap="square" lIns="0" tIns="0" rIns="0" bIns="0" rtlCol="0" anchor="ctr"/>
          <a:lstStyle/>
          <a:p>
            <a:pPr algn="l" indent="0" marL="0">
              <a:buNone/>
            </a:pPr>
            <a:r>
              <a:rPr lang="en-US" sz="2600" b="1" dirty="0">
                <a:solidFill>
                  <a:srgbClr val="1C1917"/>
                </a:solidFill>
                <a:latin typeface="Lexend" pitchFamily="34" charset="0"/>
                <a:ea typeface="Lexend" pitchFamily="34" charset="-122"/>
                <a:cs typeface="Lexend" pitchFamily="34" charset="-120"/>
              </a:rPr>
              <a:t>Un plan que se puede seguir</a:t>
            </a:r>
            <a:endParaRPr lang="en-US" sz="2600" dirty="0"/>
          </a:p>
        </p:txBody>
      </p:sp>
      <p:sp>
        <p:nvSpPr>
          <p:cNvPr id="3" name="Text 1"/>
          <p:cNvSpPr/>
          <p:nvPr>
            <p:ph idx="102" type="body" hasCustomPrompt="1"/>
          </p:nvPr>
        </p:nvSpPr>
        <p:spPr>
          <a:xfrm>
            <a:off x="749808" y="932688"/>
            <a:ext cx="10881360" cy="384048"/>
          </a:xfrm>
          <a:prstGeom prst="rect">
            <a:avLst/>
          </a:prstGeom>
          <a:noFill/>
          <a:ln/>
        </p:spPr>
        <p:txBody>
          <a:bodyPr wrap="square" lIns="0" tIns="0" rIns="0" bIns="0" rtlCol="0" anchor="t"/>
          <a:lstStyle/>
          <a:p>
            <a:pPr algn="l" indent="0" marL="0">
              <a:buNone/>
            </a:pPr>
            <a:r>
              <a:rPr lang="en-US" sz="1400" dirty="0">
                <a:solidFill>
                  <a:srgbClr val="57534E"/>
                </a:solidFill>
                <a:latin typeface="Quattrocento Sans" pitchFamily="34" charset="0"/>
                <a:ea typeface="Quattrocento Sans" pitchFamily="34" charset="-122"/>
                <a:cs typeface="Quattrocento Sans" pitchFamily="34" charset="-120"/>
              </a:rPr>
              <a:t>Cada día trae su hora de almuerzo y su noche, y en la altura el primero va con calma</a:t>
            </a:r>
            <a:endParaRPr lang="en-US" sz="1400" dirty="0"/>
          </a:p>
        </p:txBody>
      </p:sp>
      <p:pic>
        <p:nvPicPr>
          <p:cNvPr id="4" name="cel_04_plan_y_mapa_celular.png" descr="Un pétalo por día. El día 1 en Huaraz, a 3 061 m, es tranquilo.">    </p:cNvPr>
          <p:cNvPicPr>
            <a:picLocks noChangeAspect="1"/>
          </p:cNvPicPr>
          <p:nvPr/>
        </p:nvPicPr>
        <p:blipFill>
          <a:blip r:embed="rId1"/>
          <a:stretch>
            <a:fillRect/>
          </a:stretch>
        </p:blipFill>
        <p:spPr>
          <a:xfrm>
            <a:off x="1371600" y="1417320"/>
            <a:ext cx="2077060" cy="4160520"/>
          </a:xfrm>
          <a:prstGeom prst="rect">
            <a:avLst/>
          </a:prstGeom>
        </p:spPr>
      </p:pic>
      <p:sp>
        <p:nvSpPr>
          <p:cNvPr id="5" name="Text 2"/>
          <p:cNvSpPr txBox="1"/>
          <p:nvPr/>
        </p:nvSpPr>
        <p:spPr>
          <a:xfrm>
            <a:off x="548640" y="5669280"/>
            <a:ext cx="3611880" cy="640080"/>
          </a:xfrm>
          <a:prstGeom prst="rect">
            <a:avLst/>
          </a:prstGeom>
          <a:noFill/>
          <a:ln/>
        </p:spPr>
        <p:txBody>
          <a:bodyPr wrap="square" lIns="0" tIns="0" rIns="0" bIns="0" rtlCol="0" anchor="t"/>
          <a:lstStyle/>
          <a:p>
            <a:pPr algn="ctr" indent="0" marL="0">
              <a:buNone/>
            </a:pPr>
            <a:r>
              <a:rPr lang="en-US" sz="1300" dirty="0">
                <a:solidFill>
                  <a:srgbClr val="57534E"/>
                </a:solidFill>
                <a:latin typeface="Quattrocento Sans" pitchFamily="34" charset="0"/>
                <a:ea typeface="Quattrocento Sans" pitchFamily="34" charset="-122"/>
                <a:cs typeface="Quattrocento Sans" pitchFamily="34" charset="-120"/>
              </a:rPr>
              <a:t>Un pétalo por día. El día 1 en Huaraz, a 3 061 m, es tranquilo.</a:t>
            </a:r>
            <a:endParaRPr lang="en-US" sz="1300" dirty="0"/>
          </a:p>
        </p:txBody>
      </p:sp>
      <p:pic>
        <p:nvPicPr>
          <p:cNvPr id="6" name="cel_05_dia_tranquilo_celular.png" descr="El bus llega a las 5:55. Día tranquilo: 3 h 48 de visitas, más el almuerzo.">    </p:cNvPr>
          <p:cNvPicPr>
            <a:picLocks noChangeAspect="1"/>
          </p:cNvPicPr>
          <p:nvPr/>
        </p:nvPicPr>
        <p:blipFill>
          <a:blip r:embed="rId2"/>
          <a:stretch>
            <a:fillRect/>
          </a:stretch>
        </p:blipFill>
        <p:spPr>
          <a:xfrm>
            <a:off x="5193792" y="1417320"/>
            <a:ext cx="2077060" cy="4160520"/>
          </a:xfrm>
          <a:prstGeom prst="rect">
            <a:avLst/>
          </a:prstGeom>
        </p:spPr>
      </p:pic>
      <p:sp>
        <p:nvSpPr>
          <p:cNvPr id="7" name="Text 3"/>
          <p:cNvSpPr txBox="1"/>
          <p:nvPr/>
        </p:nvSpPr>
        <p:spPr>
          <a:xfrm>
            <a:off x="4370832" y="5669280"/>
            <a:ext cx="3611880" cy="640080"/>
          </a:xfrm>
          <a:prstGeom prst="rect">
            <a:avLst/>
          </a:prstGeom>
          <a:noFill/>
          <a:ln/>
        </p:spPr>
        <p:txBody>
          <a:bodyPr wrap="square" lIns="0" tIns="0" rIns="0" bIns="0" rtlCol="0" anchor="t"/>
          <a:lstStyle/>
          <a:p>
            <a:pPr algn="ctr" indent="0" marL="0">
              <a:buNone/>
            </a:pPr>
            <a:r>
              <a:rPr lang="en-US" sz="1300" dirty="0">
                <a:solidFill>
                  <a:srgbClr val="57534E"/>
                </a:solidFill>
                <a:latin typeface="Quattrocento Sans" pitchFamily="34" charset="0"/>
                <a:ea typeface="Quattrocento Sans" pitchFamily="34" charset="-122"/>
                <a:cs typeface="Quattrocento Sans" pitchFamily="34" charset="-120"/>
              </a:rPr>
              <a:t>El bus llega a las 5:55. Día tranquilo: 3 h 48 de visitas, más el almuerzo.</a:t>
            </a:r>
            <a:endParaRPr lang="en-US" sz="1300" dirty="0"/>
          </a:p>
        </p:txBody>
      </p:sp>
      <p:pic>
        <p:nvPicPr>
          <p:cNvPr id="8" name="cel_06_noche_de_estrellas_celular.png" descr="Estrellas en el Cusco: la luna de esa noche y cuántas salen despejadas.">    </p:cNvPr>
          <p:cNvPicPr>
            <a:picLocks noChangeAspect="1"/>
          </p:cNvPicPr>
          <p:nvPr/>
        </p:nvPicPr>
        <p:blipFill>
          <a:blip r:embed="rId3"/>
          <a:stretch>
            <a:fillRect/>
          </a:stretch>
        </p:blipFill>
        <p:spPr>
          <a:xfrm>
            <a:off x="9015984" y="1417320"/>
            <a:ext cx="2077060" cy="4160520"/>
          </a:xfrm>
          <a:prstGeom prst="rect">
            <a:avLst/>
          </a:prstGeom>
        </p:spPr>
      </p:pic>
      <p:sp>
        <p:nvSpPr>
          <p:cNvPr id="9" name="Text 4"/>
          <p:cNvSpPr txBox="1"/>
          <p:nvPr/>
        </p:nvSpPr>
        <p:spPr>
          <a:xfrm>
            <a:off x="8193024" y="5669280"/>
            <a:ext cx="3611880" cy="640080"/>
          </a:xfrm>
          <a:prstGeom prst="rect">
            <a:avLst/>
          </a:prstGeom>
          <a:noFill/>
          <a:ln/>
        </p:spPr>
        <p:txBody>
          <a:bodyPr wrap="square" lIns="0" tIns="0" rIns="0" bIns="0" rtlCol="0" anchor="t"/>
          <a:lstStyle/>
          <a:p>
            <a:pPr algn="ctr" indent="0" marL="0">
              <a:buNone/>
            </a:pPr>
            <a:r>
              <a:rPr lang="en-US" sz="1300" dirty="0">
                <a:solidFill>
                  <a:srgbClr val="57534E"/>
                </a:solidFill>
                <a:latin typeface="Quattrocento Sans" pitchFamily="34" charset="0"/>
                <a:ea typeface="Quattrocento Sans" pitchFamily="34" charset="-122"/>
                <a:cs typeface="Quattrocento Sans" pitchFamily="34" charset="-120"/>
              </a:rPr>
              <a:t>Estrellas en el Cusco: la luna de esa noche y cuántas salen despejadas.</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latin typeface="Quattrocento Sans"/>
                <a:ea typeface="Quattrocento Sans"/>
                <a:cs typeface="Quattrocento San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749808" y="310896"/>
            <a:ext cx="10881360" cy="658368"/>
          </a:xfrm>
          <a:prstGeom prst="rect">
            <a:avLst/>
          </a:prstGeom>
          <a:noFill/>
          <a:ln/>
        </p:spPr>
        <p:txBody>
          <a:bodyPr wrap="square" lIns="0" tIns="0" rIns="0" bIns="0" rtlCol="0" anchor="ctr"/>
          <a:lstStyle/>
          <a:p>
            <a:pPr algn="l" indent="0" marL="0">
              <a:buNone/>
            </a:pPr>
            <a:r>
              <a:rPr lang="en-US" sz="2600" b="1" dirty="0">
                <a:solidFill>
                  <a:srgbClr val="1C1917"/>
                </a:solidFill>
                <a:latin typeface="Lexend" pitchFamily="34" charset="0"/>
                <a:ea typeface="Lexend" pitchFamily="34" charset="-122"/>
                <a:cs typeface="Lexend" pitchFamily="34" charset="-120"/>
              </a:rPr>
              <a:t>«Quiero ir a…», y si no cabe</a:t>
            </a:r>
            <a:endParaRPr lang="en-US" sz="2600" dirty="0"/>
          </a:p>
        </p:txBody>
      </p:sp>
      <p:sp>
        <p:nvSpPr>
          <p:cNvPr id="3" name="Text 1"/>
          <p:cNvSpPr/>
          <p:nvPr>
            <p:ph idx="102" type="body" hasCustomPrompt="1"/>
          </p:nvPr>
        </p:nvSpPr>
        <p:spPr>
          <a:xfrm>
            <a:off x="749808" y="932688"/>
            <a:ext cx="10881360" cy="384048"/>
          </a:xfrm>
          <a:prstGeom prst="rect">
            <a:avLst/>
          </a:prstGeom>
          <a:noFill/>
          <a:ln/>
        </p:spPr>
        <p:txBody>
          <a:bodyPr wrap="square" lIns="0" tIns="0" rIns="0" bIns="0" rtlCol="0" anchor="t"/>
          <a:lstStyle/>
          <a:p>
            <a:pPr algn="l" indent="0" marL="0">
              <a:buNone/>
            </a:pPr>
            <a:r>
              <a:rPr lang="en-US" sz="1400" dirty="0">
                <a:solidFill>
                  <a:srgbClr val="57534E"/>
                </a:solidFill>
                <a:latin typeface="Quattrocento Sans" pitchFamily="34" charset="0"/>
                <a:ea typeface="Quattrocento Sans" pitchFamily="34" charset="-122"/>
                <a:cs typeface="Quattrocento Sans" pitchFamily="34" charset="-120"/>
              </a:rPr>
              <a:t>Desde Lima, en julio: Machu Picchu no cabe en 2 días, y el motor dice con qué sí</a:t>
            </a:r>
            <a:endParaRPr lang="en-US" sz="1400" dirty="0"/>
          </a:p>
        </p:txBody>
      </p:sp>
      <p:pic>
        <p:nvPicPr>
          <p:cNvPr id="4" name="cel_09_a_donde_celular.png" descr="Se busca una zona por su nombre, por uno de sus lugares o por su región.">    </p:cNvPr>
          <p:cNvPicPr>
            <a:picLocks noChangeAspect="1"/>
          </p:cNvPicPr>
          <p:nvPr/>
        </p:nvPicPr>
        <p:blipFill>
          <a:blip r:embed="rId1"/>
          <a:stretch>
            <a:fillRect/>
          </a:stretch>
        </p:blipFill>
        <p:spPr>
          <a:xfrm>
            <a:off x="1371600" y="1417320"/>
            <a:ext cx="2077060" cy="4160520"/>
          </a:xfrm>
          <a:prstGeom prst="rect">
            <a:avLst/>
          </a:prstGeom>
        </p:spPr>
      </p:pic>
      <p:sp>
        <p:nvSpPr>
          <p:cNvPr id="5" name="Text 2"/>
          <p:cNvSpPr txBox="1"/>
          <p:nvPr/>
        </p:nvSpPr>
        <p:spPr>
          <a:xfrm>
            <a:off x="548640" y="5669280"/>
            <a:ext cx="3611880" cy="640080"/>
          </a:xfrm>
          <a:prstGeom prst="rect">
            <a:avLst/>
          </a:prstGeom>
          <a:noFill/>
          <a:ln/>
        </p:spPr>
        <p:txBody>
          <a:bodyPr wrap="square" lIns="0" tIns="0" rIns="0" bIns="0" rtlCol="0" anchor="t"/>
          <a:lstStyle/>
          <a:p>
            <a:pPr algn="ctr" indent="0" marL="0">
              <a:buNone/>
            </a:pPr>
            <a:r>
              <a:rPr lang="en-US" sz="1300" dirty="0">
                <a:solidFill>
                  <a:srgbClr val="57534E"/>
                </a:solidFill>
                <a:latin typeface="Quattrocento Sans" pitchFamily="34" charset="0"/>
                <a:ea typeface="Quattrocento Sans" pitchFamily="34" charset="-122"/>
                <a:cs typeface="Quattrocento Sans" pitchFamily="34" charset="-120"/>
              </a:rPr>
              <a:t>Se busca una zona por su nombre, por uno de sus lugares o por su región.</a:t>
            </a:r>
            <a:endParaRPr lang="en-US" sz="1300" dirty="0"/>
          </a:p>
        </p:txBody>
      </p:sp>
      <p:pic>
        <p:nvPicPr>
          <p:cNvPr id="6" name="cel_10_asi_no_cabe_celular.png" descr="En 2 días no da: solo la ida en avión toma unas 8 horas. Con 4, sí.">    </p:cNvPr>
          <p:cNvPicPr>
            <a:picLocks noChangeAspect="1"/>
          </p:cNvPicPr>
          <p:nvPr/>
        </p:nvPicPr>
        <p:blipFill>
          <a:blip r:embed="rId2"/>
          <a:stretch>
            <a:fillRect/>
          </a:stretch>
        </p:blipFill>
        <p:spPr>
          <a:xfrm>
            <a:off x="5193792" y="1417320"/>
            <a:ext cx="2077060" cy="4160520"/>
          </a:xfrm>
          <a:prstGeom prst="rect">
            <a:avLst/>
          </a:prstGeom>
        </p:spPr>
      </p:pic>
      <p:sp>
        <p:nvSpPr>
          <p:cNvPr id="7" name="Text 3"/>
          <p:cNvSpPr txBox="1"/>
          <p:nvPr/>
        </p:nvSpPr>
        <p:spPr>
          <a:xfrm>
            <a:off x="4370832" y="5669280"/>
            <a:ext cx="3611880" cy="640080"/>
          </a:xfrm>
          <a:prstGeom prst="rect">
            <a:avLst/>
          </a:prstGeom>
          <a:noFill/>
          <a:ln/>
        </p:spPr>
        <p:txBody>
          <a:bodyPr wrap="square" lIns="0" tIns="0" rIns="0" bIns="0" rtlCol="0" anchor="t"/>
          <a:lstStyle/>
          <a:p>
            <a:pPr algn="ctr" indent="0" marL="0">
              <a:buNone/>
            </a:pPr>
            <a:r>
              <a:rPr lang="en-US" sz="1300" dirty="0">
                <a:solidFill>
                  <a:srgbClr val="57534E"/>
                </a:solidFill>
                <a:latin typeface="Quattrocento Sans" pitchFamily="34" charset="0"/>
                <a:ea typeface="Quattrocento Sans" pitchFamily="34" charset="-122"/>
                <a:cs typeface="Quattrocento Sans" pitchFamily="34" charset="-120"/>
              </a:rPr>
              <a:t>En 2 días no da: solo la ida en avión toma unas 8 horas. Con 4, sí.</a:t>
            </a:r>
            <a:endParaRPr lang="en-US" sz="1300" dirty="0"/>
          </a:p>
        </p:txBody>
      </p:sp>
      <p:pic>
        <p:nvPicPr>
          <p:cNvPr id="8" name="cel_11_machu_picchu_celular.png" descr="Con 4 días: 7 h 36 en avión y en tren, S/ 1 406 por persona.">    </p:cNvPr>
          <p:cNvPicPr>
            <a:picLocks noChangeAspect="1"/>
          </p:cNvPicPr>
          <p:nvPr/>
        </p:nvPicPr>
        <p:blipFill>
          <a:blip r:embed="rId3"/>
          <a:stretch>
            <a:fillRect/>
          </a:stretch>
        </p:blipFill>
        <p:spPr>
          <a:xfrm>
            <a:off x="9015984" y="1417320"/>
            <a:ext cx="2077060" cy="4160520"/>
          </a:xfrm>
          <a:prstGeom prst="rect">
            <a:avLst/>
          </a:prstGeom>
        </p:spPr>
      </p:pic>
      <p:sp>
        <p:nvSpPr>
          <p:cNvPr id="9" name="Text 4"/>
          <p:cNvSpPr txBox="1"/>
          <p:nvPr/>
        </p:nvSpPr>
        <p:spPr>
          <a:xfrm>
            <a:off x="8193024" y="5669280"/>
            <a:ext cx="3611880" cy="640080"/>
          </a:xfrm>
          <a:prstGeom prst="rect">
            <a:avLst/>
          </a:prstGeom>
          <a:noFill/>
          <a:ln/>
        </p:spPr>
        <p:txBody>
          <a:bodyPr wrap="square" lIns="0" tIns="0" rIns="0" bIns="0" rtlCol="0" anchor="t"/>
          <a:lstStyle/>
          <a:p>
            <a:pPr algn="ctr" indent="0" marL="0">
              <a:buNone/>
            </a:pPr>
            <a:r>
              <a:rPr lang="en-US" sz="1300" dirty="0">
                <a:solidFill>
                  <a:srgbClr val="57534E"/>
                </a:solidFill>
                <a:latin typeface="Quattrocento Sans" pitchFamily="34" charset="0"/>
                <a:ea typeface="Quattrocento Sans" pitchFamily="34" charset="-122"/>
                <a:cs typeface="Quattrocento Sans" pitchFamily="34" charset="-120"/>
              </a:rPr>
              <a:t>Con 4 días: 7 h 36 en avión y en tren, S/ 1 406 por persona.</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latin typeface="Quattrocento Sans"/>
                <a:ea typeface="Quattrocento Sans"/>
                <a:cs typeface="Quattrocento San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749808" y="310896"/>
            <a:ext cx="10881360" cy="658368"/>
          </a:xfrm>
          <a:prstGeom prst="rect">
            <a:avLst/>
          </a:prstGeom>
          <a:noFill/>
          <a:ln/>
        </p:spPr>
        <p:txBody>
          <a:bodyPr wrap="square" lIns="0" tIns="0" rIns="0" bIns="0" rtlCol="0" anchor="ctr"/>
          <a:lstStyle/>
          <a:p>
            <a:pPr algn="l" indent="0" marL="0">
              <a:buNone/>
            </a:pPr>
            <a:r>
              <a:rPr lang="en-US" sz="2600" b="1" dirty="0">
                <a:solidFill>
                  <a:srgbClr val="1C1917"/>
                </a:solidFill>
                <a:latin typeface="Lexend" pitchFamily="34" charset="0"/>
                <a:ea typeface="Lexend" pitchFamily="34" charset="-122"/>
                <a:cs typeface="Lexend" pitchFamily="34" charset="-120"/>
              </a:rPr>
              <a:t>Fiestas y eventos de los municipios</a:t>
            </a:r>
            <a:endParaRPr lang="en-US" sz="2600" dirty="0"/>
          </a:p>
        </p:txBody>
      </p:sp>
      <p:sp>
        <p:nvSpPr>
          <p:cNvPr id="3" name="Text 1"/>
          <p:cNvSpPr/>
          <p:nvPr>
            <p:ph idx="102" type="body" hasCustomPrompt="1"/>
          </p:nvPr>
        </p:nvSpPr>
        <p:spPr>
          <a:xfrm>
            <a:off x="749808" y="932688"/>
            <a:ext cx="10881360" cy="384048"/>
          </a:xfrm>
          <a:prstGeom prst="rect">
            <a:avLst/>
          </a:prstGeom>
          <a:noFill/>
          <a:ln/>
        </p:spPr>
        <p:txBody>
          <a:bodyPr wrap="square" lIns="0" tIns="0" rIns="0" bIns="0" rtlCol="0" anchor="t"/>
          <a:lstStyle/>
          <a:p>
            <a:pPr algn="l" indent="0" marL="0">
              <a:buNone/>
            </a:pPr>
            <a:r>
              <a:rPr lang="en-US" sz="1400" dirty="0">
                <a:solidFill>
                  <a:srgbClr val="57534E"/>
                </a:solidFill>
                <a:latin typeface="Quattrocento Sans" pitchFamily="34" charset="0"/>
                <a:ea typeface="Quattrocento Sans" pitchFamily="34" charset="-122"/>
                <a:cs typeface="Quattrocento Sans" pitchFamily="34" charset="-120"/>
              </a:rPr>
              <a:t>Un municipio publica con su clave; el viajero lo ve en el calendario y en los viajes que pasan cerca</a:t>
            </a:r>
            <a:endParaRPr lang="en-US" sz="1400" dirty="0"/>
          </a:p>
        </p:txBody>
      </p:sp>
      <p:pic>
        <p:nvPicPr>
          <p:cNvPr id="4" name="esc_21_fiestas_escritorio.png" descr="Calendario de fiestas de julio">    </p:cNvPr>
          <p:cNvPicPr>
            <a:picLocks noChangeAspect="1"/>
          </p:cNvPicPr>
          <p:nvPr/>
        </p:nvPicPr>
        <p:blipFill>
          <a:blip r:embed="rId1"/>
          <a:stretch>
            <a:fillRect/>
          </a:stretch>
        </p:blipFill>
        <p:spPr>
          <a:xfrm>
            <a:off x="411480" y="1371600"/>
            <a:ext cx="5806440" cy="3721681"/>
          </a:xfrm>
          <a:prstGeom prst="rect">
            <a:avLst/>
          </a:prstGeom>
        </p:spPr>
      </p:pic>
      <p:pic>
        <p:nvPicPr>
          <p:cNvPr id="5" name="esc_23_evento_publicado_escritorio.png" descr="Un evento publicado por un municipio">    </p:cNvPr>
          <p:cNvPicPr>
            <a:picLocks noChangeAspect="1"/>
          </p:cNvPicPr>
          <p:nvPr/>
        </p:nvPicPr>
        <p:blipFill>
          <a:blip r:embed="rId2"/>
          <a:stretch>
            <a:fillRect/>
          </a:stretch>
        </p:blipFill>
        <p:spPr>
          <a:xfrm>
            <a:off x="6355080" y="1371600"/>
            <a:ext cx="5440680" cy="1895556"/>
          </a:xfrm>
          <a:prstGeom prst="rect">
            <a:avLst/>
          </a:prstGeom>
        </p:spPr>
      </p:pic>
      <p:sp>
        <p:nvSpPr>
          <p:cNvPr id="6" name="Text 2"/>
          <p:cNvSpPr txBox="1"/>
          <p:nvPr/>
        </p:nvSpPr>
        <p:spPr>
          <a:xfrm>
            <a:off x="6537960" y="3520440"/>
            <a:ext cx="5074920" cy="237744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rgbClr val="57534E"/>
                </a:solidFill>
                <a:latin typeface="Quattrocento Sans" pitchFamily="34" charset="0"/>
                <a:ea typeface="Quattrocento Sans" pitchFamily="34" charset="-122"/>
                <a:cs typeface="Quattrocento Sans" pitchFamily="34" charset="-120"/>
              </a:rPr>
              <a:t>758 fiestas y acontecimientos del inventario, 739 con fecha.</a:t>
            </a:r>
            <a:endParaRPr lang="en-US" sz="1400" dirty="0"/>
          </a:p>
          <a:p>
            <a:pPr marL="203200" indent="-203200">
              <a:spcAft>
                <a:spcPts val="800"/>
              </a:spcAft>
              <a:buSzPct val="100000"/>
              <a:buChar char="•"/>
            </a:pPr>
            <a:r>
              <a:rPr lang="en-US" sz="1400" dirty="0">
                <a:solidFill>
                  <a:srgbClr val="57534E"/>
                </a:solidFill>
                <a:latin typeface="Quattrocento Sans" pitchFamily="34" charset="0"/>
                <a:ea typeface="Quattrocento Sans" pitchFamily="34" charset="-122"/>
                <a:cs typeface="Quattrocento Sans" pitchFamily="34" charset="-120"/>
              </a:rPr>
              <a:t>Lo publicado sale en el calendario y en los viajes que pasan cerca en esas fechas.</a:t>
            </a:r>
            <a:endParaRPr lang="en-US" sz="1400" dirty="0"/>
          </a:p>
          <a:p>
            <a:pPr marL="203200" indent="-203200">
              <a:spcAft>
                <a:spcPts val="800"/>
              </a:spcAft>
              <a:buSzPct val="100000"/>
              <a:buChar char="•"/>
            </a:pPr>
            <a:r>
              <a:rPr lang="en-US" sz="1400" dirty="0">
                <a:solidFill>
                  <a:srgbClr val="57534E"/>
                </a:solidFill>
                <a:latin typeface="Quattrocento Sans" pitchFamily="34" charset="0"/>
                <a:ea typeface="Quattrocento Sans" pitchFamily="34" charset="-122"/>
                <a:cs typeface="Quattrocento Sans" pitchFamily="34" charset="-120"/>
              </a:rPr>
              <a:t>Desde una fiesta se arma el viaje a su zona: «Ir a esta fiesta».</a:t>
            </a:r>
            <a:endParaRPr lang="en-US" sz="1400" dirty="0"/>
          </a:p>
          <a:p>
            <a:pPr marL="203200" indent="-203200">
              <a:spcAft>
                <a:spcPts val="800"/>
              </a:spcAft>
              <a:buSzPct val="100000"/>
              <a:buChar char="•"/>
            </a:pPr>
            <a:r>
              <a:rPr lang="en-US" sz="1400" dirty="0">
                <a:solidFill>
                  <a:srgbClr val="57534E"/>
                </a:solidFill>
                <a:latin typeface="Quattrocento Sans" pitchFamily="34" charset="0"/>
                <a:ea typeface="Quattrocento Sans" pitchFamily="34" charset="-122"/>
                <a:cs typeface="Quattrocento Sans" pitchFamily="34" charset="-120"/>
              </a:rPr>
              <a:t>No cambia qué viajes se proponen ni su orden (decisión 0011).</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latin typeface="Quattrocento Sans"/>
                <a:ea typeface="Quattrocento Sans"/>
                <a:cs typeface="Quattrocento San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749808" y="310896"/>
            <a:ext cx="10881360" cy="658368"/>
          </a:xfrm>
          <a:prstGeom prst="rect">
            <a:avLst/>
          </a:prstGeom>
          <a:noFill/>
          <a:ln/>
        </p:spPr>
        <p:txBody>
          <a:bodyPr wrap="square" lIns="0" tIns="0" rIns="0" bIns="0" rtlCol="0" anchor="ctr"/>
          <a:lstStyle/>
          <a:p>
            <a:pPr algn="l" indent="0" marL="0">
              <a:buNone/>
            </a:pPr>
            <a:r>
              <a:rPr lang="en-US" sz="2600" b="1" dirty="0">
                <a:solidFill>
                  <a:srgbClr val="1C1917"/>
                </a:solidFill>
                <a:latin typeface="Lexend" pitchFamily="34" charset="0"/>
                <a:ea typeface="Lexend" pitchFamily="34" charset="-122"/>
                <a:cs typeface="Lexend" pitchFamily="34" charset="-120"/>
              </a:rPr>
              <a:t>Guion de la demo</a:t>
            </a:r>
            <a:endParaRPr lang="en-US" sz="2600" dirty="0"/>
          </a:p>
        </p:txBody>
      </p:sp>
      <p:sp>
        <p:nvSpPr>
          <p:cNvPr id="3" name="Text 1"/>
          <p:cNvSpPr/>
          <p:nvPr>
            <p:ph idx="102" type="body" hasCustomPrompt="1"/>
          </p:nvPr>
        </p:nvSpPr>
        <p:spPr>
          <a:xfrm>
            <a:off x="749808" y="932688"/>
            <a:ext cx="10881360" cy="384048"/>
          </a:xfrm>
          <a:prstGeom prst="rect">
            <a:avLst/>
          </a:prstGeom>
          <a:noFill/>
          <a:ln/>
        </p:spPr>
        <p:txBody>
          <a:bodyPr wrap="square" lIns="0" tIns="0" rIns="0" bIns="0" rtlCol="0" anchor="t"/>
          <a:lstStyle/>
          <a:p>
            <a:pPr algn="l" indent="0" marL="0">
              <a:buNone/>
            </a:pPr>
            <a:r>
              <a:rPr lang="en-US" sz="1400" dirty="0">
                <a:solidFill>
                  <a:srgbClr val="57534E"/>
                </a:solidFill>
                <a:latin typeface="Quattrocento Sans" pitchFamily="34" charset="0"/>
                <a:ea typeface="Quattrocento Sans" pitchFamily="34" charset="-122"/>
                <a:cs typeface="Quattrocento Sans" pitchFamily="34" charset="-120"/>
              </a:rPr>
              <a:t>Unos tres minutos con la app publicada. Si la red falla, estas capturas son el respaldo</a:t>
            </a:r>
            <a:endParaRPr lang="en-US" sz="1400" dirty="0"/>
          </a:p>
        </p:txBody>
      </p:sp>
      <p:sp>
        <p:nvSpPr>
          <p:cNvPr id="4" name="paso 1 de la demo"/>
          <p:cNvSpPr/>
          <p:nvPr/>
        </p:nvSpPr>
        <p:spPr>
          <a:xfrm>
            <a:off x="548640" y="1600200"/>
            <a:ext cx="420624" cy="420624"/>
          </a:xfrm>
          <a:prstGeom prst="ellipse">
            <a:avLst/>
          </a:prstGeom>
          <a:solidFill>
            <a:srgbClr val="C2410C"/>
          </a:solidFill>
          <a:ln w="12700">
            <a:solidFill>
              <a:srgbClr val="C2410C"/>
            </a:solidFill>
            <a:prstDash val="solid"/>
          </a:ln>
        </p:spPr>
      </p:sp>
      <p:sp>
        <p:nvSpPr>
          <p:cNvPr id="5" name="Text 3"/>
          <p:cNvSpPr txBox="1"/>
          <p:nvPr/>
        </p:nvSpPr>
        <p:spPr>
          <a:xfrm>
            <a:off x="548640" y="160020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Lexend" pitchFamily="34" charset="0"/>
                <a:ea typeface="Lexend" pitchFamily="34" charset="-122"/>
                <a:cs typeface="Lexend" pitchFamily="34" charset="-120"/>
              </a:rPr>
              <a:t>1</a:t>
            </a:r>
            <a:endParaRPr lang="en-US" sz="1200" dirty="0"/>
          </a:p>
        </p:txBody>
      </p:sp>
      <p:sp>
        <p:nvSpPr>
          <p:cNvPr id="6" name="Text 4"/>
          <p:cNvSpPr txBox="1"/>
          <p:nvPr/>
        </p:nvSpPr>
        <p:spPr>
          <a:xfrm>
            <a:off x="1188720" y="1655064"/>
            <a:ext cx="6492240" cy="548640"/>
          </a:xfrm>
          <a:prstGeom prst="rect">
            <a:avLst/>
          </a:prstGeom>
          <a:noFill/>
          <a:ln/>
        </p:spPr>
        <p:txBody>
          <a:bodyPr wrap="square" lIns="0" tIns="0" rIns="0" bIns="0" rtlCol="0" anchor="t"/>
          <a:lstStyle/>
          <a:p>
            <a:pPr indent="0" marL="0">
              <a:buNone/>
            </a:pPr>
            <a:r>
              <a:rPr lang="en-US" sz="1600" b="1" dirty="0">
                <a:solidFill>
                  <a:srgbClr val="1C1917"/>
                </a:solidFill>
                <a:latin typeface="Quattrocento Sans" pitchFamily="34" charset="0"/>
                <a:ea typeface="Quattrocento Sans" pitchFamily="34" charset="-122"/>
                <a:cs typeface="Quattrocento Sans" pitchFamily="34" charset="-120"/>
              </a:rPr>
              <a:t>En el inicio, el carrusel. </a:t>
            </a:r>
            <a:pPr indent="0" marL="0">
              <a:spcAft>
                <a:spcPts val="1000"/>
              </a:spcAft>
              <a:buNone/>
            </a:pPr>
            <a:r>
              <a:rPr lang="en-US" sz="1600" dirty="0">
                <a:solidFill>
                  <a:srgbClr val="57534E"/>
                </a:solidFill>
                <a:latin typeface="Quattrocento Sans" pitchFamily="34" charset="0"/>
                <a:ea typeface="Quattrocento Sans" pitchFamily="34" charset="-122"/>
                <a:cs typeface="Quattrocento Sans" pitchFamily="34" charset="-120"/>
              </a:rPr>
              <a:t>Debajo: Lima, julio, 4 días, naturaleza y caminatas. Salen Íllimo, Huaraz y Huacho.</a:t>
            </a:r>
            <a:endParaRPr lang="en-US" sz="1600" dirty="0"/>
          </a:p>
        </p:txBody>
      </p:sp>
      <p:sp>
        <p:nvSpPr>
          <p:cNvPr id="7" name="paso 2 de la demo"/>
          <p:cNvSpPr/>
          <p:nvPr/>
        </p:nvSpPr>
        <p:spPr>
          <a:xfrm>
            <a:off x="548640" y="2331720"/>
            <a:ext cx="420624" cy="420624"/>
          </a:xfrm>
          <a:prstGeom prst="ellipse">
            <a:avLst/>
          </a:prstGeom>
          <a:solidFill>
            <a:srgbClr val="C2410C"/>
          </a:solidFill>
          <a:ln w="12700">
            <a:solidFill>
              <a:srgbClr val="C2410C"/>
            </a:solidFill>
            <a:prstDash val="solid"/>
          </a:ln>
        </p:spPr>
      </p:sp>
      <p:sp>
        <p:nvSpPr>
          <p:cNvPr id="8" name="Text 6"/>
          <p:cNvSpPr txBox="1"/>
          <p:nvPr/>
        </p:nvSpPr>
        <p:spPr>
          <a:xfrm>
            <a:off x="548640" y="233172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Lexend" pitchFamily="34" charset="0"/>
                <a:ea typeface="Lexend" pitchFamily="34" charset="-122"/>
                <a:cs typeface="Lexend" pitchFamily="34" charset="-120"/>
              </a:rPr>
              <a:t>2</a:t>
            </a:r>
            <a:endParaRPr lang="en-US" sz="1200" dirty="0"/>
          </a:p>
        </p:txBody>
      </p:sp>
      <p:sp>
        <p:nvSpPr>
          <p:cNvPr id="9" name="Text 7"/>
          <p:cNvSpPr txBox="1"/>
          <p:nvPr/>
        </p:nvSpPr>
        <p:spPr>
          <a:xfrm>
            <a:off x="1188720" y="2386584"/>
            <a:ext cx="6492240" cy="548640"/>
          </a:xfrm>
          <a:prstGeom prst="rect">
            <a:avLst/>
          </a:prstGeom>
          <a:noFill/>
          <a:ln/>
        </p:spPr>
        <p:txBody>
          <a:bodyPr wrap="square" lIns="0" tIns="0" rIns="0" bIns="0" rtlCol="0" anchor="t"/>
          <a:lstStyle/>
          <a:p>
            <a:pPr indent="0" marL="0">
              <a:buNone/>
            </a:pPr>
            <a:r>
              <a:rPr lang="en-US" sz="1600" b="1" dirty="0">
                <a:solidFill>
                  <a:srgbClr val="1C1917"/>
                </a:solidFill>
                <a:latin typeface="Quattrocento Sans" pitchFamily="34" charset="0"/>
                <a:ea typeface="Quattrocento Sans" pitchFamily="34" charset="-122"/>
                <a:cs typeface="Quattrocento Sans" pitchFamily="34" charset="-120"/>
              </a:rPr>
              <a:t>Abrir Huaraz. </a:t>
            </a:r>
            <a:pPr indent="0" marL="0">
              <a:spcAft>
                <a:spcPts val="1000"/>
              </a:spcAft>
              <a:buNone/>
            </a:pPr>
            <a:r>
              <a:rPr lang="en-US" sz="1600" dirty="0">
                <a:solidFill>
                  <a:srgbClr val="57534E"/>
                </a:solidFill>
                <a:latin typeface="Quattrocento Sans" pitchFamily="34" charset="0"/>
                <a:ea typeface="Quattrocento Sans" pitchFamily="34" charset="-122"/>
                <a:cs typeface="Quattrocento Sans" pitchFamily="34" charset="-120"/>
              </a:rPr>
              <a:t>El bus de noche, el día 1 tranquilo, el almuerzo y el mapa.</a:t>
            </a:r>
            <a:endParaRPr lang="en-US" sz="1600" dirty="0"/>
          </a:p>
        </p:txBody>
      </p:sp>
      <p:sp>
        <p:nvSpPr>
          <p:cNvPr id="10" name="paso 3 de la demo"/>
          <p:cNvSpPr/>
          <p:nvPr/>
        </p:nvSpPr>
        <p:spPr>
          <a:xfrm>
            <a:off x="548640" y="3063240"/>
            <a:ext cx="420624" cy="420624"/>
          </a:xfrm>
          <a:prstGeom prst="ellipse">
            <a:avLst/>
          </a:prstGeom>
          <a:solidFill>
            <a:srgbClr val="C2410C"/>
          </a:solidFill>
          <a:ln w="12700">
            <a:solidFill>
              <a:srgbClr val="C2410C"/>
            </a:solidFill>
            <a:prstDash val="solid"/>
          </a:ln>
        </p:spPr>
      </p:sp>
      <p:sp>
        <p:nvSpPr>
          <p:cNvPr id="11" name="Text 9"/>
          <p:cNvSpPr txBox="1"/>
          <p:nvPr/>
        </p:nvSpPr>
        <p:spPr>
          <a:xfrm>
            <a:off x="548640" y="3063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Lexend" pitchFamily="34" charset="0"/>
                <a:ea typeface="Lexend" pitchFamily="34" charset="-122"/>
                <a:cs typeface="Lexend" pitchFamily="34" charset="-120"/>
              </a:rPr>
              <a:t>3</a:t>
            </a:r>
            <a:endParaRPr lang="en-US" sz="1200" dirty="0"/>
          </a:p>
        </p:txBody>
      </p:sp>
      <p:sp>
        <p:nvSpPr>
          <p:cNvPr id="12" name="Text 10"/>
          <p:cNvSpPr txBox="1"/>
          <p:nvPr/>
        </p:nvSpPr>
        <p:spPr>
          <a:xfrm>
            <a:off x="1188720" y="3118104"/>
            <a:ext cx="6492240" cy="548640"/>
          </a:xfrm>
          <a:prstGeom prst="rect">
            <a:avLst/>
          </a:prstGeom>
          <a:noFill/>
          <a:ln/>
        </p:spPr>
        <p:txBody>
          <a:bodyPr wrap="square" lIns="0" tIns="0" rIns="0" bIns="0" rtlCol="0" anchor="t"/>
          <a:lstStyle/>
          <a:p>
            <a:pPr indent="0" marL="0">
              <a:buNone/>
            </a:pPr>
            <a:r>
              <a:rPr lang="en-US" sz="1600" b="1" dirty="0">
                <a:solidFill>
                  <a:srgbClr val="1C1917"/>
                </a:solidFill>
                <a:latin typeface="Quattrocento Sans" pitchFamily="34" charset="0"/>
                <a:ea typeface="Quattrocento Sans" pitchFamily="34" charset="-122"/>
                <a:cs typeface="Quattrocento Sans" pitchFamily="34" charset="-120"/>
              </a:rPr>
              <a:t>Cambiar a febrero. </a:t>
            </a:r>
            <a:pPr indent="0" marL="0">
              <a:spcAft>
                <a:spcPts val="1000"/>
              </a:spcAft>
              <a:buNone/>
            </a:pPr>
            <a:r>
              <a:rPr lang="en-US" sz="1600" dirty="0">
                <a:solidFill>
                  <a:srgbClr val="57534E"/>
                </a:solidFill>
                <a:latin typeface="Quattrocento Sans" pitchFamily="34" charset="0"/>
                <a:ea typeface="Quattrocento Sans" pitchFamily="34" charset="-122"/>
                <a:cs typeface="Quattrocento Sans" pitchFamily="34" charset="-120"/>
              </a:rPr>
              <a:t>Huaraz ya no sale: es temporada de lluvias.</a:t>
            </a:r>
            <a:endParaRPr lang="en-US" sz="1600" dirty="0"/>
          </a:p>
        </p:txBody>
      </p:sp>
      <p:sp>
        <p:nvSpPr>
          <p:cNvPr id="13" name="paso 4 de la demo"/>
          <p:cNvSpPr/>
          <p:nvPr/>
        </p:nvSpPr>
        <p:spPr>
          <a:xfrm>
            <a:off x="548640" y="3794760"/>
            <a:ext cx="420624" cy="420624"/>
          </a:xfrm>
          <a:prstGeom prst="ellipse">
            <a:avLst/>
          </a:prstGeom>
          <a:solidFill>
            <a:srgbClr val="C2410C"/>
          </a:solidFill>
          <a:ln w="12700">
            <a:solidFill>
              <a:srgbClr val="C2410C"/>
            </a:solidFill>
            <a:prstDash val="solid"/>
          </a:ln>
        </p:spPr>
      </p:sp>
      <p:sp>
        <p:nvSpPr>
          <p:cNvPr id="14" name="Text 12"/>
          <p:cNvSpPr txBox="1"/>
          <p:nvPr/>
        </p:nvSpPr>
        <p:spPr>
          <a:xfrm>
            <a:off x="548640" y="379476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Lexend" pitchFamily="34" charset="0"/>
                <a:ea typeface="Lexend" pitchFamily="34" charset="-122"/>
                <a:cs typeface="Lexend" pitchFamily="34" charset="-120"/>
              </a:rPr>
              <a:t>4</a:t>
            </a:r>
            <a:endParaRPr lang="en-US" sz="1200" dirty="0"/>
          </a:p>
        </p:txBody>
      </p:sp>
      <p:sp>
        <p:nvSpPr>
          <p:cNvPr id="15" name="Text 13"/>
          <p:cNvSpPr txBox="1"/>
          <p:nvPr/>
        </p:nvSpPr>
        <p:spPr>
          <a:xfrm>
            <a:off x="1188720" y="3849624"/>
            <a:ext cx="6492240" cy="548640"/>
          </a:xfrm>
          <a:prstGeom prst="rect">
            <a:avLst/>
          </a:prstGeom>
          <a:noFill/>
          <a:ln/>
        </p:spPr>
        <p:txBody>
          <a:bodyPr wrap="square" lIns="0" tIns="0" rIns="0" bIns="0" rtlCol="0" anchor="t"/>
          <a:lstStyle/>
          <a:p>
            <a:pPr indent="0" marL="0">
              <a:buNone/>
            </a:pPr>
            <a:r>
              <a:rPr lang="en-US" sz="1600" b="1" dirty="0">
                <a:solidFill>
                  <a:srgbClr val="1C1917"/>
                </a:solidFill>
                <a:latin typeface="Quattrocento Sans" pitchFamily="34" charset="0"/>
                <a:ea typeface="Quattrocento Sans" pitchFamily="34" charset="-122"/>
                <a:cs typeface="Quattrocento Sans" pitchFamily="34" charset="-120"/>
              </a:rPr>
              <a:t>«A dónde»: Machu Picchu, 2 días. </a:t>
            </a:r>
            <a:pPr indent="0" marL="0">
              <a:spcAft>
                <a:spcPts val="1000"/>
              </a:spcAft>
              <a:buNone/>
            </a:pPr>
            <a:r>
              <a:rPr lang="en-US" sz="1600" dirty="0">
                <a:solidFill>
                  <a:srgbClr val="57534E"/>
                </a:solidFill>
                <a:latin typeface="Quattrocento Sans" pitchFamily="34" charset="0"/>
                <a:ea typeface="Quattrocento Sans" pitchFamily="34" charset="-122"/>
                <a:cs typeface="Quattrocento Sans" pitchFamily="34" charset="-120"/>
              </a:rPr>
              <a:t>No cabe; tocar «Probar con 4 días».</a:t>
            </a:r>
            <a:endParaRPr lang="en-US" sz="1600" dirty="0"/>
          </a:p>
        </p:txBody>
      </p:sp>
      <p:sp>
        <p:nvSpPr>
          <p:cNvPr id="16" name="paso 5 de la demo"/>
          <p:cNvSpPr/>
          <p:nvPr/>
        </p:nvSpPr>
        <p:spPr>
          <a:xfrm>
            <a:off x="548640" y="4526280"/>
            <a:ext cx="420624" cy="420624"/>
          </a:xfrm>
          <a:prstGeom prst="ellipse">
            <a:avLst/>
          </a:prstGeom>
          <a:solidFill>
            <a:srgbClr val="C2410C"/>
          </a:solidFill>
          <a:ln w="12700">
            <a:solidFill>
              <a:srgbClr val="C2410C"/>
            </a:solidFill>
            <a:prstDash val="solid"/>
          </a:ln>
        </p:spPr>
      </p:sp>
      <p:sp>
        <p:nvSpPr>
          <p:cNvPr id="17" name="Text 15"/>
          <p:cNvSpPr txBox="1"/>
          <p:nvPr/>
        </p:nvSpPr>
        <p:spPr>
          <a:xfrm>
            <a:off x="548640" y="452628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Lexend" pitchFamily="34" charset="0"/>
                <a:ea typeface="Lexend" pitchFamily="34" charset="-122"/>
                <a:cs typeface="Lexend" pitchFamily="34" charset="-120"/>
              </a:rPr>
              <a:t>5</a:t>
            </a:r>
            <a:endParaRPr lang="en-US" sz="1200" dirty="0"/>
          </a:p>
        </p:txBody>
      </p:sp>
      <p:sp>
        <p:nvSpPr>
          <p:cNvPr id="18" name="Text 16"/>
          <p:cNvSpPr txBox="1"/>
          <p:nvPr/>
        </p:nvSpPr>
        <p:spPr>
          <a:xfrm>
            <a:off x="1188720" y="4581144"/>
            <a:ext cx="6492240" cy="548640"/>
          </a:xfrm>
          <a:prstGeom prst="rect">
            <a:avLst/>
          </a:prstGeom>
          <a:noFill/>
          <a:ln/>
        </p:spPr>
        <p:txBody>
          <a:bodyPr wrap="square" lIns="0" tIns="0" rIns="0" bIns="0" rtlCol="0" anchor="t"/>
          <a:lstStyle/>
          <a:p>
            <a:pPr indent="0" marL="0">
              <a:buNone/>
            </a:pPr>
            <a:r>
              <a:rPr lang="en-US" sz="1600" b="1" dirty="0">
                <a:solidFill>
                  <a:srgbClr val="1C1917"/>
                </a:solidFill>
                <a:latin typeface="Quattrocento Sans" pitchFamily="34" charset="0"/>
                <a:ea typeface="Quattrocento Sans" pitchFamily="34" charset="-122"/>
                <a:cs typeface="Quattrocento Sans" pitchFamily="34" charset="-120"/>
              </a:rPr>
              <a:t>Guardar el viaje </a:t>
            </a:r>
            <a:pPr indent="0" marL="0">
              <a:spcAft>
                <a:spcPts val="1000"/>
              </a:spcAft>
              <a:buNone/>
            </a:pPr>
            <a:r>
              <a:rPr lang="en-US" sz="1600" dirty="0">
                <a:solidFill>
                  <a:srgbClr val="57534E"/>
                </a:solidFill>
                <a:latin typeface="Quattrocento Sans" pitchFamily="34" charset="0"/>
                <a:ea typeface="Quattrocento Sans" pitchFamily="34" charset="-122"/>
                <a:cs typeface="Quattrocento Sans" pitchFamily="34" charset="-120"/>
              </a:rPr>
              <a:t>y copiar el enlace para compartirlo.</a:t>
            </a:r>
            <a:endParaRPr lang="en-US" sz="1600" dirty="0"/>
          </a:p>
        </p:txBody>
      </p:sp>
      <p:sp>
        <p:nvSpPr>
          <p:cNvPr id="19" name="paso 6 de la demo"/>
          <p:cNvSpPr/>
          <p:nvPr/>
        </p:nvSpPr>
        <p:spPr>
          <a:xfrm>
            <a:off x="548640" y="5257800"/>
            <a:ext cx="420624" cy="420624"/>
          </a:xfrm>
          <a:prstGeom prst="ellipse">
            <a:avLst/>
          </a:prstGeom>
          <a:solidFill>
            <a:srgbClr val="C2410C"/>
          </a:solidFill>
          <a:ln w="12700">
            <a:solidFill>
              <a:srgbClr val="C2410C"/>
            </a:solidFill>
            <a:prstDash val="solid"/>
          </a:ln>
        </p:spPr>
      </p:sp>
      <p:sp>
        <p:nvSpPr>
          <p:cNvPr id="20" name="Text 18"/>
          <p:cNvSpPr txBox="1"/>
          <p:nvPr/>
        </p:nvSpPr>
        <p:spPr>
          <a:xfrm>
            <a:off x="548640" y="525780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Lexend" pitchFamily="34" charset="0"/>
                <a:ea typeface="Lexend" pitchFamily="34" charset="-122"/>
                <a:cs typeface="Lexend" pitchFamily="34" charset="-120"/>
              </a:rPr>
              <a:t>6</a:t>
            </a:r>
            <a:endParaRPr lang="en-US" sz="1200" dirty="0"/>
          </a:p>
        </p:txBody>
      </p:sp>
      <p:sp>
        <p:nvSpPr>
          <p:cNvPr id="21" name="Text 19"/>
          <p:cNvSpPr txBox="1"/>
          <p:nvPr/>
        </p:nvSpPr>
        <p:spPr>
          <a:xfrm>
            <a:off x="1188720" y="5312664"/>
            <a:ext cx="6492240" cy="548640"/>
          </a:xfrm>
          <a:prstGeom prst="rect">
            <a:avLst/>
          </a:prstGeom>
          <a:noFill/>
          <a:ln/>
        </p:spPr>
        <p:txBody>
          <a:bodyPr wrap="square" lIns="0" tIns="0" rIns="0" bIns="0" rtlCol="0" anchor="t"/>
          <a:lstStyle/>
          <a:p>
            <a:pPr indent="0" marL="0">
              <a:buNone/>
            </a:pPr>
            <a:r>
              <a:rPr lang="en-US" sz="1600" b="1" dirty="0">
                <a:solidFill>
                  <a:srgbClr val="1C1917"/>
                </a:solidFill>
                <a:latin typeface="Quattrocento Sans" pitchFamily="34" charset="0"/>
                <a:ea typeface="Quattrocento Sans" pitchFamily="34" charset="-122"/>
                <a:cs typeface="Quattrocento Sans" pitchFamily="34" charset="-120"/>
              </a:rPr>
              <a:t>Publicar un evento </a:t>
            </a:r>
            <a:pPr indent="0" marL="0">
              <a:spcAft>
                <a:spcPts val="1000"/>
              </a:spcAft>
              <a:buNone/>
            </a:pPr>
            <a:r>
              <a:rPr lang="en-US" sz="1600" dirty="0">
                <a:solidFill>
                  <a:srgbClr val="57534E"/>
                </a:solidFill>
                <a:latin typeface="Quattrocento Sans" pitchFamily="34" charset="0"/>
                <a:ea typeface="Quattrocento Sans" pitchFamily="34" charset="-122"/>
                <a:cs typeface="Quattrocento Sans" pitchFamily="34" charset="-120"/>
              </a:rPr>
              <a:t>con la clave y verlo en el calendario.</a:t>
            </a:r>
            <a:endParaRPr lang="en-US" sz="1600" dirty="0"/>
          </a:p>
        </p:txBody>
      </p:sp>
      <p:sp>
        <p:nvSpPr>
          <p:cNvPr id="22" name="antes de empezar"/>
          <p:cNvSpPr/>
          <p:nvPr/>
        </p:nvSpPr>
        <p:spPr>
          <a:xfrm>
            <a:off x="8001000" y="1600200"/>
            <a:ext cx="3639312" cy="3429000"/>
          </a:xfrm>
          <a:prstGeom prst="roundRect">
            <a:avLst>
              <a:gd name="adj" fmla="val 3200"/>
            </a:avLst>
          </a:prstGeom>
          <a:solidFill>
            <a:srgbClr val="F5F5F4"/>
          </a:solidFill>
          <a:ln w="12700">
            <a:solidFill>
              <a:srgbClr val="E7E5E4"/>
            </a:solidFill>
            <a:prstDash val="solid"/>
          </a:ln>
        </p:spPr>
      </p:sp>
      <p:sp>
        <p:nvSpPr>
          <p:cNvPr id="23" name="Text 21"/>
          <p:cNvSpPr txBox="1"/>
          <p:nvPr/>
        </p:nvSpPr>
        <p:spPr>
          <a:xfrm>
            <a:off x="8275320" y="1828800"/>
            <a:ext cx="3108960" cy="411480"/>
          </a:xfrm>
          <a:prstGeom prst="rect">
            <a:avLst/>
          </a:prstGeom>
          <a:noFill/>
          <a:ln/>
        </p:spPr>
        <p:txBody>
          <a:bodyPr wrap="square" lIns="0" tIns="0" rIns="0" bIns="0" rtlCol="0" anchor="t"/>
          <a:lstStyle/>
          <a:p>
            <a:pPr indent="0" marL="0">
              <a:buNone/>
            </a:pPr>
            <a:r>
              <a:rPr lang="en-US" sz="1700" b="1" dirty="0">
                <a:solidFill>
                  <a:srgbClr val="1C1917"/>
                </a:solidFill>
                <a:latin typeface="Lexend" pitchFamily="34" charset="0"/>
                <a:ea typeface="Lexend" pitchFamily="34" charset="-122"/>
                <a:cs typeface="Lexend" pitchFamily="34" charset="-120"/>
              </a:rPr>
              <a:t>Antes de empezar</a:t>
            </a:r>
            <a:endParaRPr lang="en-US" sz="1700" dirty="0"/>
          </a:p>
        </p:txBody>
      </p:sp>
      <p:sp>
        <p:nvSpPr>
          <p:cNvPr id="24" name="Text 22"/>
          <p:cNvSpPr txBox="1"/>
          <p:nvPr/>
        </p:nvSpPr>
        <p:spPr>
          <a:xfrm>
            <a:off x="8275320" y="2331720"/>
            <a:ext cx="3154680" cy="2560320"/>
          </a:xfrm>
          <a:prstGeom prst="rect">
            <a:avLst/>
          </a:prstGeom>
          <a:noFill/>
          <a:ln/>
        </p:spPr>
        <p:txBody>
          <a:bodyPr wrap="square" lIns="0" tIns="0" rIns="0" bIns="0" rtlCol="0" anchor="t"/>
          <a:lstStyle/>
          <a:p>
            <a:pPr marL="203200" indent="-203200">
              <a:spcAft>
                <a:spcPts val="1000"/>
              </a:spcAft>
              <a:buSzPct val="100000"/>
              <a:buChar char="•"/>
            </a:pPr>
            <a:r>
              <a:rPr lang="en-US" sz="1400" dirty="0">
                <a:solidFill>
                  <a:srgbClr val="57534E"/>
                </a:solidFill>
                <a:latin typeface="Quattrocento Sans" pitchFamily="34" charset="0"/>
                <a:ea typeface="Quattrocento Sans" pitchFamily="34" charset="-122"/>
                <a:cs typeface="Quattrocento Sans" pitchFamily="34" charset="-120"/>
              </a:rPr>
              <a:t>Dos minutos antes, abrir alejandros-team.onrender.com/v1/salud: Render tarda cerca de un minuto en despertar.</a:t>
            </a:r>
            <a:endParaRPr lang="en-US" sz="1400" dirty="0"/>
          </a:p>
          <a:p>
            <a:pPr marL="203200" indent="-203200">
              <a:spcAft>
                <a:spcPts val="1000"/>
              </a:spcAft>
              <a:buSzPct val="100000"/>
              <a:buChar char="•"/>
            </a:pPr>
            <a:r>
              <a:rPr lang="en-US" sz="1400" dirty="0">
                <a:solidFill>
                  <a:srgbClr val="57534E"/>
                </a:solidFill>
                <a:latin typeface="Quattrocento Sans" pitchFamily="34" charset="0"/>
                <a:ea typeface="Quattrocento Sans" pitchFamily="34" charset="-122"/>
                <a:cs typeface="Quattrocento Sans" pitchFamily="34" charset="-120"/>
              </a:rPr>
              <a:t>Revisar que diga la versión de datos 2026.10.8.</a:t>
            </a:r>
            <a:endParaRPr lang="en-US" sz="1400" dirty="0"/>
          </a:p>
          <a:p>
            <a:pPr marL="203200" indent="-203200">
              <a:spcAft>
                <a:spcPts val="1000"/>
              </a:spcAft>
              <a:buSzPct val="100000"/>
              <a:buChar char="•"/>
            </a:pPr>
            <a:r>
              <a:rPr lang="en-US" sz="1400" dirty="0">
                <a:solidFill>
                  <a:srgbClr val="57534E"/>
                </a:solidFill>
                <a:latin typeface="Quattrocento Sans" pitchFamily="34" charset="0"/>
                <a:ea typeface="Quattrocento Sans" pitchFamily="34" charset="-122"/>
                <a:cs typeface="Quattrocento Sans" pitchFamily="34" charset="-120"/>
              </a:rPr>
              <a:t>Tener la clave de publicar a mano, fuera de la pantalla compartida.</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latin typeface="Quattrocento Sans"/>
                <a:ea typeface="Quattrocento Sans"/>
                <a:cs typeface="Quattrocento San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822960" y="1554480"/>
            <a:ext cx="2743200" cy="914400"/>
          </a:xfrm>
          <a:prstGeom prst="rect">
            <a:avLst/>
          </a:prstGeom>
          <a:noFill/>
          <a:ln/>
        </p:spPr>
        <p:txBody>
          <a:bodyPr wrap="square" lIns="0" tIns="0" rIns="0" bIns="0" rtlCol="0" anchor="b"/>
          <a:lstStyle/>
          <a:p>
            <a:pPr algn="l" indent="0" marL="0">
              <a:buNone/>
            </a:pPr>
            <a:r>
              <a:rPr lang="en-US" sz="5400" b="1" dirty="0">
                <a:solidFill>
                  <a:srgbClr val="FB923C"/>
                </a:solidFill>
                <a:latin typeface="Lexend" pitchFamily="34" charset="0"/>
                <a:ea typeface="Lexend" pitchFamily="34" charset="-122"/>
                <a:cs typeface="Lexend" pitchFamily="34" charset="-120"/>
              </a:rPr>
              <a:t>2</a:t>
            </a:r>
            <a:endParaRPr lang="en-US" sz="5400" dirty="0"/>
          </a:p>
        </p:txBody>
      </p:sp>
      <p:sp>
        <p:nvSpPr>
          <p:cNvPr id="3" name="Text 0"/>
          <p:cNvSpPr/>
          <p:nvPr>
            <p:ph idx="101" type="title" hasCustomPrompt="1"/>
          </p:nvPr>
        </p:nvSpPr>
        <p:spPr>
          <a:xfrm>
            <a:off x="822960" y="2514600"/>
            <a:ext cx="10515600" cy="1097280"/>
          </a:xfrm>
          <a:prstGeom prst="rect">
            <a:avLst/>
          </a:prstGeom>
          <a:noFill/>
          <a:ln/>
        </p:spPr>
        <p:txBody>
          <a:bodyPr wrap="square" lIns="0" tIns="0" rIns="0" bIns="0" rtlCol="0" anchor="t"/>
          <a:lstStyle/>
          <a:p>
            <a:pPr algn="l" indent="0" marL="0">
              <a:buNone/>
            </a:pPr>
            <a:r>
              <a:rPr lang="en-US" sz="4400" b="1" dirty="0">
                <a:solidFill>
                  <a:srgbClr val="FFFFFF"/>
                </a:solidFill>
                <a:latin typeface="Lexend" pitchFamily="34" charset="0"/>
                <a:ea typeface="Lexend" pitchFamily="34" charset="-122"/>
                <a:cs typeface="Lexend" pitchFamily="34" charset="-120"/>
              </a:rPr>
              <a:t>Arquitectura y despliegue</a:t>
            </a:r>
            <a:endParaRPr lang="en-US" sz="4400" dirty="0"/>
          </a:p>
        </p:txBody>
      </p:sp>
      <p:sp>
        <p:nvSpPr>
          <p:cNvPr id="4" name="Text 0"/>
          <p:cNvSpPr/>
          <p:nvPr>
            <p:ph idx="102" type="body" hasCustomPrompt="1"/>
          </p:nvPr>
        </p:nvSpPr>
        <p:spPr>
          <a:xfrm>
            <a:off x="822960" y="3703320"/>
            <a:ext cx="10515600" cy="457200"/>
          </a:xfrm>
          <a:prstGeom prst="rect">
            <a:avLst/>
          </a:prstGeom>
          <a:noFill/>
          <a:ln/>
        </p:spPr>
        <p:txBody>
          <a:bodyPr wrap="square" lIns="0" tIns="0" rIns="0" bIns="0" rtlCol="0"/>
          <a:lstStyle/>
          <a:p>
            <a:pPr algn="l" indent="0" marL="0">
              <a:buNone/>
            </a:pPr>
            <a:r>
              <a:rPr lang="en-US" sz="2000" dirty="0">
                <a:solidFill>
                  <a:srgbClr val="E7E5E4"/>
                </a:solidFill>
                <a:latin typeface="Lexend" pitchFamily="34" charset="0"/>
                <a:ea typeface="Lexend" pitchFamily="34" charset="-122"/>
                <a:cs typeface="Lexend" pitchFamily="34" charset="-120"/>
              </a:rPr>
              <a:t>Miguel</a:t>
            </a:r>
            <a:endParaRPr lang="en-US" sz="2000" dirty="0"/>
          </a:p>
        </p:txBody>
      </p:sp>
      <p:sp>
        <p:nvSpPr>
          <p:cNvPr id="5" name="Text 0"/>
          <p:cNvSpPr/>
          <p:nvPr>
            <p:ph idx="103" type="body" hasCustomPrompt="1"/>
          </p:nvPr>
        </p:nvSpPr>
        <p:spPr>
          <a:xfrm>
            <a:off x="822960" y="4206240"/>
            <a:ext cx="10058400" cy="457200"/>
          </a:xfrm>
          <a:prstGeom prst="rect">
            <a:avLst/>
          </a:prstGeom>
          <a:noFill/>
          <a:ln/>
        </p:spPr>
        <p:txBody>
          <a:bodyPr wrap="square" lIns="0" tIns="0" rIns="0" bIns="0" rtlCol="0"/>
          <a:lstStyle/>
          <a:p>
            <a:pPr algn="l" indent="0" marL="0">
              <a:buNone/>
            </a:pPr>
            <a:r>
              <a:rPr lang="en-US" sz="1600" dirty="0">
                <a:solidFill>
                  <a:srgbClr val="A8A29E"/>
                </a:solidFill>
                <a:latin typeface="Quattrocento Sans" pitchFamily="34" charset="0"/>
                <a:ea typeface="Quattrocento Sans" pitchFamily="34" charset="-122"/>
                <a:cs typeface="Quattrocento Sans" pitchFamily="34" charset="-120"/>
              </a:rPr>
              <a:t>Qué pieza corre dónde, y por qué así</a:t>
            </a: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latin typeface="Quattrocento Sans"/>
                <a:ea typeface="Quattrocento Sans"/>
                <a:cs typeface="Quattrocento San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749808" y="310896"/>
            <a:ext cx="10881360" cy="658368"/>
          </a:xfrm>
          <a:prstGeom prst="rect">
            <a:avLst/>
          </a:prstGeom>
          <a:noFill/>
          <a:ln/>
        </p:spPr>
        <p:txBody>
          <a:bodyPr wrap="square" lIns="0" tIns="0" rIns="0" bIns="0" rtlCol="0" anchor="ctr"/>
          <a:lstStyle/>
          <a:p>
            <a:pPr algn="l" indent="0" marL="0">
              <a:buNone/>
            </a:pPr>
            <a:r>
              <a:rPr lang="en-US" sz="2600" b="1" dirty="0">
                <a:solidFill>
                  <a:srgbClr val="1C1917"/>
                </a:solidFill>
                <a:latin typeface="Lexend" pitchFamily="34" charset="0"/>
                <a:ea typeface="Lexend" pitchFamily="34" charset="-122"/>
                <a:cs typeface="Lexend" pitchFamily="34" charset="-120"/>
              </a:rPr>
              <a:t>Arquitectura</a:t>
            </a:r>
            <a:endParaRPr lang="en-US" sz="2600" dirty="0"/>
          </a:p>
        </p:txBody>
      </p:sp>
      <p:sp>
        <p:nvSpPr>
          <p:cNvPr id="3" name="Text 1"/>
          <p:cNvSpPr/>
          <p:nvPr>
            <p:ph idx="102" type="body" hasCustomPrompt="1"/>
          </p:nvPr>
        </p:nvSpPr>
        <p:spPr>
          <a:xfrm>
            <a:off x="749808" y="932688"/>
            <a:ext cx="10881360" cy="384048"/>
          </a:xfrm>
          <a:prstGeom prst="rect">
            <a:avLst/>
          </a:prstGeom>
          <a:noFill/>
          <a:ln/>
        </p:spPr>
        <p:txBody>
          <a:bodyPr wrap="square" lIns="0" tIns="0" rIns="0" bIns="0" rtlCol="0" anchor="t"/>
          <a:lstStyle/>
          <a:p>
            <a:pPr algn="l" indent="0" marL="0">
              <a:buNone/>
            </a:pPr>
            <a:r>
              <a:rPr lang="en-US" sz="1400" dirty="0">
                <a:solidFill>
                  <a:srgbClr val="57534E"/>
                </a:solidFill>
                <a:latin typeface="Quattrocento Sans" pitchFamily="34" charset="0"/>
                <a:ea typeface="Quattrocento Sans" pitchFamily="34" charset="-122"/>
                <a:cs typeface="Quattrocento Sans" pitchFamily="34" charset="-120"/>
              </a:rPr>
              <a:t>Fuentes abiertas, un pipeline que corre el equipo y un API que responde desde memoria</a:t>
            </a:r>
            <a:endParaRPr lang="en-US" sz="1400" dirty="0"/>
          </a:p>
        </p:txBody>
      </p:sp>
      <p:pic>
        <p:nvPicPr>
          <p:cNvPr id="4" name="arquitectura.png" descr="Arquitectura: fuentes abiertas, pipeline, API y quién lo usa">    </p:cNvPr>
          <p:cNvPicPr>
            <a:picLocks noChangeAspect="1"/>
          </p:cNvPicPr>
          <p:nvPr/>
        </p:nvPicPr>
        <p:blipFill>
          <a:blip r:embed="rId1"/>
          <a:stretch>
            <a:fillRect/>
          </a:stretch>
        </p:blipFill>
        <p:spPr>
          <a:xfrm>
            <a:off x="777240" y="1417320"/>
            <a:ext cx="10652760" cy="4909985"/>
          </a:xfrm>
          <a:prstGeom prst="rect">
            <a:avLst/>
          </a:prstGeom>
        </p:spPr>
      </p:pic>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latin typeface="Quattrocento Sans"/>
                <a:ea typeface="Quattrocento Sans"/>
                <a:cs typeface="Quattrocento San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749808" y="310896"/>
            <a:ext cx="10881360" cy="658368"/>
          </a:xfrm>
          <a:prstGeom prst="rect">
            <a:avLst/>
          </a:prstGeom>
          <a:noFill/>
          <a:ln/>
        </p:spPr>
        <p:txBody>
          <a:bodyPr wrap="square" lIns="0" tIns="0" rIns="0" bIns="0" rtlCol="0" anchor="ctr"/>
          <a:lstStyle/>
          <a:p>
            <a:pPr algn="l" indent="0" marL="0">
              <a:buNone/>
            </a:pPr>
            <a:r>
              <a:rPr lang="en-US" sz="2600" b="1" dirty="0">
                <a:solidFill>
                  <a:srgbClr val="1C1917"/>
                </a:solidFill>
                <a:latin typeface="Lexend" pitchFamily="34" charset="0"/>
                <a:ea typeface="Lexend" pitchFamily="34" charset="-122"/>
                <a:cs typeface="Lexend" pitchFamily="34" charset="-120"/>
              </a:rPr>
              <a:t>Cómo se despliega cada pieza</a:t>
            </a:r>
            <a:endParaRPr lang="en-US" sz="2600" dirty="0"/>
          </a:p>
        </p:txBody>
      </p:sp>
      <p:sp>
        <p:nvSpPr>
          <p:cNvPr id="3" name="Text 1"/>
          <p:cNvSpPr/>
          <p:nvPr>
            <p:ph idx="102" type="body" hasCustomPrompt="1"/>
          </p:nvPr>
        </p:nvSpPr>
        <p:spPr>
          <a:xfrm>
            <a:off x="749808" y="932688"/>
            <a:ext cx="10881360" cy="384048"/>
          </a:xfrm>
          <a:prstGeom prst="rect">
            <a:avLst/>
          </a:prstGeom>
          <a:noFill/>
          <a:ln/>
        </p:spPr>
        <p:txBody>
          <a:bodyPr wrap="square" lIns="0" tIns="0" rIns="0" bIns="0" rtlCol="0" anchor="t"/>
          <a:lstStyle/>
          <a:p>
            <a:pPr algn="l" indent="0" marL="0">
              <a:buNone/>
            </a:pPr>
            <a:r>
              <a:rPr lang="en-US" sz="1400" dirty="0">
                <a:solidFill>
                  <a:srgbClr val="57534E"/>
                </a:solidFill>
                <a:latin typeface="Quattrocento Sans" pitchFamily="34" charset="0"/>
                <a:ea typeface="Quattrocento Sans" pitchFamily="34" charset="-122"/>
                <a:cs typeface="Quattrocento Sans" pitchFamily="34" charset="-120"/>
              </a:rPr>
              <a:t>Una sola imagen del API: corre en una laptop y en Render, y está lista para AWS Lambda</a:t>
            </a:r>
            <a:endParaRPr lang="en-US" sz="1400" dirty="0"/>
          </a:p>
        </p:txBody>
      </p:sp>
      <p:graphicFrame>
        <p:nvGraphicFramePr>
          <p:cNvPr id="14" name="tabla de despliegue"/>
          <p:cNvGraphicFramePr>
            <a:graphicFrameLocks noGrp="1"/>
          </p:cNvGraphicFramePr>
          <p:nvPr>
            <p:extLst>
              <p:ext uri="{D42A27DB-BD31-4B8C-83A1-F6EECF244321}">
                <p14:modId xmlns:p14="http://schemas.microsoft.com/office/powerpoint/2010/main" val="1579011935"/>
              </p:ext>
            </p:extLst>
          </p:nvPr>
        </p:nvGraphicFramePr>
        <p:xfrm>
          <a:off x="548640" y="1508760"/>
          <a:ext cx="6858000" cy="914400"/>
        </p:xfrm>
        <a:graphic>
          <a:graphicData uri="http://schemas.openxmlformats.org/drawingml/2006/table">
            <a:tbl>
              <a:tblPr/>
              <a:tblGrid>
                <a:gridCol w="1600200"/>
                <a:gridCol w="2377440"/>
                <a:gridCol w="2880360"/>
              </a:tblGrid>
              <a:tr h="0">
                <a:tc>
                  <a:txBody>
                    <a:bodyPr/>
                    <a:lstStyle/>
                    <a:p>
                      <a:pPr indent="0" marL="0">
                        <a:buNone/>
                      </a:pPr>
                      <a:r>
                        <a:rPr lang="en-US" sz="1250" b="1" dirty="0">
                          <a:solidFill>
                            <a:srgbClr val="FFFFFF"/>
                          </a:solidFill>
                          <a:latin typeface="Quattrocento Sans" pitchFamily="34" charset="0"/>
                          <a:ea typeface="Quattrocento Sans" pitchFamily="34" charset="-122"/>
                          <a:cs typeface="Quattrocento Sans" pitchFamily="34" charset="-120"/>
                        </a:rPr>
                        <a:t>Pieza</a:t>
                      </a:r>
                      <a:endParaRPr lang="en-US" sz="125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C2410C"/>
                    </a:solidFill>
                  </a:tcPr>
                </a:tc>
                <a:tc>
                  <a:txBody>
                    <a:bodyPr/>
                    <a:lstStyle/>
                    <a:p>
                      <a:pPr indent="0" marL="0">
                        <a:buNone/>
                      </a:pPr>
                      <a:r>
                        <a:rPr lang="en-US" sz="1250" b="1" dirty="0">
                          <a:solidFill>
                            <a:srgbClr val="FFFFFF"/>
                          </a:solidFill>
                          <a:latin typeface="Quattrocento Sans" pitchFamily="34" charset="0"/>
                          <a:ea typeface="Quattrocento Sans" pitchFamily="34" charset="-122"/>
                          <a:cs typeface="Quattrocento Sans" pitchFamily="34" charset="-120"/>
                        </a:rPr>
                        <a:t>Tecnología</a:t>
                      </a:r>
                      <a:endParaRPr lang="en-US" sz="125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C2410C"/>
                    </a:solidFill>
                  </a:tcPr>
                </a:tc>
                <a:tc>
                  <a:txBody>
                    <a:bodyPr/>
                    <a:lstStyle/>
                    <a:p>
                      <a:pPr indent="0" marL="0">
                        <a:buNone/>
                      </a:pPr>
                      <a:r>
                        <a:rPr lang="en-US" sz="1250" b="1" dirty="0">
                          <a:solidFill>
                            <a:srgbClr val="FFFFFF"/>
                          </a:solidFill>
                          <a:latin typeface="Quattrocento Sans" pitchFamily="34" charset="0"/>
                          <a:ea typeface="Quattrocento Sans" pitchFamily="34" charset="-122"/>
                          <a:cs typeface="Quattrocento Sans" pitchFamily="34" charset="-120"/>
                        </a:rPr>
                        <a:t>Dónde corre</a:t>
                      </a:r>
                      <a:endParaRPr lang="en-US" sz="125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C2410C"/>
                    </a:solidFill>
                  </a:tcPr>
                </a:tc>
              </a:tr>
              <a:tr h="0">
                <a:tc>
                  <a:txBody>
                    <a:bodyPr/>
                    <a:lstStyle/>
                    <a:p>
                      <a:pPr indent="0" marL="0">
                        <a:buNone/>
                      </a:pPr>
                      <a:r>
                        <a:rPr lang="en-US" sz="1250" b="1" dirty="0">
                          <a:solidFill>
                            <a:srgbClr val="1C1917"/>
                          </a:solidFill>
                          <a:latin typeface="Quattrocento Sans" pitchFamily="34" charset="0"/>
                          <a:ea typeface="Quattrocento Sans" pitchFamily="34" charset="-122"/>
                          <a:cs typeface="Quattrocento Sans" pitchFamily="34" charset="-120"/>
                        </a:rPr>
                        <a:t>Pipeline</a:t>
                      </a:r>
                      <a:endParaRPr lang="en-US" sz="125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AFAF9"/>
                    </a:solidFill>
                  </a:tcPr>
                </a:tc>
                <a:tc>
                  <a:txBody>
                    <a:bodyPr/>
                    <a:lstStyle/>
                    <a:p>
                      <a:pPr indent="0" marL="0">
                        <a:buNone/>
                      </a:pPr>
                      <a:r>
                        <a:rPr lang="en-US" sz="1250" dirty="0">
                          <a:solidFill>
                            <a:srgbClr val="57534E"/>
                          </a:solidFill>
                          <a:latin typeface="Quattrocento Sans" pitchFamily="34" charset="0"/>
                          <a:ea typeface="Quattrocento Sans" pitchFamily="34" charset="-122"/>
                          <a:cs typeface="Quattrocento Sans" pitchFamily="34" charset="-120"/>
                        </a:rPr>
                        <a:t>Python, pandas, scipy, osmium y pyarrow</a:t>
                      </a:r>
                      <a:endParaRPr lang="en-US" sz="125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AFAF9"/>
                    </a:solidFill>
                  </a:tcPr>
                </a:tc>
                <a:tc>
                  <a:txBody>
                    <a:bodyPr/>
                    <a:lstStyle/>
                    <a:p>
                      <a:pPr indent="0" marL="0">
                        <a:buNone/>
                      </a:pPr>
                      <a:r>
                        <a:rPr lang="en-US" sz="1250" dirty="0">
                          <a:solidFill>
                            <a:srgbClr val="57534E"/>
                          </a:solidFill>
                          <a:latin typeface="Quattrocento Sans" pitchFamily="34" charset="0"/>
                          <a:ea typeface="Quattrocento Sans" pitchFamily="34" charset="-122"/>
                          <a:cs typeface="Quattrocento Sans" pitchFamily="34" charset="-120"/>
                        </a:rPr>
                        <a:t>En la computadora de un integrante, cuando cambia una fuente</a:t>
                      </a:r>
                      <a:endParaRPr lang="en-US" sz="125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AFAF9"/>
                    </a:solidFill>
                  </a:tcPr>
                </a:tc>
              </a:tr>
              <a:tr h="0">
                <a:tc>
                  <a:txBody>
                    <a:bodyPr/>
                    <a:lstStyle/>
                    <a:p>
                      <a:pPr indent="0" marL="0">
                        <a:buNone/>
                      </a:pPr>
                      <a:r>
                        <a:rPr lang="en-US" sz="1250" b="1" dirty="0">
                          <a:solidFill>
                            <a:srgbClr val="1C1917"/>
                          </a:solidFill>
                          <a:latin typeface="Quattrocento Sans" pitchFamily="34" charset="0"/>
                          <a:ea typeface="Quattrocento Sans" pitchFamily="34" charset="-122"/>
                          <a:cs typeface="Quattrocento Sans" pitchFamily="34" charset="-120"/>
                        </a:rPr>
                        <a:t>Motor y API</a:t>
                      </a:r>
                      <a:endParaRPr lang="en-US" sz="125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FFFFF"/>
                    </a:solidFill>
                  </a:tcPr>
                </a:tc>
                <a:tc>
                  <a:txBody>
                    <a:bodyPr/>
                    <a:lstStyle/>
                    <a:p>
                      <a:pPr indent="0" marL="0">
                        <a:buNone/>
                      </a:pPr>
                      <a:r>
                        <a:rPr lang="en-US" sz="1250" dirty="0">
                          <a:solidFill>
                            <a:srgbClr val="57534E"/>
                          </a:solidFill>
                          <a:latin typeface="Quattrocento Sans" pitchFamily="34" charset="0"/>
                          <a:ea typeface="Quattrocento Sans" pitchFamily="34" charset="-122"/>
                          <a:cs typeface="Quattrocento Sans" pitchFamily="34" charset="-120"/>
                        </a:rPr>
                        <a:t>Python, numpy, pydantic y FastAPI</a:t>
                      </a:r>
                      <a:endParaRPr lang="en-US" sz="125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FFFFF"/>
                    </a:solidFill>
                  </a:tcPr>
                </a:tc>
                <a:tc>
                  <a:txBody>
                    <a:bodyPr/>
                    <a:lstStyle/>
                    <a:p>
                      <a:pPr indent="0" marL="0">
                        <a:buNone/>
                      </a:pPr>
                      <a:r>
                        <a:rPr lang="en-US" sz="1250" dirty="0">
                          <a:solidFill>
                            <a:srgbClr val="57534E"/>
                          </a:solidFill>
                          <a:latin typeface="Quattrocento Sans" pitchFamily="34" charset="0"/>
                          <a:ea typeface="Quattrocento Sans" pitchFamily="34" charset="-122"/>
                          <a:cs typeface="Quattrocento Sans" pitchFamily="34" charset="-120"/>
                        </a:rPr>
                        <a:t>Una imagen de contenedor: hoy en Render; el destino, AWS Lambda</a:t>
                      </a:r>
                      <a:endParaRPr lang="en-US" sz="125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1C1917"/>
                          </a:solidFill>
                          <a:latin typeface="Quattrocento Sans" pitchFamily="34" charset="0"/>
                          <a:ea typeface="Quattrocento Sans" pitchFamily="34" charset="-122"/>
                          <a:cs typeface="Quattrocento Sans" pitchFamily="34" charset="-120"/>
                        </a:rPr>
                        <a:t>Eventos publicados</a:t>
                      </a:r>
                      <a:endParaRPr lang="en-US" sz="125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AFAF9"/>
                    </a:solidFill>
                  </a:tcPr>
                </a:tc>
                <a:tc>
                  <a:txBody>
                    <a:bodyPr/>
                    <a:lstStyle/>
                    <a:p>
                      <a:pPr indent="0" marL="0">
                        <a:buNone/>
                      </a:pPr>
                      <a:r>
                        <a:rPr lang="en-US" sz="1250" dirty="0">
                          <a:solidFill>
                            <a:srgbClr val="57534E"/>
                          </a:solidFill>
                          <a:latin typeface="Quattrocento Sans" pitchFamily="34" charset="0"/>
                          <a:ea typeface="Quattrocento Sans" pitchFamily="34" charset="-122"/>
                          <a:cs typeface="Quattrocento Sans" pitchFamily="34" charset="-120"/>
                        </a:rPr>
                        <a:t>DynamoDB en AWS; fuera, un archivo o la memoria</a:t>
                      </a:r>
                      <a:endParaRPr lang="en-US" sz="125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AFAF9"/>
                    </a:solidFill>
                  </a:tcPr>
                </a:tc>
                <a:tc>
                  <a:txBody>
                    <a:bodyPr/>
                    <a:lstStyle/>
                    <a:p>
                      <a:pPr indent="0" marL="0">
                        <a:buNone/>
                      </a:pPr>
                      <a:r>
                        <a:rPr lang="en-US" sz="1250" dirty="0">
                          <a:solidFill>
                            <a:srgbClr val="57534E"/>
                          </a:solidFill>
                          <a:latin typeface="Quattrocento Sans" pitchFamily="34" charset="0"/>
                          <a:ea typeface="Quattrocento Sans" pitchFamily="34" charset="-122"/>
                          <a:cs typeface="Quattrocento Sans" pitchFamily="34" charset="-120"/>
                        </a:rPr>
                        <a:t>Junto al API</a:t>
                      </a:r>
                      <a:endParaRPr lang="en-US" sz="125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AFAF9"/>
                    </a:solidFill>
                  </a:tcPr>
                </a:tc>
              </a:tr>
              <a:tr h="0">
                <a:tc>
                  <a:txBody>
                    <a:bodyPr/>
                    <a:lstStyle/>
                    <a:p>
                      <a:pPr indent="0" marL="0">
                        <a:buNone/>
                      </a:pPr>
                      <a:r>
                        <a:rPr lang="en-US" sz="1250" b="1" dirty="0">
                          <a:solidFill>
                            <a:srgbClr val="1C1917"/>
                          </a:solidFill>
                          <a:latin typeface="Quattrocento Sans" pitchFamily="34" charset="0"/>
                          <a:ea typeface="Quattrocento Sans" pitchFamily="34" charset="-122"/>
                          <a:cs typeface="Quattrocento Sans" pitchFamily="34" charset="-120"/>
                        </a:rPr>
                        <a:t>App</a:t>
                      </a:r>
                      <a:endParaRPr lang="en-US" sz="125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FFFFF"/>
                    </a:solidFill>
                  </a:tcPr>
                </a:tc>
                <a:tc>
                  <a:txBody>
                    <a:bodyPr/>
                    <a:lstStyle/>
                    <a:p>
                      <a:pPr indent="0" marL="0">
                        <a:buNone/>
                      </a:pPr>
                      <a:r>
                        <a:rPr lang="en-US" sz="1250" dirty="0">
                          <a:solidFill>
                            <a:srgbClr val="57534E"/>
                          </a:solidFill>
                          <a:latin typeface="Quattrocento Sans" pitchFamily="34" charset="0"/>
                          <a:ea typeface="Quattrocento Sans" pitchFamily="34" charset="-122"/>
                          <a:cs typeface="Quattrocento Sans" pitchFamily="34" charset="-120"/>
                        </a:rPr>
                        <a:t>React, Vite, TypeScript y MapLibre GL</a:t>
                      </a:r>
                      <a:endParaRPr lang="en-US" sz="125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FFFFF"/>
                    </a:solidFill>
                  </a:tcPr>
                </a:tc>
                <a:tc>
                  <a:txBody>
                    <a:bodyPr/>
                    <a:lstStyle/>
                    <a:p>
                      <a:pPr indent="0" marL="0">
                        <a:buNone/>
                      </a:pPr>
                      <a:r>
                        <a:rPr lang="en-US" sz="1250" dirty="0">
                          <a:solidFill>
                            <a:srgbClr val="57534E"/>
                          </a:solidFill>
                          <a:latin typeface="Quattrocento Sans" pitchFamily="34" charset="0"/>
                          <a:ea typeface="Quattrocento Sans" pitchFamily="34" charset="-122"/>
                          <a:cs typeface="Quattrocento Sans" pitchFamily="34" charset="-120"/>
                        </a:rPr>
                        <a:t>GitHub Pages, con cada cambio de main</a:t>
                      </a:r>
                      <a:endParaRPr lang="en-US" sz="125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1C1917"/>
                          </a:solidFill>
                          <a:latin typeface="Quattrocento Sans" pitchFamily="34" charset="0"/>
                          <a:ea typeface="Quattrocento Sans" pitchFamily="34" charset="-122"/>
                          <a:cs typeface="Quattrocento Sans" pitchFamily="34" charset="-120"/>
                        </a:rPr>
                        <a:t>Integración continua</a:t>
                      </a:r>
                      <a:endParaRPr lang="en-US" sz="125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AFAF9"/>
                    </a:solidFill>
                  </a:tcPr>
                </a:tc>
                <a:tc>
                  <a:txBody>
                    <a:bodyPr/>
                    <a:lstStyle/>
                    <a:p>
                      <a:pPr indent="0" marL="0">
                        <a:buNone/>
                      </a:pPr>
                      <a:r>
                        <a:rPr lang="en-US" sz="1250" dirty="0">
                          <a:solidFill>
                            <a:srgbClr val="57534E"/>
                          </a:solidFill>
                          <a:latin typeface="Quattrocento Sans" pitchFamily="34" charset="0"/>
                          <a:ea typeface="Quattrocento Sans" pitchFamily="34" charset="-122"/>
                          <a:cs typeface="Quattrocento Sans" pitchFamily="34" charset="-120"/>
                        </a:rPr>
                        <a:t>GitHub Actions</a:t>
                      </a:r>
                      <a:endParaRPr lang="en-US" sz="125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AFAF9"/>
                    </a:solidFill>
                  </a:tcPr>
                </a:tc>
                <a:tc>
                  <a:txBody>
                    <a:bodyPr/>
                    <a:lstStyle/>
                    <a:p>
                      <a:pPr indent="0" marL="0">
                        <a:buNone/>
                      </a:pPr>
                      <a:r>
                        <a:rPr lang="en-US" sz="1250" dirty="0">
                          <a:solidFill>
                            <a:srgbClr val="57534E"/>
                          </a:solidFill>
                          <a:latin typeface="Quattrocento Sans" pitchFamily="34" charset="0"/>
                          <a:ea typeface="Quattrocento Sans" pitchFamily="34" charset="-122"/>
                          <a:cs typeface="Quattrocento Sans" pitchFamily="34" charset="-120"/>
                        </a:rPr>
                        <a:t>En cada pull request: lint, pruebas, imágenes y la app contra el API</a:t>
                      </a:r>
                      <a:endParaRPr lang="en-US" sz="125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AFAF9"/>
                    </a:solidFill>
                  </a:tcPr>
                </a:tc>
              </a:tr>
            </a:tbl>
          </a:graphicData>
        </a:graphic>
      </p:graphicFrame>
      <p:sp>
        <p:nvSpPr>
          <p:cNvPr id="5" name="Text 2"/>
          <p:cNvSpPr txBox="1"/>
          <p:nvPr/>
        </p:nvSpPr>
        <p:spPr>
          <a:xfrm>
            <a:off x="548640" y="4983480"/>
            <a:ext cx="6858000" cy="868680"/>
          </a:xfrm>
          <a:prstGeom prst="rect">
            <a:avLst/>
          </a:prstGeom>
          <a:noFill/>
          <a:ln/>
        </p:spPr>
        <p:txBody>
          <a:bodyPr wrap="square" lIns="0" tIns="0" rIns="0" bIns="0" rtlCol="0" anchor="t"/>
          <a:lstStyle/>
          <a:p>
            <a:pPr indent="0" marL="0">
              <a:buNone/>
            </a:pPr>
            <a:r>
              <a:rPr lang="en-US" sz="1350" b="1" dirty="0">
                <a:solidFill>
                  <a:srgbClr val="1C1917"/>
                </a:solidFill>
                <a:latin typeface="Quattrocento Sans" pitchFamily="34" charset="0"/>
                <a:ea typeface="Quattrocento Sans" pitchFamily="34" charset="-122"/>
                <a:cs typeface="Quattrocento Sans" pitchFamily="34" charset="-120"/>
              </a:rPr>
              <a:t>En el navegador del viajero: </a:t>
            </a:r>
            <a:pPr indent="0" marL="0">
              <a:spcAft>
                <a:spcPts val="1000"/>
              </a:spcAft>
              <a:buNone/>
            </a:pPr>
            <a:r>
              <a:rPr lang="en-US" sz="1350" dirty="0">
                <a:solidFill>
                  <a:srgbClr val="57534E"/>
                </a:solidFill>
                <a:latin typeface="Quattrocento Sans" pitchFamily="34" charset="0"/>
                <a:ea typeface="Quattrocento Sans" pitchFamily="34" charset="-122"/>
                <a:cs typeface="Quattrocento Sans" pitchFamily="34" charset="-120"/>
              </a:rPr>
              <a:t>las fotos llegan de Wikimedia Commons y el fondo del mapa de OpenFreeMap. Si no cargan, la app sigue, sin fotos y con un mapa liso.</a:t>
            </a:r>
            <a:endParaRPr lang="en-US" sz="1350" dirty="0"/>
          </a:p>
        </p:txBody>
      </p:sp>
      <p:sp>
        <p:nvSpPr>
          <p:cNvPr id="6" name="decisión 1"/>
          <p:cNvSpPr/>
          <p:nvPr/>
        </p:nvSpPr>
        <p:spPr>
          <a:xfrm>
            <a:off x="7772400" y="1508760"/>
            <a:ext cx="3867912" cy="1325880"/>
          </a:xfrm>
          <a:prstGeom prst="roundRect">
            <a:avLst>
              <a:gd name="adj" fmla="val 8276"/>
            </a:avLst>
          </a:prstGeom>
          <a:solidFill>
            <a:srgbClr val="FAFAF9"/>
          </a:solidFill>
          <a:ln w="12700">
            <a:solidFill>
              <a:srgbClr val="E7E5E4"/>
            </a:solidFill>
            <a:prstDash val="solid"/>
          </a:ln>
        </p:spPr>
      </p:sp>
      <p:sp>
        <p:nvSpPr>
          <p:cNvPr id="7" name="Text 4"/>
          <p:cNvSpPr txBox="1"/>
          <p:nvPr/>
        </p:nvSpPr>
        <p:spPr>
          <a:xfrm>
            <a:off x="8001000" y="1664208"/>
            <a:ext cx="3474720" cy="320040"/>
          </a:xfrm>
          <a:prstGeom prst="rect">
            <a:avLst/>
          </a:prstGeom>
          <a:noFill/>
          <a:ln/>
        </p:spPr>
        <p:txBody>
          <a:bodyPr wrap="square" lIns="0" tIns="0" rIns="0" bIns="0" rtlCol="0" anchor="t"/>
          <a:lstStyle/>
          <a:p>
            <a:pPr indent="0" marL="0">
              <a:buNone/>
            </a:pPr>
            <a:r>
              <a:rPr lang="en-US" sz="1450" b="1" dirty="0">
                <a:solidFill>
                  <a:srgbClr val="1C1917"/>
                </a:solidFill>
                <a:latin typeface="Lexend" pitchFamily="34" charset="0"/>
                <a:ea typeface="Lexend" pitchFamily="34" charset="-122"/>
                <a:cs typeface="Lexend" pitchFamily="34" charset="-120"/>
              </a:rPr>
              <a:t>El motor responde desde memoria</a:t>
            </a:r>
            <a:endParaRPr lang="en-US" sz="1450" dirty="0"/>
          </a:p>
        </p:txBody>
      </p:sp>
      <p:sp>
        <p:nvSpPr>
          <p:cNvPr id="8" name="Text 5"/>
          <p:cNvSpPr txBox="1"/>
          <p:nvPr/>
        </p:nvSpPr>
        <p:spPr>
          <a:xfrm>
            <a:off x="8001000" y="2011680"/>
            <a:ext cx="3474720" cy="777240"/>
          </a:xfrm>
          <a:prstGeom prst="rect">
            <a:avLst/>
          </a:prstGeom>
          <a:noFill/>
          <a:ln/>
        </p:spPr>
        <p:txBody>
          <a:bodyPr wrap="square" lIns="0" tIns="0" rIns="0" bIns="0" rtlCol="0" anchor="t"/>
          <a:lstStyle/>
          <a:p>
            <a:pPr indent="0" marL="0">
              <a:buNone/>
            </a:pPr>
            <a:r>
              <a:rPr lang="en-US" sz="1250" dirty="0">
                <a:solidFill>
                  <a:srgbClr val="57534E"/>
                </a:solidFill>
                <a:latin typeface="Quattrocento Sans" pitchFamily="34" charset="0"/>
                <a:ea typeface="Quattrocento Sans" pitchFamily="34" charset="-122"/>
                <a:cs typeface="Quattrocento Sans" pitchFamily="34" charset="-120"/>
              </a:rPr>
              <a:t>Los datos del motor son archivos con versión que se cargan al arrancar. No hay base de datos (decisión 0003).</a:t>
            </a:r>
            <a:endParaRPr lang="en-US" sz="1250" dirty="0"/>
          </a:p>
        </p:txBody>
      </p:sp>
      <p:sp>
        <p:nvSpPr>
          <p:cNvPr id="9" name="decisión 2"/>
          <p:cNvSpPr/>
          <p:nvPr/>
        </p:nvSpPr>
        <p:spPr>
          <a:xfrm>
            <a:off x="7772400" y="2990088"/>
            <a:ext cx="3867912" cy="1325880"/>
          </a:xfrm>
          <a:prstGeom prst="roundRect">
            <a:avLst>
              <a:gd name="adj" fmla="val 8276"/>
            </a:avLst>
          </a:prstGeom>
          <a:solidFill>
            <a:srgbClr val="FAFAF9"/>
          </a:solidFill>
          <a:ln w="12700">
            <a:solidFill>
              <a:srgbClr val="E7E5E4"/>
            </a:solidFill>
            <a:prstDash val="solid"/>
          </a:ln>
        </p:spPr>
      </p:sp>
      <p:sp>
        <p:nvSpPr>
          <p:cNvPr id="10" name="Text 7"/>
          <p:cNvSpPr txBox="1"/>
          <p:nvPr/>
        </p:nvSpPr>
        <p:spPr>
          <a:xfrm>
            <a:off x="8001000" y="3145536"/>
            <a:ext cx="3474720" cy="320040"/>
          </a:xfrm>
          <a:prstGeom prst="rect">
            <a:avLst/>
          </a:prstGeom>
          <a:noFill/>
          <a:ln/>
        </p:spPr>
        <p:txBody>
          <a:bodyPr wrap="square" lIns="0" tIns="0" rIns="0" bIns="0" rtlCol="0" anchor="t"/>
          <a:lstStyle/>
          <a:p>
            <a:pPr indent="0" marL="0">
              <a:buNone/>
            </a:pPr>
            <a:r>
              <a:rPr lang="en-US" sz="1450" b="1" dirty="0">
                <a:solidFill>
                  <a:srgbClr val="1C1917"/>
                </a:solidFill>
                <a:latin typeface="Lexend" pitchFamily="34" charset="0"/>
                <a:ea typeface="Lexend" pitchFamily="34" charset="-122"/>
                <a:cs typeface="Lexend" pitchFamily="34" charset="-120"/>
              </a:rPr>
              <a:t>No hay cuentas</a:t>
            </a:r>
            <a:endParaRPr lang="en-US" sz="1450" dirty="0"/>
          </a:p>
        </p:txBody>
      </p:sp>
      <p:sp>
        <p:nvSpPr>
          <p:cNvPr id="11" name="Text 8"/>
          <p:cNvSpPr txBox="1"/>
          <p:nvPr/>
        </p:nvSpPr>
        <p:spPr>
          <a:xfrm>
            <a:off x="8001000" y="3493008"/>
            <a:ext cx="3474720" cy="777240"/>
          </a:xfrm>
          <a:prstGeom prst="rect">
            <a:avLst/>
          </a:prstGeom>
          <a:noFill/>
          <a:ln/>
        </p:spPr>
        <p:txBody>
          <a:bodyPr wrap="square" lIns="0" tIns="0" rIns="0" bIns="0" rtlCol="0" anchor="t"/>
          <a:lstStyle/>
          <a:p>
            <a:pPr indent="0" marL="0">
              <a:buNone/>
            </a:pPr>
            <a:r>
              <a:rPr lang="en-US" sz="1250" dirty="0">
                <a:solidFill>
                  <a:srgbClr val="57534E"/>
                </a:solidFill>
                <a:latin typeface="Quattrocento Sans" pitchFamily="34" charset="0"/>
                <a:ea typeface="Quattrocento Sans" pitchFamily="34" charset="-122"/>
                <a:cs typeface="Quattrocento Sans" pitchFamily="34" charset="-120"/>
              </a:rPr>
              <a:t>La consulta viaja en la dirección y el motor es determinista: el enlace es el viaje (0001).</a:t>
            </a:r>
            <a:endParaRPr lang="en-US" sz="1250" dirty="0"/>
          </a:p>
        </p:txBody>
      </p:sp>
      <p:sp>
        <p:nvSpPr>
          <p:cNvPr id="12" name="decisión 3"/>
          <p:cNvSpPr/>
          <p:nvPr/>
        </p:nvSpPr>
        <p:spPr>
          <a:xfrm>
            <a:off x="7772400" y="4471416"/>
            <a:ext cx="3867912" cy="1325880"/>
          </a:xfrm>
          <a:prstGeom prst="roundRect">
            <a:avLst>
              <a:gd name="adj" fmla="val 8276"/>
            </a:avLst>
          </a:prstGeom>
          <a:solidFill>
            <a:srgbClr val="FAFAF9"/>
          </a:solidFill>
          <a:ln w="12700">
            <a:solidFill>
              <a:srgbClr val="E7E5E4"/>
            </a:solidFill>
            <a:prstDash val="solid"/>
          </a:ln>
        </p:spPr>
      </p:sp>
      <p:sp>
        <p:nvSpPr>
          <p:cNvPr id="13" name="Text 10"/>
          <p:cNvSpPr txBox="1"/>
          <p:nvPr/>
        </p:nvSpPr>
        <p:spPr>
          <a:xfrm>
            <a:off x="8001000" y="4626864"/>
            <a:ext cx="3474720" cy="320040"/>
          </a:xfrm>
          <a:prstGeom prst="rect">
            <a:avLst/>
          </a:prstGeom>
          <a:noFill/>
          <a:ln/>
        </p:spPr>
        <p:txBody>
          <a:bodyPr wrap="square" lIns="0" tIns="0" rIns="0" bIns="0" rtlCol="0" anchor="t"/>
          <a:lstStyle/>
          <a:p>
            <a:pPr indent="0" marL="0">
              <a:buNone/>
            </a:pPr>
            <a:r>
              <a:rPr lang="en-US" sz="1450" b="1" dirty="0">
                <a:solidFill>
                  <a:srgbClr val="1C1917"/>
                </a:solidFill>
                <a:latin typeface="Lexend" pitchFamily="34" charset="0"/>
                <a:ea typeface="Lexend" pitchFamily="34" charset="-122"/>
                <a:cs typeface="Lexend" pitchFamily="34" charset="-120"/>
              </a:rPr>
              <a:t>Render hoy, AWS después</a:t>
            </a:r>
            <a:endParaRPr lang="en-US" sz="1450" dirty="0"/>
          </a:p>
        </p:txBody>
      </p:sp>
      <p:sp>
        <p:nvSpPr>
          <p:cNvPr id="14" name="Text 11"/>
          <p:cNvSpPr txBox="1"/>
          <p:nvPr/>
        </p:nvSpPr>
        <p:spPr>
          <a:xfrm>
            <a:off x="8001000" y="4974336"/>
            <a:ext cx="3474720" cy="777240"/>
          </a:xfrm>
          <a:prstGeom prst="rect">
            <a:avLst/>
          </a:prstGeom>
          <a:noFill/>
          <a:ln/>
        </p:spPr>
        <p:txBody>
          <a:bodyPr wrap="square" lIns="0" tIns="0" rIns="0" bIns="0" rtlCol="0" anchor="t"/>
          <a:lstStyle/>
          <a:p>
            <a:pPr indent="0" marL="0">
              <a:buNone/>
            </a:pPr>
            <a:r>
              <a:rPr lang="en-US" sz="1250" dirty="0">
                <a:solidFill>
                  <a:srgbClr val="57534E"/>
                </a:solidFill>
                <a:latin typeface="Quattrocento Sans" pitchFamily="34" charset="0"/>
                <a:ea typeface="Quattrocento Sans" pitchFamily="34" charset="-122"/>
                <a:cs typeface="Quattrocento Sans" pitchFamily="34" charset="-120"/>
              </a:rPr>
              <a:t>Render es gratis, pero se duerme a los 15 minutos y pierde lo publicado al reiniciarse. En AWS lo publicado dura (0012).</a:t>
            </a:r>
            <a:endParaRPr lang="en-US" sz="125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latin typeface="Quattrocento Sans"/>
                <a:ea typeface="Quattrocento Sans"/>
                <a:cs typeface="Quattrocento San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822960" y="1554480"/>
            <a:ext cx="2743200" cy="914400"/>
          </a:xfrm>
          <a:prstGeom prst="rect">
            <a:avLst/>
          </a:prstGeom>
          <a:noFill/>
          <a:ln/>
        </p:spPr>
        <p:txBody>
          <a:bodyPr wrap="square" lIns="0" tIns="0" rIns="0" bIns="0" rtlCol="0" anchor="b"/>
          <a:lstStyle/>
          <a:p>
            <a:pPr algn="l" indent="0" marL="0">
              <a:buNone/>
            </a:pPr>
            <a:r>
              <a:rPr lang="en-US" sz="5400" b="1" dirty="0">
                <a:solidFill>
                  <a:srgbClr val="FB923C"/>
                </a:solidFill>
                <a:latin typeface="Lexend" pitchFamily="34" charset="0"/>
                <a:ea typeface="Lexend" pitchFamily="34" charset="-122"/>
                <a:cs typeface="Lexend" pitchFamily="34" charset="-120"/>
              </a:rPr>
              <a:t>3</a:t>
            </a:r>
            <a:endParaRPr lang="en-US" sz="5400" dirty="0"/>
          </a:p>
        </p:txBody>
      </p:sp>
      <p:sp>
        <p:nvSpPr>
          <p:cNvPr id="3" name="Text 0"/>
          <p:cNvSpPr/>
          <p:nvPr>
            <p:ph idx="101" type="title" hasCustomPrompt="1"/>
          </p:nvPr>
        </p:nvSpPr>
        <p:spPr>
          <a:xfrm>
            <a:off x="822960" y="2514600"/>
            <a:ext cx="10515600" cy="1097280"/>
          </a:xfrm>
          <a:prstGeom prst="rect">
            <a:avLst/>
          </a:prstGeom>
          <a:noFill/>
          <a:ln/>
        </p:spPr>
        <p:txBody>
          <a:bodyPr wrap="square" lIns="0" tIns="0" rIns="0" bIns="0" rtlCol="0" anchor="t"/>
          <a:lstStyle/>
          <a:p>
            <a:pPr algn="l" indent="0" marL="0">
              <a:buNone/>
            </a:pPr>
            <a:r>
              <a:rPr lang="en-US" sz="4400" b="1" dirty="0">
                <a:solidFill>
                  <a:srgbClr val="FFFFFF"/>
                </a:solidFill>
                <a:latin typeface="Lexend" pitchFamily="34" charset="0"/>
                <a:ea typeface="Lexend" pitchFamily="34" charset="-122"/>
                <a:cs typeface="Lexend" pitchFamily="34" charset="-120"/>
              </a:rPr>
              <a:t>El motor y su API</a:t>
            </a:r>
            <a:endParaRPr lang="en-US" sz="4400" dirty="0"/>
          </a:p>
        </p:txBody>
      </p:sp>
      <p:sp>
        <p:nvSpPr>
          <p:cNvPr id="4" name="Text 0"/>
          <p:cNvSpPr/>
          <p:nvPr>
            <p:ph idx="102" type="body" hasCustomPrompt="1"/>
          </p:nvPr>
        </p:nvSpPr>
        <p:spPr>
          <a:xfrm>
            <a:off x="822960" y="3703320"/>
            <a:ext cx="10515600" cy="457200"/>
          </a:xfrm>
          <a:prstGeom prst="rect">
            <a:avLst/>
          </a:prstGeom>
          <a:noFill/>
          <a:ln/>
        </p:spPr>
        <p:txBody>
          <a:bodyPr wrap="square" lIns="0" tIns="0" rIns="0" bIns="0" rtlCol="0"/>
          <a:lstStyle/>
          <a:p>
            <a:pPr algn="l" indent="0" marL="0">
              <a:buNone/>
            </a:pPr>
            <a:r>
              <a:rPr lang="en-US" sz="2000" dirty="0">
                <a:solidFill>
                  <a:srgbClr val="E7E5E4"/>
                </a:solidFill>
                <a:latin typeface="Lexend" pitchFamily="34" charset="0"/>
                <a:ea typeface="Lexend" pitchFamily="34" charset="-122"/>
                <a:cs typeface="Lexend" pitchFamily="34" charset="-120"/>
              </a:rPr>
              <a:t>Diego</a:t>
            </a:r>
            <a:endParaRPr lang="en-US" sz="2000" dirty="0"/>
          </a:p>
        </p:txBody>
      </p:sp>
      <p:sp>
        <p:nvSpPr>
          <p:cNvPr id="5" name="Text 0"/>
          <p:cNvSpPr/>
          <p:nvPr>
            <p:ph idx="103" type="body" hasCustomPrompt="1"/>
          </p:nvPr>
        </p:nvSpPr>
        <p:spPr>
          <a:xfrm>
            <a:off x="822960" y="4206240"/>
            <a:ext cx="10058400" cy="457200"/>
          </a:xfrm>
          <a:prstGeom prst="rect">
            <a:avLst/>
          </a:prstGeom>
          <a:noFill/>
          <a:ln/>
        </p:spPr>
        <p:txBody>
          <a:bodyPr wrap="square" lIns="0" tIns="0" rIns="0" bIns="0" rtlCol="0"/>
          <a:lstStyle/>
          <a:p>
            <a:pPr algn="l" indent="0" marL="0">
              <a:buNone/>
            </a:pPr>
            <a:r>
              <a:rPr lang="en-US" sz="1600" dirty="0">
                <a:solidFill>
                  <a:srgbClr val="A8A29E"/>
                </a:solidFill>
                <a:latin typeface="Quattrocento Sans" pitchFamily="34" charset="0"/>
                <a:ea typeface="Quattrocento Sans" pitchFamily="34" charset="-122"/>
                <a:cs typeface="Quattrocento Sans" pitchFamily="34" charset="-120"/>
              </a:rPr>
              <a:t>Qué recibe, cómo arma un viaje y qué garantiza en cada respuesta</a:t>
            </a: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latin typeface="Quattrocento Sans"/>
                <a:ea typeface="Quattrocento Sans"/>
                <a:cs typeface="Quattrocento Sans"/>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749808" y="310896"/>
            <a:ext cx="10881360" cy="658368"/>
          </a:xfrm>
          <a:prstGeom prst="rect">
            <a:avLst/>
          </a:prstGeom>
          <a:noFill/>
          <a:ln/>
        </p:spPr>
        <p:txBody>
          <a:bodyPr wrap="square" lIns="0" tIns="0" rIns="0" bIns="0" rtlCol="0" anchor="ctr"/>
          <a:lstStyle/>
          <a:p>
            <a:pPr algn="l" indent="0" marL="0">
              <a:buNone/>
            </a:pPr>
            <a:r>
              <a:rPr lang="en-US" sz="2600" b="1" dirty="0">
                <a:solidFill>
                  <a:srgbClr val="1C1917"/>
                </a:solidFill>
                <a:latin typeface="Lexend" pitchFamily="34" charset="0"/>
                <a:ea typeface="Lexend" pitchFamily="34" charset="-122"/>
                <a:cs typeface="Lexend" pitchFamily="34" charset="-120"/>
              </a:rPr>
              <a:t>Qué recibe y qué devuelve el API</a:t>
            </a:r>
            <a:endParaRPr lang="en-US" sz="2600" dirty="0"/>
          </a:p>
        </p:txBody>
      </p:sp>
      <p:sp>
        <p:nvSpPr>
          <p:cNvPr id="3" name="Text 1"/>
          <p:cNvSpPr/>
          <p:nvPr>
            <p:ph idx="102" type="body" hasCustomPrompt="1"/>
          </p:nvPr>
        </p:nvSpPr>
        <p:spPr>
          <a:xfrm>
            <a:off x="749808" y="932688"/>
            <a:ext cx="10881360" cy="384048"/>
          </a:xfrm>
          <a:prstGeom prst="rect">
            <a:avLst/>
          </a:prstGeom>
          <a:noFill/>
          <a:ln/>
        </p:spPr>
        <p:txBody>
          <a:bodyPr wrap="square" lIns="0" tIns="0" rIns="0" bIns="0" rtlCol="0" anchor="t"/>
          <a:lstStyle/>
          <a:p>
            <a:pPr algn="l" indent="0" marL="0">
              <a:buNone/>
            </a:pPr>
            <a:r>
              <a:rPr lang="en-US" sz="1400" dirty="0">
                <a:solidFill>
                  <a:srgbClr val="57534E"/>
                </a:solidFill>
                <a:latin typeface="Quattrocento Sans" pitchFamily="34" charset="0"/>
                <a:ea typeface="Quattrocento Sans" pitchFamily="34" charset="-122"/>
                <a:cs typeface="Quattrocento Sans" pitchFamily="34" charset="-120"/>
              </a:rPr>
              <a:t>Contrato 1.7: el esquema OpenAPI sale del código, y los errores llegan en español y con su campo</a:t>
            </a:r>
            <a:endParaRPr lang="en-US" sz="1400" dirty="0"/>
          </a:p>
        </p:txBody>
      </p:sp>
      <p:graphicFrame>
        <p:nvGraphicFramePr>
          <p:cNvPr id="16" name="tabla de endpoints"/>
          <p:cNvGraphicFramePr>
            <a:graphicFrameLocks noGrp="1"/>
          </p:cNvGraphicFramePr>
          <p:nvPr>
            <p:extLst>
              <p:ext uri="{D42A27DB-BD31-4B8C-83A1-F6EECF244321}">
                <p14:modId xmlns:p14="http://schemas.microsoft.com/office/powerpoint/2010/main" val="1579011935"/>
              </p:ext>
            </p:extLst>
          </p:nvPr>
        </p:nvGraphicFramePr>
        <p:xfrm>
          <a:off x="548640" y="1508760"/>
          <a:ext cx="6400800" cy="914400"/>
        </p:xfrm>
        <a:graphic>
          <a:graphicData uri="http://schemas.openxmlformats.org/drawingml/2006/table">
            <a:tbl>
              <a:tblPr/>
              <a:tblGrid>
                <a:gridCol w="2331720"/>
                <a:gridCol w="4069080"/>
              </a:tblGrid>
              <a:tr h="0">
                <a:tc>
                  <a:txBody>
                    <a:bodyPr/>
                    <a:lstStyle/>
                    <a:p>
                      <a:pPr indent="0" marL="0">
                        <a:buNone/>
                      </a:pPr>
                      <a:r>
                        <a:rPr lang="en-US" sz="1300" b="1" dirty="0">
                          <a:solidFill>
                            <a:srgbClr val="FFFFFF"/>
                          </a:solidFill>
                          <a:latin typeface="Quattrocento Sans" pitchFamily="34" charset="0"/>
                          <a:ea typeface="Quattrocento Sans" pitchFamily="34" charset="-122"/>
                          <a:cs typeface="Quattrocento Sans" pitchFamily="34" charset="-120"/>
                        </a:rPr>
                        <a:t>Método y ruta</a:t>
                      </a:r>
                      <a:endParaRPr lang="en-US" sz="13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C2410C"/>
                    </a:solidFill>
                  </a:tcPr>
                </a:tc>
                <a:tc>
                  <a:txBody>
                    <a:bodyPr/>
                    <a:lstStyle/>
                    <a:p>
                      <a:pPr indent="0" marL="0">
                        <a:buNone/>
                      </a:pPr>
                      <a:r>
                        <a:rPr lang="en-US" sz="1300" b="1" dirty="0">
                          <a:solidFill>
                            <a:srgbClr val="FFFFFF"/>
                          </a:solidFill>
                          <a:latin typeface="Quattrocento Sans" pitchFamily="34" charset="0"/>
                          <a:ea typeface="Quattrocento Sans" pitchFamily="34" charset="-122"/>
                          <a:cs typeface="Quattrocento Sans" pitchFamily="34" charset="-120"/>
                        </a:rPr>
                        <a:t>Qué hace</a:t>
                      </a:r>
                      <a:endParaRPr lang="en-US" sz="13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C2410C"/>
                    </a:solidFill>
                  </a:tcPr>
                </a:tc>
              </a:tr>
              <a:tr h="0">
                <a:tc>
                  <a:txBody>
                    <a:bodyPr/>
                    <a:lstStyle/>
                    <a:p>
                      <a:pPr indent="0" marL="0">
                        <a:buNone/>
                      </a:pPr>
                      <a:r>
                        <a:rPr lang="en-US" sz="1300" b="1" dirty="0">
                          <a:solidFill>
                            <a:srgbClr val="1C1917"/>
                          </a:solidFill>
                          <a:latin typeface="Courier New" pitchFamily="34" charset="0"/>
                          <a:ea typeface="Courier New" pitchFamily="34" charset="-122"/>
                          <a:cs typeface="Courier New" pitchFamily="34" charset="-120"/>
                        </a:rPr>
                        <a:t>GET /v1/viajes</a:t>
                      </a:r>
                      <a:endParaRPr lang="en-US" sz="1300" dirty="0">
                        <a:latin typeface="Courier New" charset="0"/>
                        <a:ea typeface="Courier New" charset="0"/>
                        <a:cs typeface="Courier New"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AFAF9"/>
                    </a:solidFill>
                  </a:tcPr>
                </a:tc>
                <a:tc>
                  <a:txBody>
                    <a:bodyPr/>
                    <a:lstStyle/>
                    <a:p>
                      <a:pPr indent="0" marL="0">
                        <a:buNone/>
                      </a:pPr>
                      <a:r>
                        <a:rPr lang="en-US" sz="1300" dirty="0">
                          <a:solidFill>
                            <a:srgbClr val="57534E"/>
                          </a:solidFill>
                          <a:latin typeface="Quattrocento Sans" pitchFamily="34" charset="0"/>
                          <a:ea typeface="Quattrocento Sans" pitchFamily="34" charset="-122"/>
                          <a:cs typeface="Quattrocento Sans" pitchFamily="34" charset="-120"/>
                        </a:rPr>
                        <a:t>Hasta tres viajes, o el de una zona elegida</a:t>
                      </a:r>
                      <a:endParaRPr lang="en-US" sz="13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AFAF9"/>
                    </a:solidFill>
                  </a:tcPr>
                </a:tc>
              </a:tr>
              <a:tr h="0">
                <a:tc>
                  <a:txBody>
                    <a:bodyPr/>
                    <a:lstStyle/>
                    <a:p>
                      <a:pPr indent="0" marL="0">
                        <a:buNone/>
                      </a:pPr>
                      <a:r>
                        <a:rPr lang="en-US" sz="1300" b="1" dirty="0">
                          <a:solidFill>
                            <a:srgbClr val="1C1917"/>
                          </a:solidFill>
                          <a:latin typeface="Courier New" pitchFamily="34" charset="0"/>
                          <a:ea typeface="Courier New" pitchFamily="34" charset="-122"/>
                          <a:cs typeface="Courier New" pitchFamily="34" charset="-120"/>
                        </a:rPr>
                        <a:t>GET /v1/opciones</a:t>
                      </a:r>
                      <a:endParaRPr lang="en-US" sz="1300" dirty="0">
                        <a:latin typeface="Courier New" charset="0"/>
                        <a:ea typeface="Courier New" charset="0"/>
                        <a:cs typeface="Courier New"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FFFFF"/>
                    </a:solidFill>
                  </a:tcPr>
                </a:tc>
                <a:tc>
                  <a:txBody>
                    <a:bodyPr/>
                    <a:lstStyle/>
                    <a:p>
                      <a:pPr indent="0" marL="0">
                        <a:buNone/>
                      </a:pPr>
                      <a:r>
                        <a:rPr lang="en-US" sz="1300" dirty="0">
                          <a:solidFill>
                            <a:srgbClr val="57534E"/>
                          </a:solidFill>
                          <a:latin typeface="Quattrocento Sans" pitchFamily="34" charset="0"/>
                          <a:ea typeface="Quattrocento Sans" pitchFamily="34" charset="-122"/>
                          <a:cs typeface="Quattrocento Sans" pitchFamily="34" charset="-120"/>
                        </a:rPr>
                        <a:t>Orígenes, intereses y rangos del formulario</a:t>
                      </a:r>
                      <a:endParaRPr lang="en-US" sz="13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C1917"/>
                          </a:solidFill>
                          <a:latin typeface="Courier New" pitchFamily="34" charset="0"/>
                          <a:ea typeface="Courier New" pitchFamily="34" charset="-122"/>
                          <a:cs typeface="Courier New" pitchFamily="34" charset="-120"/>
                        </a:rPr>
                        <a:t>GET /v1/polos/{id}</a:t>
                      </a:r>
                      <a:endParaRPr lang="en-US" sz="1300" dirty="0">
                        <a:latin typeface="Courier New" charset="0"/>
                        <a:ea typeface="Courier New" charset="0"/>
                        <a:cs typeface="Courier New"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AFAF9"/>
                    </a:solidFill>
                  </a:tcPr>
                </a:tc>
                <a:tc>
                  <a:txBody>
                    <a:bodyPr/>
                    <a:lstStyle/>
                    <a:p>
                      <a:pPr indent="0" marL="0">
                        <a:buNone/>
                      </a:pPr>
                      <a:r>
                        <a:rPr lang="en-US" sz="1300" dirty="0">
                          <a:solidFill>
                            <a:srgbClr val="57534E"/>
                          </a:solidFill>
                          <a:latin typeface="Quattrocento Sans" pitchFamily="34" charset="0"/>
                          <a:ea typeface="Quattrocento Sans" pitchFamily="34" charset="-122"/>
                          <a:cs typeface="Quattrocento Sans" pitchFamily="34" charset="-120"/>
                        </a:rPr>
                        <a:t>Una zona: sus lugares, su clima, sus fiestas y su noche</a:t>
                      </a:r>
                      <a:endParaRPr lang="en-US" sz="13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AFAF9"/>
                    </a:solidFill>
                  </a:tcPr>
                </a:tc>
              </a:tr>
              <a:tr h="0">
                <a:tc>
                  <a:txBody>
                    <a:bodyPr/>
                    <a:lstStyle/>
                    <a:p>
                      <a:pPr indent="0" marL="0">
                        <a:buNone/>
                      </a:pPr>
                      <a:r>
                        <a:rPr lang="en-US" sz="1300" b="1" dirty="0">
                          <a:solidFill>
                            <a:srgbClr val="1C1917"/>
                          </a:solidFill>
                          <a:latin typeface="Courier New" pitchFamily="34" charset="0"/>
                          <a:ea typeface="Courier New" pitchFamily="34" charset="-122"/>
                          <a:cs typeface="Courier New" pitchFamily="34" charset="-120"/>
                        </a:rPr>
                        <a:t>GET /v1/eventos</a:t>
                      </a:r>
                      <a:endParaRPr lang="en-US" sz="1300" dirty="0">
                        <a:latin typeface="Courier New" charset="0"/>
                        <a:ea typeface="Courier New" charset="0"/>
                        <a:cs typeface="Courier New"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FFFFF"/>
                    </a:solidFill>
                  </a:tcPr>
                </a:tc>
                <a:tc>
                  <a:txBody>
                    <a:bodyPr/>
                    <a:lstStyle/>
                    <a:p>
                      <a:pPr indent="0" marL="0">
                        <a:buNone/>
                      </a:pPr>
                      <a:r>
                        <a:rPr lang="en-US" sz="1300" dirty="0">
                          <a:solidFill>
                            <a:srgbClr val="57534E"/>
                          </a:solidFill>
                          <a:latin typeface="Quattrocento Sans" pitchFamily="34" charset="0"/>
                          <a:ea typeface="Quattrocento Sans" pitchFamily="34" charset="-122"/>
                          <a:cs typeface="Quattrocento Sans" pitchFamily="34" charset="-120"/>
                        </a:rPr>
                        <a:t>Fiestas y eventos entre dos fechas</a:t>
                      </a:r>
                      <a:endParaRPr lang="en-US" sz="13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1C1917"/>
                          </a:solidFill>
                          <a:latin typeface="Courier New" pitchFamily="34" charset="0"/>
                          <a:ea typeface="Courier New" pitchFamily="34" charset="-122"/>
                          <a:cs typeface="Courier New" pitchFamily="34" charset="-120"/>
                        </a:rPr>
                        <a:t>POST /v1/eventos</a:t>
                      </a:r>
                      <a:endParaRPr lang="en-US" sz="1300" dirty="0">
                        <a:latin typeface="Courier New" charset="0"/>
                        <a:ea typeface="Courier New" charset="0"/>
                        <a:cs typeface="Courier New"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AFAF9"/>
                    </a:solidFill>
                  </a:tcPr>
                </a:tc>
                <a:tc>
                  <a:txBody>
                    <a:bodyPr/>
                    <a:lstStyle/>
                    <a:p>
                      <a:pPr indent="0" marL="0">
                        <a:buNone/>
                      </a:pPr>
                      <a:r>
                        <a:rPr lang="en-US" sz="1300" dirty="0">
                          <a:solidFill>
                            <a:srgbClr val="57534E"/>
                          </a:solidFill>
                          <a:latin typeface="Quattrocento Sans" pitchFamily="34" charset="0"/>
                          <a:ea typeface="Quattrocento Sans" pitchFamily="34" charset="-122"/>
                          <a:cs typeface="Quattrocento Sans" pitchFamily="34" charset="-120"/>
                        </a:rPr>
                        <a:t>Un municipio publica un evento, con su clave</a:t>
                      </a:r>
                      <a:endParaRPr lang="en-US" sz="13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AFAF9"/>
                    </a:solidFill>
                  </a:tcPr>
                </a:tc>
              </a:tr>
              <a:tr h="0">
                <a:tc>
                  <a:txBody>
                    <a:bodyPr/>
                    <a:lstStyle/>
                    <a:p>
                      <a:pPr indent="0" marL="0">
                        <a:buNone/>
                      </a:pPr>
                      <a:r>
                        <a:rPr lang="en-US" sz="1300" b="1" dirty="0">
                          <a:solidFill>
                            <a:srgbClr val="1C1917"/>
                          </a:solidFill>
                          <a:latin typeface="Courier New" pitchFamily="34" charset="0"/>
                          <a:ea typeface="Courier New" pitchFamily="34" charset="-122"/>
                          <a:cs typeface="Courier New" pitchFamily="34" charset="-120"/>
                        </a:rPr>
                        <a:t>GET /v1/salud</a:t>
                      </a:r>
                      <a:endParaRPr lang="en-US" sz="1300" dirty="0">
                        <a:latin typeface="Courier New" charset="0"/>
                        <a:ea typeface="Courier New" charset="0"/>
                        <a:cs typeface="Courier New"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FFFFF"/>
                    </a:solidFill>
                  </a:tcPr>
                </a:tc>
                <a:tc>
                  <a:txBody>
                    <a:bodyPr/>
                    <a:lstStyle/>
                    <a:p>
                      <a:pPr indent="0" marL="0">
                        <a:buNone/>
                      </a:pPr>
                      <a:r>
                        <a:rPr lang="en-US" sz="1300" dirty="0">
                          <a:solidFill>
                            <a:srgbClr val="57534E"/>
                          </a:solidFill>
                          <a:latin typeface="Quattrocento Sans" pitchFamily="34" charset="0"/>
                          <a:ea typeface="Quattrocento Sans" pitchFamily="34" charset="-122"/>
                          <a:cs typeface="Quattrocento Sans" pitchFamily="34" charset="-120"/>
                        </a:rPr>
                        <a:t>Versión del servicio, del contrato y de los datos</a:t>
                      </a:r>
                      <a:endParaRPr lang="en-US" sz="130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FFFFF"/>
                    </a:solidFill>
                  </a:tcPr>
                </a:tc>
              </a:tr>
            </a:tbl>
          </a:graphicData>
        </a:graphic>
      </p:graphicFrame>
      <p:sp>
        <p:nvSpPr>
          <p:cNvPr id="5" name="una consulta"/>
          <p:cNvSpPr/>
          <p:nvPr/>
        </p:nvSpPr>
        <p:spPr>
          <a:xfrm>
            <a:off x="7269480" y="1508760"/>
            <a:ext cx="4370832" cy="4526280"/>
          </a:xfrm>
          <a:prstGeom prst="roundRect">
            <a:avLst>
              <a:gd name="adj" fmla="val 2510"/>
            </a:avLst>
          </a:prstGeom>
          <a:solidFill>
            <a:srgbClr val="F5F5F4"/>
          </a:solidFill>
          <a:ln w="12700">
            <a:solidFill>
              <a:srgbClr val="E7E5E4"/>
            </a:solidFill>
            <a:prstDash val="solid"/>
          </a:ln>
        </p:spPr>
      </p:sp>
      <p:sp>
        <p:nvSpPr>
          <p:cNvPr id="6" name="Text 3"/>
          <p:cNvSpPr txBox="1"/>
          <p:nvPr/>
        </p:nvSpPr>
        <p:spPr>
          <a:xfrm>
            <a:off x="7498080" y="1691640"/>
            <a:ext cx="3931920" cy="365760"/>
          </a:xfrm>
          <a:prstGeom prst="rect">
            <a:avLst/>
          </a:prstGeom>
          <a:noFill/>
          <a:ln/>
        </p:spPr>
        <p:txBody>
          <a:bodyPr wrap="square" lIns="0" tIns="0" rIns="0" bIns="0" rtlCol="0" anchor="t"/>
          <a:lstStyle/>
          <a:p>
            <a:pPr indent="0" marL="0">
              <a:buNone/>
            </a:pPr>
            <a:r>
              <a:rPr lang="en-US" sz="1600" b="1" dirty="0">
                <a:solidFill>
                  <a:srgbClr val="1C1917"/>
                </a:solidFill>
                <a:latin typeface="Lexend" pitchFamily="34" charset="0"/>
                <a:ea typeface="Lexend" pitchFamily="34" charset="-122"/>
                <a:cs typeface="Lexend" pitchFamily="34" charset="-120"/>
              </a:rPr>
              <a:t>Una consulta</a:t>
            </a:r>
            <a:endParaRPr lang="en-US" sz="1600" dirty="0"/>
          </a:p>
        </p:txBody>
      </p:sp>
      <p:sp>
        <p:nvSpPr>
          <p:cNvPr id="7" name="Text 4"/>
          <p:cNvSpPr txBox="1"/>
          <p:nvPr/>
        </p:nvSpPr>
        <p:spPr>
          <a:xfrm>
            <a:off x="7498080" y="2103120"/>
            <a:ext cx="4023360" cy="822960"/>
          </a:xfrm>
          <a:prstGeom prst="rect">
            <a:avLst/>
          </a:prstGeom>
          <a:noFill/>
          <a:ln/>
        </p:spPr>
        <p:txBody>
          <a:bodyPr wrap="square" lIns="0" tIns="0" rIns="0" bIns="0" rtlCol="0" anchor="t"/>
          <a:lstStyle/>
          <a:p>
            <a:pPr indent="0" marL="0">
              <a:buNone/>
            </a:pPr>
            <a:r>
              <a:rPr lang="en-US" sz="1150" dirty="0">
                <a:solidFill>
                  <a:srgbClr val="0B5C80"/>
                </a:solidFill>
                <a:latin typeface="Courier New" pitchFamily="34" charset="0"/>
                <a:ea typeface="Courier New" pitchFamily="34" charset="-122"/>
                <a:cs typeface="Courier New" pitchFamily="34" charset="-120"/>
              </a:rPr>
              <a:t>GET /v1/viajes?origen=lima&amp;mes=7&amp;dias=4</a:t>
            </a:r>
            <a:endParaRPr lang="en-US" sz="1150" dirty="0"/>
          </a:p>
          <a:p>
            <a:pPr indent="0" marL="0">
              <a:buNone/>
            </a:pPr>
            <a:r>
              <a:rPr lang="en-US" sz="1150" dirty="0">
                <a:solidFill>
                  <a:srgbClr val="0B5C80"/>
                </a:solidFill>
                <a:latin typeface="Courier New" pitchFamily="34" charset="0"/>
                <a:ea typeface="Courier New" pitchFamily="34" charset="-122"/>
                <a:cs typeface="Courier New" pitchFamily="34" charset="-120"/>
              </a:rPr>
              <a:t>&amp;intereses=naturaleza&amp;intereses=caminatas</a:t>
            </a:r>
            <a:endParaRPr lang="en-US" sz="1150" dirty="0"/>
          </a:p>
          <a:p>
            <a:pPr indent="0" marL="0">
              <a:buNone/>
            </a:pPr>
            <a:r>
              <a:rPr lang="en-US" sz="1150" dirty="0">
                <a:solidFill>
                  <a:srgbClr val="0B5C80"/>
                </a:solidFill>
                <a:latin typeface="Courier New" pitchFamily="34" charset="0"/>
                <a:ea typeface="Courier New" pitchFamily="34" charset="-122"/>
                <a:cs typeface="Courier New" pitchFamily="34" charset="-120"/>
              </a:rPr>
              <a:t>&amp;presupuesto=1000</a:t>
            </a:r>
            <a:endParaRPr lang="en-US" sz="1150" dirty="0"/>
          </a:p>
        </p:txBody>
      </p:sp>
      <p:sp>
        <p:nvSpPr>
          <p:cNvPr id="8" name="Text 5"/>
          <p:cNvSpPr txBox="1"/>
          <p:nvPr/>
        </p:nvSpPr>
        <p:spPr>
          <a:xfrm>
            <a:off x="7498080" y="3017520"/>
            <a:ext cx="3931920" cy="320040"/>
          </a:xfrm>
          <a:prstGeom prst="rect">
            <a:avLst/>
          </a:prstGeom>
          <a:noFill/>
          <a:ln/>
        </p:spPr>
        <p:txBody>
          <a:bodyPr wrap="square" lIns="0" tIns="0" rIns="0" bIns="0" rtlCol="0" anchor="t"/>
          <a:lstStyle/>
          <a:p>
            <a:pPr indent="0" marL="0">
              <a:buNone/>
            </a:pPr>
            <a:r>
              <a:rPr lang="en-US" sz="1400" b="1" dirty="0">
                <a:solidFill>
                  <a:srgbClr val="1C1917"/>
                </a:solidFill>
                <a:latin typeface="Quattrocento Sans" pitchFamily="34" charset="0"/>
                <a:ea typeface="Quattrocento Sans" pitchFamily="34" charset="-122"/>
                <a:cs typeface="Quattrocento Sans" pitchFamily="34" charset="-120"/>
              </a:rPr>
              <a:t>Cada uno de los tres viajes trae</a:t>
            </a:r>
            <a:endParaRPr lang="en-US" sz="1400" dirty="0"/>
          </a:p>
        </p:txBody>
      </p:sp>
      <p:sp>
        <p:nvSpPr>
          <p:cNvPr id="9" name="Text 6"/>
          <p:cNvSpPr txBox="1"/>
          <p:nvPr/>
        </p:nvSpPr>
        <p:spPr>
          <a:xfrm>
            <a:off x="7498080" y="3364992"/>
            <a:ext cx="4023360" cy="2103120"/>
          </a:xfrm>
          <a:prstGeom prst="rect">
            <a:avLst/>
          </a:prstGeom>
          <a:noFill/>
          <a:ln/>
        </p:spPr>
        <p:txBody>
          <a:bodyPr wrap="square" lIns="0" tIns="0" rIns="0" bIns="0" rtlCol="0" anchor="t"/>
          <a:lstStyle/>
          <a:p>
            <a:pPr marL="203200" indent="-203200">
              <a:spcAft>
                <a:spcPts val="400"/>
              </a:spcAft>
              <a:buSzPct val="100000"/>
              <a:buChar char="•"/>
            </a:pPr>
            <a:r>
              <a:rPr lang="en-US" sz="1300" dirty="0">
                <a:solidFill>
                  <a:srgbClr val="57534E"/>
                </a:solidFill>
                <a:latin typeface="Quattrocento Sans" pitchFamily="34" charset="0"/>
                <a:ea typeface="Quattrocento Sans" pitchFamily="34" charset="-122"/>
                <a:cs typeface="Quattrocento Sans" pitchFamily="34" charset="-120"/>
              </a:rPr>
              <a:t>la zona y el pueblo donde se duerme</a:t>
            </a:r>
            <a:endParaRPr lang="en-US" sz="1300" dirty="0"/>
          </a:p>
          <a:p>
            <a:pPr marL="203200" indent="-203200">
              <a:spcAft>
                <a:spcPts val="400"/>
              </a:spcAft>
              <a:buSzPct val="100000"/>
              <a:buChar char="•"/>
            </a:pPr>
            <a:r>
              <a:rPr lang="en-US" sz="1300" dirty="0">
                <a:solidFill>
                  <a:srgbClr val="57534E"/>
                </a:solidFill>
                <a:latin typeface="Quattrocento Sans" pitchFamily="34" charset="0"/>
                <a:ea typeface="Quattrocento Sans" pitchFamily="34" charset="-122"/>
                <a:cs typeface="Quattrocento Sans" pitchFamily="34" charset="-120"/>
              </a:rPr>
              <a:t>cómo se llega: bus, bus de noche, avión, tren o bote</a:t>
            </a:r>
            <a:endParaRPr lang="en-US" sz="1300" dirty="0"/>
          </a:p>
          <a:p>
            <a:pPr marL="203200" indent="-203200">
              <a:spcAft>
                <a:spcPts val="400"/>
              </a:spcAft>
              <a:buSzPct val="100000"/>
              <a:buChar char="•"/>
            </a:pPr>
            <a:r>
              <a:rPr lang="en-US" sz="1300" dirty="0">
                <a:solidFill>
                  <a:srgbClr val="57534E"/>
                </a:solidFill>
                <a:latin typeface="Quattrocento Sans" pitchFamily="34" charset="0"/>
                <a:ea typeface="Quattrocento Sans" pitchFamily="34" charset="-122"/>
                <a:cs typeface="Quattrocento Sans" pitchFamily="34" charset="-120"/>
              </a:rPr>
              <a:t>los días: cada parada con su hora, el almuerzo y la noche</a:t>
            </a:r>
            <a:endParaRPr lang="en-US" sz="1300" dirty="0"/>
          </a:p>
          <a:p>
            <a:pPr marL="203200" indent="-203200">
              <a:spcAft>
                <a:spcPts val="400"/>
              </a:spcAft>
              <a:buSzPct val="100000"/>
              <a:buChar char="•"/>
            </a:pPr>
            <a:r>
              <a:rPr lang="en-US" sz="1300" dirty="0">
                <a:solidFill>
                  <a:srgbClr val="57534E"/>
                </a:solidFill>
                <a:latin typeface="Quattrocento Sans" pitchFamily="34" charset="0"/>
                <a:ea typeface="Quattrocento Sans" pitchFamily="34" charset="-122"/>
                <a:cs typeface="Quattrocento Sans" pitchFamily="34" charset="-120"/>
              </a:rPr>
              <a:t>el costo: percentiles 20, 50 y 80, con su desglose</a:t>
            </a:r>
            <a:endParaRPr lang="en-US" sz="1300" dirty="0"/>
          </a:p>
          <a:p>
            <a:pPr marL="203200" indent="-203200">
              <a:spcAft>
                <a:spcPts val="400"/>
              </a:spcAft>
              <a:buSzPct val="100000"/>
              <a:buChar char="•"/>
            </a:pPr>
            <a:r>
              <a:rPr lang="en-US" sz="1300" dirty="0">
                <a:solidFill>
                  <a:srgbClr val="57534E"/>
                </a:solidFill>
                <a:latin typeface="Quattrocento Sans" pitchFamily="34" charset="0"/>
                <a:ea typeface="Quattrocento Sans" pitchFamily="34" charset="-122"/>
                <a:cs typeface="Quattrocento Sans" pitchFamily="34" charset="-120"/>
              </a:rPr>
              <a:t>el clima del mes, los eventos, los avisos y los motivos</a:t>
            </a:r>
            <a:endParaRPr lang="en-US" sz="1300" dirty="0"/>
          </a:p>
        </p:txBody>
      </p:sp>
      <p:sp>
        <p:nvSpPr>
          <p:cNvPr id="10" name="Text 7"/>
          <p:cNvSpPr txBox="1"/>
          <p:nvPr/>
        </p:nvSpPr>
        <p:spPr>
          <a:xfrm>
            <a:off x="7498080" y="5532120"/>
            <a:ext cx="3931920" cy="365760"/>
          </a:xfrm>
          <a:prstGeom prst="rect">
            <a:avLst/>
          </a:prstGeom>
          <a:noFill/>
          <a:ln/>
        </p:spPr>
        <p:txBody>
          <a:bodyPr wrap="square" lIns="0" tIns="0" rIns="0" bIns="0" rtlCol="0" anchor="t"/>
          <a:lstStyle/>
          <a:p>
            <a:pPr indent="0" marL="0">
              <a:buNone/>
            </a:pPr>
            <a:r>
              <a:rPr lang="en-US" sz="1400" b="1" dirty="0">
                <a:solidFill>
                  <a:srgbClr val="0D9488"/>
                </a:solidFill>
                <a:latin typeface="Quattrocento Sans" pitchFamily="34" charset="0"/>
                <a:ea typeface="Quattrocento Sans" pitchFamily="34" charset="-122"/>
                <a:cs typeface="Quattrocento Sans" pitchFamily="34" charset="-120"/>
              </a:rPr>
              <a:t>Responde en 0,4 s de mediana.</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latin typeface="Quattrocento Sans"/>
                <a:ea typeface="Quattrocento Sans"/>
                <a:cs typeface="Quattrocento Sans"/>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749808" y="310896"/>
            <a:ext cx="10881360" cy="658368"/>
          </a:xfrm>
          <a:prstGeom prst="rect">
            <a:avLst/>
          </a:prstGeom>
          <a:noFill/>
          <a:ln/>
        </p:spPr>
        <p:txBody>
          <a:bodyPr wrap="square" lIns="0" tIns="0" rIns="0" bIns="0" rtlCol="0" anchor="ctr"/>
          <a:lstStyle/>
          <a:p>
            <a:pPr algn="l" indent="0" marL="0">
              <a:buNone/>
            </a:pPr>
            <a:r>
              <a:rPr lang="en-US" sz="2600" b="1" dirty="0">
                <a:solidFill>
                  <a:srgbClr val="1C1917"/>
                </a:solidFill>
                <a:latin typeface="Lexend" pitchFamily="34" charset="0"/>
                <a:ea typeface="Lexend" pitchFamily="34" charset="-122"/>
                <a:cs typeface="Lexend" pitchFamily="34" charset="-120"/>
              </a:rPr>
              <a:t>Cómo arma un viaje</a:t>
            </a:r>
            <a:endParaRPr lang="en-US" sz="2600" dirty="0"/>
          </a:p>
        </p:txBody>
      </p:sp>
      <p:sp>
        <p:nvSpPr>
          <p:cNvPr id="3" name="Text 1"/>
          <p:cNvSpPr/>
          <p:nvPr>
            <p:ph idx="102" type="body" hasCustomPrompt="1"/>
          </p:nvPr>
        </p:nvSpPr>
        <p:spPr>
          <a:xfrm>
            <a:off x="749808" y="932688"/>
            <a:ext cx="10881360" cy="384048"/>
          </a:xfrm>
          <a:prstGeom prst="rect">
            <a:avLst/>
          </a:prstGeom>
          <a:noFill/>
          <a:ln/>
        </p:spPr>
        <p:txBody>
          <a:bodyPr wrap="square" lIns="0" tIns="0" rIns="0" bIns="0" rtlCol="0" anchor="t"/>
          <a:lstStyle/>
          <a:p>
            <a:pPr algn="l" indent="0" marL="0">
              <a:buNone/>
            </a:pPr>
            <a:r>
              <a:rPr lang="en-US" sz="1400" dirty="0">
                <a:solidFill>
                  <a:srgbClr val="57534E"/>
                </a:solidFill>
                <a:latin typeface="Quattrocento Sans" pitchFamily="34" charset="0"/>
                <a:ea typeface="Quattrocento Sans" pitchFamily="34" charset="-122"/>
                <a:cs typeface="Quattrocento Sans" pitchFamily="34" charset="-120"/>
              </a:rPr>
              <a:t>Una estrella: se duerme en un pueblo y cada día sale un paseo que vuelve a él</a:t>
            </a:r>
            <a:endParaRPr lang="en-US" sz="1400" dirty="0"/>
          </a:p>
        </p:txBody>
      </p:sp>
      <p:sp>
        <p:nvSpPr>
          <p:cNvPr id="4" name="Text 2"/>
          <p:cNvSpPr txBox="1"/>
          <p:nvPr/>
        </p:nvSpPr>
        <p:spPr>
          <a:xfrm>
            <a:off x="548640" y="1600200"/>
            <a:ext cx="7040880" cy="4572000"/>
          </a:xfrm>
          <a:prstGeom prst="rect">
            <a:avLst/>
          </a:prstGeom>
          <a:noFill/>
          <a:ln/>
        </p:spPr>
        <p:txBody>
          <a:bodyPr wrap="square" lIns="0" tIns="0" rIns="0" bIns="0" rtlCol="0" anchor="t"/>
          <a:lstStyle/>
          <a:p>
            <a:pPr indent="0" marL="0">
              <a:buNone/>
            </a:pPr>
            <a:r>
              <a:rPr lang="en-US" sz="1550" b="1" dirty="0">
                <a:solidFill>
                  <a:srgbClr val="1C1917"/>
                </a:solidFill>
                <a:latin typeface="Quattrocento Sans" pitchFamily="34" charset="0"/>
                <a:ea typeface="Quattrocento Sans" pitchFamily="34" charset="-122"/>
                <a:cs typeface="Quattrocento Sans" pitchFamily="34" charset="-120"/>
              </a:rPr>
              <a:t>Un polo es lo que se visita desde un pueblo. </a:t>
            </a:r>
            <a:pPr indent="0" marL="0">
              <a:spcAft>
                <a:spcPts val="1600"/>
              </a:spcAft>
              <a:buNone/>
            </a:pPr>
            <a:r>
              <a:rPr lang="en-US" sz="1550" dirty="0">
                <a:solidFill>
                  <a:srgbClr val="57534E"/>
                </a:solidFill>
                <a:latin typeface="Quattrocento Sans" pitchFamily="34" charset="0"/>
                <a:ea typeface="Quattrocento Sans" pitchFamily="34" charset="-122"/>
                <a:cs typeface="Quattrocento Sans" pitchFamily="34" charset="-120"/>
              </a:rPr>
              <a:t>De 222 grupos, los que duermen en el mismo pueblo son uno solo: 194 polos.</a:t>
            </a:r>
            <a:endParaRPr lang="en-US" sz="1550" dirty="0"/>
          </a:p>
          <a:p>
            <a:pPr indent="0" marL="0">
              <a:buNone/>
            </a:pPr>
            <a:r>
              <a:rPr lang="en-US" sz="1550" b="1" dirty="0">
                <a:solidFill>
                  <a:srgbClr val="1C1917"/>
                </a:solidFill>
                <a:latin typeface="Quattrocento Sans" pitchFamily="34" charset="0"/>
                <a:ea typeface="Quattrocento Sans" pitchFamily="34" charset="-122"/>
                <a:cs typeface="Quattrocento Sans" pitchFamily="34" charset="-120"/>
              </a:rPr>
              <a:t>Cómo se llega. </a:t>
            </a:r>
            <a:pPr indent="0" marL="0">
              <a:spcAft>
                <a:spcPts val="1600"/>
              </a:spcAft>
              <a:buNone/>
            </a:pPr>
            <a:r>
              <a:rPr lang="en-US" sz="1550" dirty="0">
                <a:solidFill>
                  <a:srgbClr val="57534E"/>
                </a:solidFill>
                <a:latin typeface="Quattrocento Sans" pitchFamily="34" charset="0"/>
                <a:ea typeface="Quattrocento Sans" pitchFamily="34" charset="-122"/>
                <a:cs typeface="Quattrocento Sans" pitchFamily="34" charset="-120"/>
              </a:rPr>
              <a:t>Se vuela solo a lo lejano, si por tierra la ida pasa de 16 horas; de 7 a 16, va en bus de noche.</a:t>
            </a:r>
            <a:endParaRPr lang="en-US" sz="1550" dirty="0"/>
          </a:p>
          <a:p>
            <a:pPr indent="0" marL="0">
              <a:buNone/>
            </a:pPr>
            <a:r>
              <a:rPr lang="en-US" sz="1550" b="1" dirty="0">
                <a:solidFill>
                  <a:srgbClr val="1C1917"/>
                </a:solidFill>
                <a:latin typeface="Quattrocento Sans" pitchFamily="34" charset="0"/>
                <a:ea typeface="Quattrocento Sans" pitchFamily="34" charset="-122"/>
                <a:cs typeface="Quattrocento Sans" pitchFamily="34" charset="-120"/>
              </a:rPr>
              <a:t>Días con límite. </a:t>
            </a:r>
            <a:pPr indent="0" marL="0">
              <a:spcAft>
                <a:spcPts val="1600"/>
              </a:spcAft>
              <a:buNone/>
            </a:pPr>
            <a:r>
              <a:rPr lang="en-US" sz="1550" dirty="0">
                <a:solidFill>
                  <a:srgbClr val="57534E"/>
                </a:solidFill>
                <a:latin typeface="Quattrocento Sans" pitchFamily="34" charset="0"/>
                <a:ea typeface="Quattrocento Sans" pitchFamily="34" charset="-122"/>
                <a:cs typeface="Quattrocento Sans" pitchFamily="34" charset="-120"/>
              </a:rPr>
              <a:t>Hasta 8 horas con visitas, más una de almuerzo, y 9 de solo viaje. El primer día en la altura, medio día.</a:t>
            </a:r>
            <a:endParaRPr lang="en-US" sz="1550" dirty="0"/>
          </a:p>
          <a:p>
            <a:pPr indent="0" marL="0">
              <a:buNone/>
            </a:pPr>
            <a:r>
              <a:rPr lang="en-US" sz="1550" b="1" dirty="0">
                <a:solidFill>
                  <a:srgbClr val="1C1917"/>
                </a:solidFill>
                <a:latin typeface="Quattrocento Sans" pitchFamily="34" charset="0"/>
                <a:ea typeface="Quattrocento Sans" pitchFamily="34" charset="-122"/>
                <a:cs typeface="Quattrocento Sans" pitchFamily="34" charset="-120"/>
              </a:rPr>
              <a:t>Qué visitar y en qué orden. </a:t>
            </a:r>
            <a:pPr indent="0" marL="0">
              <a:spcAft>
                <a:spcPts val="1600"/>
              </a:spcAft>
              <a:buNone/>
            </a:pPr>
            <a:r>
              <a:rPr lang="en-US" sz="1550" dirty="0">
                <a:solidFill>
                  <a:srgbClr val="57534E"/>
                </a:solidFill>
                <a:latin typeface="Quattrocento Sans" pitchFamily="34" charset="0"/>
                <a:ea typeface="Quattrocento Sans" pitchFamily="34" charset="-122"/>
                <a:cs typeface="Quattrocento Sans" pitchFamily="34" charset="-120"/>
              </a:rPr>
              <a:t>Inserción voraz, 2-opt y tres arranques: se queda el de más valor.</a:t>
            </a:r>
            <a:endParaRPr lang="en-US" sz="1550" dirty="0"/>
          </a:p>
          <a:p>
            <a:pPr indent="0" marL="0">
              <a:buNone/>
            </a:pPr>
            <a:r>
              <a:rPr lang="en-US" sz="1550" b="1" dirty="0">
                <a:solidFill>
                  <a:srgbClr val="1C1917"/>
                </a:solidFill>
                <a:latin typeface="Quattrocento Sans" pitchFamily="34" charset="0"/>
                <a:ea typeface="Quattrocento Sans" pitchFamily="34" charset="-122"/>
                <a:cs typeface="Quattrocento Sans" pitchFamily="34" charset="-120"/>
              </a:rPr>
              <a:t>El puntaje: </a:t>
            </a:r>
            <a:pPr indent="0" marL="0">
              <a:spcAft>
                <a:spcPts val="1600"/>
              </a:spcAft>
              <a:buNone/>
            </a:pPr>
            <a:r>
              <a:rPr lang="en-US" sz="1550" dirty="0">
                <a:solidFill>
                  <a:srgbClr val="57534E"/>
                </a:solidFill>
                <a:latin typeface="Quattrocento Sans" pitchFamily="34" charset="0"/>
                <a:ea typeface="Quattrocento Sans" pitchFamily="34" charset="-122"/>
                <a:cs typeface="Quattrocento Sans" pitchFamily="34" charset="-120"/>
              </a:rPr>
              <a:t>70 % calidad, con la temporada y el presupuesto, y 30 % novedad. No se propone un viaje con más días en el camino que allá.</a:t>
            </a:r>
            <a:endParaRPr lang="en-US" sz="1550" dirty="0"/>
          </a:p>
        </p:txBody>
      </p:sp>
      <p:pic>
        <p:nvPicPr>
          <p:cNvPr id="5" name="mapa_machu_picchu.png" descr="Mapa del viaje a Machupicchu Pueblo, con un pétalo por día">    </p:cNvPr>
          <p:cNvPicPr>
            <a:picLocks noChangeAspect="1"/>
          </p:cNvPicPr>
          <p:nvPr/>
        </p:nvPicPr>
        <p:blipFill>
          <a:blip r:embed="rId1"/>
          <a:stretch>
            <a:fillRect/>
          </a:stretch>
        </p:blipFill>
        <p:spPr>
          <a:xfrm>
            <a:off x="8321040" y="1463040"/>
            <a:ext cx="2722893" cy="4343400"/>
          </a:xfrm>
          <a:prstGeom prst="rect">
            <a:avLst/>
          </a:prstGeom>
        </p:spPr>
      </p:pic>
      <p:sp>
        <p:nvSpPr>
          <p:cNvPr id="6" name="Text 3"/>
          <p:cNvSpPr txBox="1"/>
          <p:nvPr/>
        </p:nvSpPr>
        <p:spPr>
          <a:xfrm>
            <a:off x="7772400" y="5897880"/>
            <a:ext cx="3867912" cy="320040"/>
          </a:xfrm>
          <a:prstGeom prst="rect">
            <a:avLst/>
          </a:prstGeom>
          <a:noFill/>
          <a:ln/>
        </p:spPr>
        <p:txBody>
          <a:bodyPr wrap="square" lIns="0" tIns="0" rIns="0" bIns="0" rtlCol="0" anchor="t"/>
          <a:lstStyle/>
          <a:p>
            <a:pPr algn="ctr" indent="0" marL="0">
              <a:buNone/>
            </a:pPr>
            <a:r>
              <a:rPr lang="en-US" sz="1200" dirty="0">
                <a:solidFill>
                  <a:srgbClr val="78716C"/>
                </a:solidFill>
                <a:latin typeface="Quattrocento Sans" pitchFamily="34" charset="0"/>
                <a:ea typeface="Quattrocento Sans" pitchFamily="34" charset="-122"/>
                <a:cs typeface="Quattrocento Sans" pitchFamily="34" charset="-120"/>
              </a:rPr>
              <a:t>Machupicchu Pueblo: un pétalo por cada día allá</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latin typeface="Quattrocento Sans"/>
                <a:ea typeface="Quattrocento Sans"/>
                <a:cs typeface="Quattrocento Sans"/>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749808" y="310896"/>
            <a:ext cx="10881360" cy="658368"/>
          </a:xfrm>
          <a:prstGeom prst="rect">
            <a:avLst/>
          </a:prstGeom>
          <a:noFill/>
          <a:ln/>
        </p:spPr>
        <p:txBody>
          <a:bodyPr wrap="square" lIns="0" tIns="0" rIns="0" bIns="0" rtlCol="0" anchor="ctr"/>
          <a:lstStyle/>
          <a:p>
            <a:pPr algn="l" indent="0" marL="0">
              <a:buNone/>
            </a:pPr>
            <a:r>
              <a:rPr lang="en-US" sz="2600" b="1" dirty="0">
                <a:solidFill>
                  <a:srgbClr val="1C1917"/>
                </a:solidFill>
                <a:latin typeface="Lexend" pitchFamily="34" charset="0"/>
                <a:ea typeface="Lexend" pitchFamily="34" charset="-122"/>
                <a:cs typeface="Lexend" pitchFamily="34" charset="-120"/>
              </a:rPr>
              <a:t>Catorce garantías en cada respuesta</a:t>
            </a:r>
            <a:endParaRPr lang="en-US" sz="2600" dirty="0"/>
          </a:p>
        </p:txBody>
      </p:sp>
      <p:sp>
        <p:nvSpPr>
          <p:cNvPr id="3" name="Text 1"/>
          <p:cNvSpPr/>
          <p:nvPr>
            <p:ph idx="102" type="body" hasCustomPrompt="1"/>
          </p:nvPr>
        </p:nvSpPr>
        <p:spPr>
          <a:xfrm>
            <a:off x="749808" y="932688"/>
            <a:ext cx="10881360" cy="384048"/>
          </a:xfrm>
          <a:prstGeom prst="rect">
            <a:avLst/>
          </a:prstGeom>
          <a:noFill/>
          <a:ln/>
        </p:spPr>
        <p:txBody>
          <a:bodyPr wrap="square" lIns="0" tIns="0" rIns="0" bIns="0" rtlCol="0" anchor="t"/>
          <a:lstStyle/>
          <a:p>
            <a:pPr algn="l" indent="0" marL="0">
              <a:buNone/>
            </a:pPr>
            <a:r>
              <a:rPr lang="en-US" sz="1400" dirty="0">
                <a:solidFill>
                  <a:srgbClr val="57534E"/>
                </a:solidFill>
                <a:latin typeface="Quattrocento Sans" pitchFamily="34" charset="0"/>
                <a:ea typeface="Quattrocento Sans" pitchFamily="34" charset="-122"/>
                <a:cs typeface="Quattrocento Sans" pitchFamily="34" charset="-120"/>
              </a:rPr>
              <a:t>Son propiedades, no intenciones: las pruebas las verifican sobre 1 000 consultas generadas al azar</a:t>
            </a:r>
            <a:endParaRPr lang="en-US" sz="1400" dirty="0"/>
          </a:p>
        </p:txBody>
      </p:sp>
      <p:sp>
        <p:nvSpPr>
          <p:cNvPr id="4" name="propiedad 1"/>
          <p:cNvSpPr/>
          <p:nvPr/>
        </p:nvSpPr>
        <p:spPr>
          <a:xfrm>
            <a:off x="548640" y="1554480"/>
            <a:ext cx="384048" cy="384048"/>
          </a:xfrm>
          <a:prstGeom prst="ellipse">
            <a:avLst/>
          </a:prstGeom>
          <a:solidFill>
            <a:srgbClr val="0D9488"/>
          </a:solidFill>
          <a:ln w="12700">
            <a:solidFill>
              <a:srgbClr val="0D9488"/>
            </a:solidFill>
            <a:prstDash val="solid"/>
          </a:ln>
        </p:spPr>
      </p:sp>
      <p:sp>
        <p:nvSpPr>
          <p:cNvPr id="5" name="Text 3"/>
          <p:cNvSpPr txBox="1"/>
          <p:nvPr/>
        </p:nvSpPr>
        <p:spPr>
          <a:xfrm>
            <a:off x="548640" y="155448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Lexend" pitchFamily="34" charset="0"/>
                <a:ea typeface="Lexend" pitchFamily="34" charset="-122"/>
                <a:cs typeface="Lexend" pitchFamily="34" charset="-120"/>
              </a:rPr>
              <a:t>1</a:t>
            </a:r>
            <a:endParaRPr lang="en-US" sz="1200" dirty="0"/>
          </a:p>
        </p:txBody>
      </p:sp>
      <p:sp>
        <p:nvSpPr>
          <p:cNvPr id="6" name="Text 4"/>
          <p:cNvSpPr txBox="1"/>
          <p:nvPr/>
        </p:nvSpPr>
        <p:spPr>
          <a:xfrm>
            <a:off x="1115568" y="1609344"/>
            <a:ext cx="4937760" cy="457200"/>
          </a:xfrm>
          <a:prstGeom prst="rect">
            <a:avLst/>
          </a:prstGeom>
          <a:noFill/>
          <a:ln/>
        </p:spPr>
        <p:txBody>
          <a:bodyPr wrap="square" lIns="0" tIns="0" rIns="0" bIns="0" rtlCol="0" anchor="t"/>
          <a:lstStyle/>
          <a:p>
            <a:pPr indent="0" marL="0">
              <a:buNone/>
            </a:pPr>
            <a:r>
              <a:rPr lang="en-US" sz="1400" dirty="0">
                <a:solidFill>
                  <a:srgbClr val="1C1917"/>
                </a:solidFill>
                <a:latin typeface="Quattrocento Sans" pitchFamily="34" charset="0"/>
                <a:ea typeface="Quattrocento Sans" pitchFamily="34" charset="-122"/>
                <a:cs typeface="Quattrocento Sans" pitchFamily="34" charset="-120"/>
              </a:rPr>
              <a:t>Nada pasa la altura máxima pedida: ni las paradas ni la base.</a:t>
            </a:r>
            <a:endParaRPr lang="en-US" sz="1400" dirty="0"/>
          </a:p>
        </p:txBody>
      </p:sp>
      <p:sp>
        <p:nvSpPr>
          <p:cNvPr id="7" name="propiedad 2"/>
          <p:cNvSpPr/>
          <p:nvPr/>
        </p:nvSpPr>
        <p:spPr>
          <a:xfrm>
            <a:off x="548640" y="2185416"/>
            <a:ext cx="384048" cy="384048"/>
          </a:xfrm>
          <a:prstGeom prst="ellipse">
            <a:avLst/>
          </a:prstGeom>
          <a:solidFill>
            <a:srgbClr val="0D9488"/>
          </a:solidFill>
          <a:ln w="12700">
            <a:solidFill>
              <a:srgbClr val="0D9488"/>
            </a:solidFill>
            <a:prstDash val="solid"/>
          </a:ln>
        </p:spPr>
      </p:sp>
      <p:sp>
        <p:nvSpPr>
          <p:cNvPr id="8" name="Text 6"/>
          <p:cNvSpPr txBox="1"/>
          <p:nvPr/>
        </p:nvSpPr>
        <p:spPr>
          <a:xfrm>
            <a:off x="548640" y="218541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Lexend" pitchFamily="34" charset="0"/>
                <a:ea typeface="Lexend" pitchFamily="34" charset="-122"/>
                <a:cs typeface="Lexend" pitchFamily="34" charset="-120"/>
              </a:rPr>
              <a:t>2</a:t>
            </a:r>
            <a:endParaRPr lang="en-US" sz="1200" dirty="0"/>
          </a:p>
        </p:txBody>
      </p:sp>
      <p:sp>
        <p:nvSpPr>
          <p:cNvPr id="9" name="Text 7"/>
          <p:cNvSpPr txBox="1"/>
          <p:nvPr/>
        </p:nvSpPr>
        <p:spPr>
          <a:xfrm>
            <a:off x="1115568" y="2240280"/>
            <a:ext cx="4937760" cy="457200"/>
          </a:xfrm>
          <a:prstGeom prst="rect">
            <a:avLst/>
          </a:prstGeom>
          <a:noFill/>
          <a:ln/>
        </p:spPr>
        <p:txBody>
          <a:bodyPr wrap="square" lIns="0" tIns="0" rIns="0" bIns="0" rtlCol="0" anchor="t"/>
          <a:lstStyle/>
          <a:p>
            <a:pPr indent="0" marL="0">
              <a:buNone/>
            </a:pPr>
            <a:r>
              <a:rPr lang="en-US" sz="1400" dirty="0">
                <a:solidFill>
                  <a:srgbClr val="1C1917"/>
                </a:solidFill>
                <a:latin typeface="Quattrocento Sans" pitchFamily="34" charset="0"/>
                <a:ea typeface="Quattrocento Sans" pitchFamily="34" charset="-122"/>
                <a:cs typeface="Quattrocento Sans" pitchFamily="34" charset="-120"/>
              </a:rPr>
              <a:t>Los días suman los pedidos, con la ida y la vuelta.</a:t>
            </a:r>
            <a:endParaRPr lang="en-US" sz="1400" dirty="0"/>
          </a:p>
        </p:txBody>
      </p:sp>
      <p:sp>
        <p:nvSpPr>
          <p:cNvPr id="10" name="propiedad 3"/>
          <p:cNvSpPr/>
          <p:nvPr/>
        </p:nvSpPr>
        <p:spPr>
          <a:xfrm>
            <a:off x="548640" y="2816352"/>
            <a:ext cx="384048" cy="384048"/>
          </a:xfrm>
          <a:prstGeom prst="ellipse">
            <a:avLst/>
          </a:prstGeom>
          <a:solidFill>
            <a:srgbClr val="0D9488"/>
          </a:solidFill>
          <a:ln w="12700">
            <a:solidFill>
              <a:srgbClr val="0D9488"/>
            </a:solidFill>
            <a:prstDash val="solid"/>
          </a:ln>
        </p:spPr>
      </p:sp>
      <p:sp>
        <p:nvSpPr>
          <p:cNvPr id="11" name="Text 9"/>
          <p:cNvSpPr txBox="1"/>
          <p:nvPr/>
        </p:nvSpPr>
        <p:spPr>
          <a:xfrm>
            <a:off x="548640" y="281635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Lexend" pitchFamily="34" charset="0"/>
                <a:ea typeface="Lexend" pitchFamily="34" charset="-122"/>
                <a:cs typeface="Lexend" pitchFamily="34" charset="-120"/>
              </a:rPr>
              <a:t>3</a:t>
            </a:r>
            <a:endParaRPr lang="en-US" sz="1200" dirty="0"/>
          </a:p>
        </p:txBody>
      </p:sp>
      <p:sp>
        <p:nvSpPr>
          <p:cNvPr id="12" name="Text 10"/>
          <p:cNvSpPr txBox="1"/>
          <p:nvPr/>
        </p:nvSpPr>
        <p:spPr>
          <a:xfrm>
            <a:off x="1115568" y="2871216"/>
            <a:ext cx="4937760" cy="457200"/>
          </a:xfrm>
          <a:prstGeom prst="rect">
            <a:avLst/>
          </a:prstGeom>
          <a:noFill/>
          <a:ln/>
        </p:spPr>
        <p:txBody>
          <a:bodyPr wrap="square" lIns="0" tIns="0" rIns="0" bIns="0" rtlCol="0" anchor="t"/>
          <a:lstStyle/>
          <a:p>
            <a:pPr indent="0" marL="0">
              <a:buNone/>
            </a:pPr>
            <a:r>
              <a:rPr lang="en-US" sz="1400" dirty="0">
                <a:solidFill>
                  <a:srgbClr val="1C1917"/>
                </a:solidFill>
                <a:latin typeface="Quattrocento Sans" pitchFamily="34" charset="0"/>
                <a:ea typeface="Quattrocento Sans" pitchFamily="34" charset="-122"/>
                <a:cs typeface="Quattrocento Sans" pitchFamily="34" charset="-120"/>
              </a:rPr>
              <a:t>Ninguna jornada con visitas pasa de 8 horas, sin el almuerzo.</a:t>
            </a:r>
            <a:endParaRPr lang="en-US" sz="1400" dirty="0"/>
          </a:p>
        </p:txBody>
      </p:sp>
      <p:sp>
        <p:nvSpPr>
          <p:cNvPr id="13" name="propiedad 4"/>
          <p:cNvSpPr/>
          <p:nvPr/>
        </p:nvSpPr>
        <p:spPr>
          <a:xfrm>
            <a:off x="548640" y="3447288"/>
            <a:ext cx="384048" cy="384048"/>
          </a:xfrm>
          <a:prstGeom prst="ellipse">
            <a:avLst/>
          </a:prstGeom>
          <a:solidFill>
            <a:srgbClr val="0D9488"/>
          </a:solidFill>
          <a:ln w="12700">
            <a:solidFill>
              <a:srgbClr val="0D9488"/>
            </a:solidFill>
            <a:prstDash val="solid"/>
          </a:ln>
        </p:spPr>
      </p:sp>
      <p:sp>
        <p:nvSpPr>
          <p:cNvPr id="14" name="Text 12"/>
          <p:cNvSpPr txBox="1"/>
          <p:nvPr/>
        </p:nvSpPr>
        <p:spPr>
          <a:xfrm>
            <a:off x="548640" y="344728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Lexend" pitchFamily="34" charset="0"/>
                <a:ea typeface="Lexend" pitchFamily="34" charset="-122"/>
                <a:cs typeface="Lexend" pitchFamily="34" charset="-120"/>
              </a:rPr>
              <a:t>4</a:t>
            </a:r>
            <a:endParaRPr lang="en-US" sz="1200" dirty="0"/>
          </a:p>
        </p:txBody>
      </p:sp>
      <p:sp>
        <p:nvSpPr>
          <p:cNvPr id="15" name="Text 13"/>
          <p:cNvSpPr txBox="1"/>
          <p:nvPr/>
        </p:nvSpPr>
        <p:spPr>
          <a:xfrm>
            <a:off x="1115568" y="3502152"/>
            <a:ext cx="4937760" cy="457200"/>
          </a:xfrm>
          <a:prstGeom prst="rect">
            <a:avLst/>
          </a:prstGeom>
          <a:noFill/>
          <a:ln/>
        </p:spPr>
        <p:txBody>
          <a:bodyPr wrap="square" lIns="0" tIns="0" rIns="0" bIns="0" rtlCol="0" anchor="t"/>
          <a:lstStyle/>
          <a:p>
            <a:pPr indent="0" marL="0">
              <a:buNone/>
            </a:pPr>
            <a:r>
              <a:rPr lang="en-US" sz="1400" dirty="0">
                <a:solidFill>
                  <a:srgbClr val="1C1917"/>
                </a:solidFill>
                <a:latin typeface="Quattrocento Sans" pitchFamily="34" charset="0"/>
                <a:ea typeface="Quattrocento Sans" pitchFamily="34" charset="-122"/>
                <a:cs typeface="Quattrocento Sans" pitchFamily="34" charset="-120"/>
              </a:rPr>
              <a:t>Toda parada enlaza a su ficha oficial de MINCETUR.</a:t>
            </a:r>
            <a:endParaRPr lang="en-US" sz="1400" dirty="0"/>
          </a:p>
        </p:txBody>
      </p:sp>
      <p:sp>
        <p:nvSpPr>
          <p:cNvPr id="16" name="propiedad 5"/>
          <p:cNvSpPr/>
          <p:nvPr/>
        </p:nvSpPr>
        <p:spPr>
          <a:xfrm>
            <a:off x="548640" y="4078224"/>
            <a:ext cx="384048" cy="384048"/>
          </a:xfrm>
          <a:prstGeom prst="ellipse">
            <a:avLst/>
          </a:prstGeom>
          <a:solidFill>
            <a:srgbClr val="0D9488"/>
          </a:solidFill>
          <a:ln w="12700">
            <a:solidFill>
              <a:srgbClr val="0D9488"/>
            </a:solidFill>
            <a:prstDash val="solid"/>
          </a:ln>
        </p:spPr>
      </p:sp>
      <p:sp>
        <p:nvSpPr>
          <p:cNvPr id="17" name="Text 15"/>
          <p:cNvSpPr txBox="1"/>
          <p:nvPr/>
        </p:nvSpPr>
        <p:spPr>
          <a:xfrm>
            <a:off x="548640" y="407822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Lexend" pitchFamily="34" charset="0"/>
                <a:ea typeface="Lexend" pitchFamily="34" charset="-122"/>
                <a:cs typeface="Lexend" pitchFamily="34" charset="-120"/>
              </a:rPr>
              <a:t>5</a:t>
            </a:r>
            <a:endParaRPr lang="en-US" sz="1200" dirty="0"/>
          </a:p>
        </p:txBody>
      </p:sp>
      <p:sp>
        <p:nvSpPr>
          <p:cNvPr id="18" name="Text 16"/>
          <p:cNvSpPr txBox="1"/>
          <p:nvPr/>
        </p:nvSpPr>
        <p:spPr>
          <a:xfrm>
            <a:off x="1115568" y="4133088"/>
            <a:ext cx="4937760" cy="457200"/>
          </a:xfrm>
          <a:prstGeom prst="rect">
            <a:avLst/>
          </a:prstGeom>
          <a:noFill/>
          <a:ln/>
        </p:spPr>
        <p:txBody>
          <a:bodyPr wrap="square" lIns="0" tIns="0" rIns="0" bIns="0" rtlCol="0" anchor="t"/>
          <a:lstStyle/>
          <a:p>
            <a:pPr indent="0" marL="0">
              <a:buNone/>
            </a:pPr>
            <a:r>
              <a:rPr lang="en-US" sz="1400" dirty="0">
                <a:solidFill>
                  <a:srgbClr val="1C1917"/>
                </a:solidFill>
                <a:latin typeface="Quattrocento Sans" pitchFamily="34" charset="0"/>
                <a:ea typeface="Quattrocento Sans" pitchFamily="34" charset="-122"/>
                <a:cs typeface="Quattrocento Sans" pitchFamily="34" charset="-120"/>
              </a:rPr>
              <a:t>Un mes desaconsejado nunca aparece sin aviso.</a:t>
            </a:r>
            <a:endParaRPr lang="en-US" sz="1400" dirty="0"/>
          </a:p>
        </p:txBody>
      </p:sp>
      <p:sp>
        <p:nvSpPr>
          <p:cNvPr id="19" name="propiedad 6"/>
          <p:cNvSpPr/>
          <p:nvPr/>
        </p:nvSpPr>
        <p:spPr>
          <a:xfrm>
            <a:off x="548640" y="4709160"/>
            <a:ext cx="384048" cy="384048"/>
          </a:xfrm>
          <a:prstGeom prst="ellipse">
            <a:avLst/>
          </a:prstGeom>
          <a:solidFill>
            <a:srgbClr val="0D9488"/>
          </a:solidFill>
          <a:ln w="12700">
            <a:solidFill>
              <a:srgbClr val="0D9488"/>
            </a:solidFill>
            <a:prstDash val="solid"/>
          </a:ln>
        </p:spPr>
      </p:sp>
      <p:sp>
        <p:nvSpPr>
          <p:cNvPr id="20" name="Text 18"/>
          <p:cNvSpPr txBox="1"/>
          <p:nvPr/>
        </p:nvSpPr>
        <p:spPr>
          <a:xfrm>
            <a:off x="548640" y="47091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Lexend" pitchFamily="34" charset="0"/>
                <a:ea typeface="Lexend" pitchFamily="34" charset="-122"/>
                <a:cs typeface="Lexend" pitchFamily="34" charset="-120"/>
              </a:rPr>
              <a:t>6</a:t>
            </a:r>
            <a:endParaRPr lang="en-US" sz="1200" dirty="0"/>
          </a:p>
        </p:txBody>
      </p:sp>
      <p:sp>
        <p:nvSpPr>
          <p:cNvPr id="21" name="Text 19"/>
          <p:cNvSpPr txBox="1"/>
          <p:nvPr/>
        </p:nvSpPr>
        <p:spPr>
          <a:xfrm>
            <a:off x="1115568" y="4764024"/>
            <a:ext cx="4937760" cy="457200"/>
          </a:xfrm>
          <a:prstGeom prst="rect">
            <a:avLst/>
          </a:prstGeom>
          <a:noFill/>
          <a:ln/>
        </p:spPr>
        <p:txBody>
          <a:bodyPr wrap="square" lIns="0" tIns="0" rIns="0" bIns="0" rtlCol="0" anchor="t"/>
          <a:lstStyle/>
          <a:p>
            <a:pPr indent="0" marL="0">
              <a:buNone/>
            </a:pPr>
            <a:r>
              <a:rPr lang="en-US" sz="1400" dirty="0">
                <a:solidFill>
                  <a:srgbClr val="1C1917"/>
                </a:solidFill>
                <a:latin typeface="Quattrocento Sans" pitchFamily="34" charset="0"/>
                <a:ea typeface="Quattrocento Sans" pitchFamily="34" charset="-122"/>
                <a:cs typeface="Quattrocento Sans" pitchFamily="34" charset="-120"/>
              </a:rPr>
              <a:t>Un evento solo aparece si cae en las fechas del viaje.</a:t>
            </a:r>
            <a:endParaRPr lang="en-US" sz="1400" dirty="0"/>
          </a:p>
        </p:txBody>
      </p:sp>
      <p:sp>
        <p:nvSpPr>
          <p:cNvPr id="22" name="propiedad 7"/>
          <p:cNvSpPr/>
          <p:nvPr/>
        </p:nvSpPr>
        <p:spPr>
          <a:xfrm>
            <a:off x="548640" y="5340096"/>
            <a:ext cx="384048" cy="384048"/>
          </a:xfrm>
          <a:prstGeom prst="ellipse">
            <a:avLst/>
          </a:prstGeom>
          <a:solidFill>
            <a:srgbClr val="0D9488"/>
          </a:solidFill>
          <a:ln w="12700">
            <a:solidFill>
              <a:srgbClr val="0D9488"/>
            </a:solidFill>
            <a:prstDash val="solid"/>
          </a:ln>
        </p:spPr>
      </p:sp>
      <p:sp>
        <p:nvSpPr>
          <p:cNvPr id="23" name="Text 21"/>
          <p:cNvSpPr txBox="1"/>
          <p:nvPr/>
        </p:nvSpPr>
        <p:spPr>
          <a:xfrm>
            <a:off x="548640" y="534009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Lexend" pitchFamily="34" charset="0"/>
                <a:ea typeface="Lexend" pitchFamily="34" charset="-122"/>
                <a:cs typeface="Lexend" pitchFamily="34" charset="-120"/>
              </a:rPr>
              <a:t>7</a:t>
            </a:r>
            <a:endParaRPr lang="en-US" sz="1200" dirty="0"/>
          </a:p>
        </p:txBody>
      </p:sp>
      <p:sp>
        <p:nvSpPr>
          <p:cNvPr id="24" name="Text 22"/>
          <p:cNvSpPr txBox="1"/>
          <p:nvPr/>
        </p:nvSpPr>
        <p:spPr>
          <a:xfrm>
            <a:off x="1115568" y="5394960"/>
            <a:ext cx="4937760" cy="457200"/>
          </a:xfrm>
          <a:prstGeom prst="rect">
            <a:avLst/>
          </a:prstGeom>
          <a:noFill/>
          <a:ln/>
        </p:spPr>
        <p:txBody>
          <a:bodyPr wrap="square" lIns="0" tIns="0" rIns="0" bIns="0" rtlCol="0" anchor="t"/>
          <a:lstStyle/>
          <a:p>
            <a:pPr indent="0" marL="0">
              <a:buNone/>
            </a:pPr>
            <a:r>
              <a:rPr lang="en-US" sz="1400" dirty="0">
                <a:solidFill>
                  <a:srgbClr val="1C1917"/>
                </a:solidFill>
                <a:latin typeface="Quattrocento Sans" pitchFamily="34" charset="0"/>
                <a:ea typeface="Quattrocento Sans" pitchFamily="34" charset="-122"/>
                <a:cs typeface="Quattrocento Sans" pitchFamily="34" charset="-120"/>
              </a:rPr>
              <a:t>El presupuesto ordena, elige y avisa, sin quitar viajes.</a:t>
            </a:r>
            <a:endParaRPr lang="en-US" sz="1400" dirty="0"/>
          </a:p>
        </p:txBody>
      </p:sp>
      <p:sp>
        <p:nvSpPr>
          <p:cNvPr id="25" name="propiedad 8"/>
          <p:cNvSpPr/>
          <p:nvPr/>
        </p:nvSpPr>
        <p:spPr>
          <a:xfrm>
            <a:off x="6217920" y="1554480"/>
            <a:ext cx="384048" cy="384048"/>
          </a:xfrm>
          <a:prstGeom prst="ellipse">
            <a:avLst/>
          </a:prstGeom>
          <a:solidFill>
            <a:srgbClr val="0D9488"/>
          </a:solidFill>
          <a:ln w="12700">
            <a:solidFill>
              <a:srgbClr val="0D9488"/>
            </a:solidFill>
            <a:prstDash val="solid"/>
          </a:ln>
        </p:spPr>
      </p:sp>
      <p:sp>
        <p:nvSpPr>
          <p:cNvPr id="26" name="Text 24"/>
          <p:cNvSpPr txBox="1"/>
          <p:nvPr/>
        </p:nvSpPr>
        <p:spPr>
          <a:xfrm>
            <a:off x="6217920" y="155448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Lexend" pitchFamily="34" charset="0"/>
                <a:ea typeface="Lexend" pitchFamily="34" charset="-122"/>
                <a:cs typeface="Lexend" pitchFamily="34" charset="-120"/>
              </a:rPr>
              <a:t>8</a:t>
            </a:r>
            <a:endParaRPr lang="en-US" sz="1200" dirty="0"/>
          </a:p>
        </p:txBody>
      </p:sp>
      <p:sp>
        <p:nvSpPr>
          <p:cNvPr id="27" name="Text 25"/>
          <p:cNvSpPr txBox="1"/>
          <p:nvPr/>
        </p:nvSpPr>
        <p:spPr>
          <a:xfrm>
            <a:off x="6784848" y="1609344"/>
            <a:ext cx="4937760" cy="457200"/>
          </a:xfrm>
          <a:prstGeom prst="rect">
            <a:avLst/>
          </a:prstGeom>
          <a:noFill/>
          <a:ln/>
        </p:spPr>
        <p:txBody>
          <a:bodyPr wrap="square" lIns="0" tIns="0" rIns="0" bIns="0" rtlCol="0" anchor="t"/>
          <a:lstStyle/>
          <a:p>
            <a:pPr indent="0" marL="0">
              <a:buNone/>
            </a:pPr>
            <a:r>
              <a:rPr lang="en-US" sz="1400" dirty="0">
                <a:solidFill>
                  <a:srgbClr val="1C1917"/>
                </a:solidFill>
                <a:latin typeface="Quattrocento Sans" pitchFamily="34" charset="0"/>
                <a:ea typeface="Quattrocento Sans" pitchFamily="34" charset="-122"/>
                <a:cs typeface="Quattrocento Sans" pitchFamily="34" charset="-120"/>
              </a:rPr>
              <a:t>La misma consulta con los mismos datos da la misma respuesta.</a:t>
            </a:r>
            <a:endParaRPr lang="en-US" sz="1400" dirty="0"/>
          </a:p>
        </p:txBody>
      </p:sp>
      <p:sp>
        <p:nvSpPr>
          <p:cNvPr id="28" name="propiedad 9"/>
          <p:cNvSpPr/>
          <p:nvPr/>
        </p:nvSpPr>
        <p:spPr>
          <a:xfrm>
            <a:off x="6217920" y="2185416"/>
            <a:ext cx="384048" cy="384048"/>
          </a:xfrm>
          <a:prstGeom prst="ellipse">
            <a:avLst/>
          </a:prstGeom>
          <a:solidFill>
            <a:srgbClr val="0D9488"/>
          </a:solidFill>
          <a:ln w="12700">
            <a:solidFill>
              <a:srgbClr val="0D9488"/>
            </a:solidFill>
            <a:prstDash val="solid"/>
          </a:ln>
        </p:spPr>
      </p:sp>
      <p:sp>
        <p:nvSpPr>
          <p:cNvPr id="29" name="Text 27"/>
          <p:cNvSpPr txBox="1"/>
          <p:nvPr/>
        </p:nvSpPr>
        <p:spPr>
          <a:xfrm>
            <a:off x="6217920" y="218541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Lexend" pitchFamily="34" charset="0"/>
                <a:ea typeface="Lexend" pitchFamily="34" charset="-122"/>
                <a:cs typeface="Lexend" pitchFamily="34" charset="-120"/>
              </a:rPr>
              <a:t>9</a:t>
            </a:r>
            <a:endParaRPr lang="en-US" sz="1200" dirty="0"/>
          </a:p>
        </p:txBody>
      </p:sp>
      <p:sp>
        <p:nvSpPr>
          <p:cNvPr id="30" name="Text 28"/>
          <p:cNvSpPr txBox="1"/>
          <p:nvPr/>
        </p:nvSpPr>
        <p:spPr>
          <a:xfrm>
            <a:off x="6784848" y="2240280"/>
            <a:ext cx="4937760" cy="457200"/>
          </a:xfrm>
          <a:prstGeom prst="rect">
            <a:avLst/>
          </a:prstGeom>
          <a:noFill/>
          <a:ln/>
        </p:spPr>
        <p:txBody>
          <a:bodyPr wrap="square" lIns="0" tIns="0" rIns="0" bIns="0" rtlCol="0" anchor="t"/>
          <a:lstStyle/>
          <a:p>
            <a:pPr indent="0" marL="0">
              <a:buNone/>
            </a:pPr>
            <a:r>
              <a:rPr lang="en-US" sz="1400" dirty="0">
                <a:solidFill>
                  <a:srgbClr val="1C1917"/>
                </a:solidFill>
                <a:latin typeface="Quattrocento Sans" pitchFamily="34" charset="0"/>
                <a:ea typeface="Quattrocento Sans" pitchFamily="34" charset="-122"/>
                <a:cs typeface="Quattrocento Sans" pitchFamily="34" charset="-120"/>
              </a:rPr>
              <a:t>Zonas distintas; con destino, solo el viaje a esa zona.</a:t>
            </a:r>
            <a:endParaRPr lang="en-US" sz="1400" dirty="0"/>
          </a:p>
        </p:txBody>
      </p:sp>
      <p:sp>
        <p:nvSpPr>
          <p:cNvPr id="31" name="propiedad 10"/>
          <p:cNvSpPr/>
          <p:nvPr/>
        </p:nvSpPr>
        <p:spPr>
          <a:xfrm>
            <a:off x="6217920" y="2816352"/>
            <a:ext cx="384048" cy="384048"/>
          </a:xfrm>
          <a:prstGeom prst="ellipse">
            <a:avLst/>
          </a:prstGeom>
          <a:solidFill>
            <a:srgbClr val="0D9488"/>
          </a:solidFill>
          <a:ln w="12700">
            <a:solidFill>
              <a:srgbClr val="0D9488"/>
            </a:solidFill>
            <a:prstDash val="solid"/>
          </a:ln>
        </p:spPr>
      </p:sp>
      <p:sp>
        <p:nvSpPr>
          <p:cNvPr id="32" name="Text 30"/>
          <p:cNvSpPr txBox="1"/>
          <p:nvPr/>
        </p:nvSpPr>
        <p:spPr>
          <a:xfrm>
            <a:off x="6217920" y="281635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Lexend" pitchFamily="34" charset="0"/>
                <a:ea typeface="Lexend" pitchFamily="34" charset="-122"/>
                <a:cs typeface="Lexend" pitchFamily="34" charset="-120"/>
              </a:rPr>
              <a:t>10</a:t>
            </a:r>
            <a:endParaRPr lang="en-US" sz="1200" dirty="0"/>
          </a:p>
        </p:txBody>
      </p:sp>
      <p:sp>
        <p:nvSpPr>
          <p:cNvPr id="33" name="Text 31"/>
          <p:cNvSpPr txBox="1"/>
          <p:nvPr/>
        </p:nvSpPr>
        <p:spPr>
          <a:xfrm>
            <a:off x="6784848" y="2871216"/>
            <a:ext cx="4937760" cy="457200"/>
          </a:xfrm>
          <a:prstGeom prst="rect">
            <a:avLst/>
          </a:prstGeom>
          <a:noFill/>
          <a:ln/>
        </p:spPr>
        <p:txBody>
          <a:bodyPr wrap="square" lIns="0" tIns="0" rIns="0" bIns="0" rtlCol="0" anchor="t"/>
          <a:lstStyle/>
          <a:p>
            <a:pPr indent="0" marL="0">
              <a:buNone/>
            </a:pPr>
            <a:r>
              <a:rPr lang="en-US" sz="1400" dirty="0">
                <a:solidFill>
                  <a:srgbClr val="1C1917"/>
                </a:solidFill>
                <a:latin typeface="Quattrocento Sans" pitchFamily="34" charset="0"/>
                <a:ea typeface="Quattrocento Sans" pitchFamily="34" charset="-122"/>
                <a:cs typeface="Quattrocento Sans" pitchFamily="34" charset="-120"/>
              </a:rPr>
              <a:t>Un dato que la fuente no trae viaja vacío, nunca inventado.</a:t>
            </a:r>
            <a:endParaRPr lang="en-US" sz="1400" dirty="0"/>
          </a:p>
        </p:txBody>
      </p:sp>
      <p:sp>
        <p:nvSpPr>
          <p:cNvPr id="34" name="propiedad 11"/>
          <p:cNvSpPr/>
          <p:nvPr/>
        </p:nvSpPr>
        <p:spPr>
          <a:xfrm>
            <a:off x="6217920" y="3447288"/>
            <a:ext cx="384048" cy="384048"/>
          </a:xfrm>
          <a:prstGeom prst="ellipse">
            <a:avLst/>
          </a:prstGeom>
          <a:solidFill>
            <a:srgbClr val="C2410C"/>
          </a:solidFill>
          <a:ln w="12700">
            <a:solidFill>
              <a:srgbClr val="C2410C"/>
            </a:solidFill>
            <a:prstDash val="solid"/>
          </a:ln>
        </p:spPr>
      </p:sp>
      <p:sp>
        <p:nvSpPr>
          <p:cNvPr id="35" name="Text 33"/>
          <p:cNvSpPr txBox="1"/>
          <p:nvPr/>
        </p:nvSpPr>
        <p:spPr>
          <a:xfrm>
            <a:off x="6217920" y="344728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Lexend" pitchFamily="34" charset="0"/>
                <a:ea typeface="Lexend" pitchFamily="34" charset="-122"/>
                <a:cs typeface="Lexend" pitchFamily="34" charset="-120"/>
              </a:rPr>
              <a:t>11</a:t>
            </a:r>
            <a:endParaRPr lang="en-US" sz="1200" dirty="0"/>
          </a:p>
        </p:txBody>
      </p:sp>
      <p:sp>
        <p:nvSpPr>
          <p:cNvPr id="36" name="Text 34"/>
          <p:cNvSpPr txBox="1"/>
          <p:nvPr/>
        </p:nvSpPr>
        <p:spPr>
          <a:xfrm>
            <a:off x="6784848" y="3502152"/>
            <a:ext cx="4937760" cy="457200"/>
          </a:xfrm>
          <a:prstGeom prst="rect">
            <a:avLst/>
          </a:prstGeom>
          <a:noFill/>
          <a:ln/>
        </p:spPr>
        <p:txBody>
          <a:bodyPr wrap="square" lIns="0" tIns="0" rIns="0" bIns="0" rtlCol="0" anchor="t"/>
          <a:lstStyle/>
          <a:p>
            <a:pPr indent="0" marL="0">
              <a:buNone/>
            </a:pPr>
            <a:r>
              <a:rPr lang="en-US" sz="1400" dirty="0">
                <a:solidFill>
                  <a:srgbClr val="1C1917"/>
                </a:solidFill>
                <a:latin typeface="Quattrocento Sans" pitchFamily="34" charset="0"/>
                <a:ea typeface="Quattrocento Sans" pitchFamily="34" charset="-122"/>
                <a:cs typeface="Quattrocento Sans" pitchFamily="34" charset="-120"/>
              </a:rPr>
              <a:t>La noche no cambia nada del día.</a:t>
            </a:r>
            <a:endParaRPr lang="en-US" sz="1400" dirty="0"/>
          </a:p>
        </p:txBody>
      </p:sp>
      <p:sp>
        <p:nvSpPr>
          <p:cNvPr id="37" name="propiedad 12"/>
          <p:cNvSpPr/>
          <p:nvPr/>
        </p:nvSpPr>
        <p:spPr>
          <a:xfrm>
            <a:off x="6217920" y="4078224"/>
            <a:ext cx="384048" cy="384048"/>
          </a:xfrm>
          <a:prstGeom prst="ellipse">
            <a:avLst/>
          </a:prstGeom>
          <a:solidFill>
            <a:srgbClr val="C2410C"/>
          </a:solidFill>
          <a:ln w="12700">
            <a:solidFill>
              <a:srgbClr val="C2410C"/>
            </a:solidFill>
            <a:prstDash val="solid"/>
          </a:ln>
        </p:spPr>
      </p:sp>
      <p:sp>
        <p:nvSpPr>
          <p:cNvPr id="38" name="Text 36"/>
          <p:cNvSpPr txBox="1"/>
          <p:nvPr/>
        </p:nvSpPr>
        <p:spPr>
          <a:xfrm>
            <a:off x="6217920" y="407822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Lexend" pitchFamily="34" charset="0"/>
                <a:ea typeface="Lexend" pitchFamily="34" charset="-122"/>
                <a:cs typeface="Lexend" pitchFamily="34" charset="-120"/>
              </a:rPr>
              <a:t>12</a:t>
            </a:r>
            <a:endParaRPr lang="en-US" sz="1200" dirty="0"/>
          </a:p>
        </p:txBody>
      </p:sp>
      <p:sp>
        <p:nvSpPr>
          <p:cNvPr id="39" name="Text 37"/>
          <p:cNvSpPr txBox="1"/>
          <p:nvPr/>
        </p:nvSpPr>
        <p:spPr>
          <a:xfrm>
            <a:off x="6784848" y="4133088"/>
            <a:ext cx="4937760" cy="457200"/>
          </a:xfrm>
          <a:prstGeom prst="rect">
            <a:avLst/>
          </a:prstGeom>
          <a:noFill/>
          <a:ln/>
        </p:spPr>
        <p:txBody>
          <a:bodyPr wrap="square" lIns="0" tIns="0" rIns="0" bIns="0" rtlCol="0" anchor="t"/>
          <a:lstStyle/>
          <a:p>
            <a:pPr indent="0" marL="0">
              <a:buNone/>
            </a:pPr>
            <a:r>
              <a:rPr lang="en-US" sz="1400" dirty="0">
                <a:solidFill>
                  <a:srgbClr val="1C1917"/>
                </a:solidFill>
                <a:latin typeface="Quattrocento Sans" pitchFamily="34" charset="0"/>
                <a:ea typeface="Quattrocento Sans" pitchFamily="34" charset="-122"/>
                <a:cs typeface="Quattrocento Sans" pitchFamily="34" charset="-120"/>
              </a:rPr>
              <a:t>Cada almuerzo va en su lugar, desde las 11:30.</a:t>
            </a:r>
            <a:endParaRPr lang="en-US" sz="1400" dirty="0"/>
          </a:p>
        </p:txBody>
      </p:sp>
      <p:sp>
        <p:nvSpPr>
          <p:cNvPr id="40" name="propiedad 13"/>
          <p:cNvSpPr/>
          <p:nvPr/>
        </p:nvSpPr>
        <p:spPr>
          <a:xfrm>
            <a:off x="6217920" y="4709160"/>
            <a:ext cx="384048" cy="384048"/>
          </a:xfrm>
          <a:prstGeom prst="ellipse">
            <a:avLst/>
          </a:prstGeom>
          <a:solidFill>
            <a:srgbClr val="C2410C"/>
          </a:solidFill>
          <a:ln w="12700">
            <a:solidFill>
              <a:srgbClr val="C2410C"/>
            </a:solidFill>
            <a:prstDash val="solid"/>
          </a:ln>
        </p:spPr>
      </p:sp>
      <p:sp>
        <p:nvSpPr>
          <p:cNvPr id="41" name="Text 39"/>
          <p:cNvSpPr txBox="1"/>
          <p:nvPr/>
        </p:nvSpPr>
        <p:spPr>
          <a:xfrm>
            <a:off x="6217920" y="47091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Lexend" pitchFamily="34" charset="0"/>
                <a:ea typeface="Lexend" pitchFamily="34" charset="-122"/>
                <a:cs typeface="Lexend" pitchFamily="34" charset="-120"/>
              </a:rPr>
              <a:t>13</a:t>
            </a:r>
            <a:endParaRPr lang="en-US" sz="1200" dirty="0"/>
          </a:p>
        </p:txBody>
      </p:sp>
      <p:sp>
        <p:nvSpPr>
          <p:cNvPr id="42" name="Text 40"/>
          <p:cNvSpPr txBox="1"/>
          <p:nvPr/>
        </p:nvSpPr>
        <p:spPr>
          <a:xfrm>
            <a:off x="6784848" y="4764024"/>
            <a:ext cx="4937760" cy="457200"/>
          </a:xfrm>
          <a:prstGeom prst="rect">
            <a:avLst/>
          </a:prstGeom>
          <a:noFill/>
          <a:ln/>
        </p:spPr>
        <p:txBody>
          <a:bodyPr wrap="square" lIns="0" tIns="0" rIns="0" bIns="0" rtlCol="0" anchor="t"/>
          <a:lstStyle/>
          <a:p>
            <a:pPr indent="0" marL="0">
              <a:buNone/>
            </a:pPr>
            <a:r>
              <a:rPr lang="en-US" sz="1400" dirty="0">
                <a:solidFill>
                  <a:srgbClr val="1C1917"/>
                </a:solidFill>
                <a:latin typeface="Quattrocento Sans" pitchFamily="34" charset="0"/>
                <a:ea typeface="Quattrocento Sans" pitchFamily="34" charset="-122"/>
                <a:cs typeface="Quattrocento Sans" pitchFamily="34" charset="-120"/>
              </a:rPr>
              <a:t>El bus de noche va cuando debe y sale desde las 19:00.</a:t>
            </a:r>
            <a:endParaRPr lang="en-US" sz="1400" dirty="0"/>
          </a:p>
        </p:txBody>
      </p:sp>
      <p:sp>
        <p:nvSpPr>
          <p:cNvPr id="43" name="propiedad 14"/>
          <p:cNvSpPr/>
          <p:nvPr/>
        </p:nvSpPr>
        <p:spPr>
          <a:xfrm>
            <a:off x="6217920" y="5340096"/>
            <a:ext cx="384048" cy="384048"/>
          </a:xfrm>
          <a:prstGeom prst="ellipse">
            <a:avLst/>
          </a:prstGeom>
          <a:solidFill>
            <a:srgbClr val="C2410C"/>
          </a:solidFill>
          <a:ln w="12700">
            <a:solidFill>
              <a:srgbClr val="C2410C"/>
            </a:solidFill>
            <a:prstDash val="solid"/>
          </a:ln>
        </p:spPr>
      </p:sp>
      <p:sp>
        <p:nvSpPr>
          <p:cNvPr id="44" name="Text 42"/>
          <p:cNvSpPr txBox="1"/>
          <p:nvPr/>
        </p:nvSpPr>
        <p:spPr>
          <a:xfrm>
            <a:off x="6217920" y="534009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Lexend" pitchFamily="34" charset="0"/>
                <a:ea typeface="Lexend" pitchFamily="34" charset="-122"/>
                <a:cs typeface="Lexend" pitchFamily="34" charset="-120"/>
              </a:rPr>
              <a:t>14</a:t>
            </a:r>
            <a:endParaRPr lang="en-US" sz="1200" dirty="0"/>
          </a:p>
        </p:txBody>
      </p:sp>
      <p:sp>
        <p:nvSpPr>
          <p:cNvPr id="45" name="Text 43"/>
          <p:cNvSpPr txBox="1"/>
          <p:nvPr/>
        </p:nvSpPr>
        <p:spPr>
          <a:xfrm>
            <a:off x="6784848" y="5394960"/>
            <a:ext cx="4937760" cy="457200"/>
          </a:xfrm>
          <a:prstGeom prst="rect">
            <a:avLst/>
          </a:prstGeom>
          <a:noFill/>
          <a:ln/>
        </p:spPr>
        <p:txBody>
          <a:bodyPr wrap="square" lIns="0" tIns="0" rIns="0" bIns="0" rtlCol="0" anchor="t"/>
          <a:lstStyle/>
          <a:p>
            <a:pPr indent="0" marL="0">
              <a:buNone/>
            </a:pPr>
            <a:r>
              <a:rPr lang="en-US" sz="1400" dirty="0">
                <a:solidFill>
                  <a:srgbClr val="1C1917"/>
                </a:solidFill>
                <a:latin typeface="Quattrocento Sans" pitchFamily="34" charset="0"/>
                <a:ea typeface="Quattrocento Sans" pitchFamily="34" charset="-122"/>
                <a:cs typeface="Quattrocento Sans" pitchFamily="34" charset="-120"/>
              </a:rPr>
              <a:t>El primer día en la altura es tranquilo, y solo ese.</a:t>
            </a:r>
            <a:endParaRPr lang="en-US" sz="1400" dirty="0"/>
          </a:p>
        </p:txBody>
      </p:sp>
      <p:sp>
        <p:nvSpPr>
          <p:cNvPr id="46" name="Text 44"/>
          <p:cNvSpPr txBox="1"/>
          <p:nvPr/>
        </p:nvSpPr>
        <p:spPr>
          <a:xfrm>
            <a:off x="548640" y="5989320"/>
            <a:ext cx="10972800" cy="274320"/>
          </a:xfrm>
          <a:prstGeom prst="rect">
            <a:avLst/>
          </a:prstGeom>
          <a:noFill/>
          <a:ln/>
        </p:spPr>
        <p:txBody>
          <a:bodyPr wrap="square" lIns="0" tIns="0" rIns="0" bIns="0" rtlCol="0" anchor="t"/>
          <a:lstStyle/>
          <a:p>
            <a:pPr indent="0" marL="0">
              <a:buNone/>
            </a:pPr>
            <a:r>
              <a:rPr lang="en-US" sz="1200" dirty="0">
                <a:solidFill>
                  <a:srgbClr val="78716C"/>
                </a:solidFill>
                <a:latin typeface="Quattrocento Sans" pitchFamily="34" charset="0"/>
                <a:ea typeface="Quattrocento Sans" pitchFamily="34" charset="-122"/>
                <a:cs typeface="Quattrocento Sans" pitchFamily="34" charset="-120"/>
              </a:rPr>
              <a:t>En naranja, las cuatro que se sumaron desde el 10 de octubre.</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latin typeface="Quattrocento Sans"/>
                <a:ea typeface="Quattrocento Sans"/>
                <a:cs typeface="Quattrocento Sans"/>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822960" y="1554480"/>
            <a:ext cx="2743200" cy="914400"/>
          </a:xfrm>
          <a:prstGeom prst="rect">
            <a:avLst/>
          </a:prstGeom>
          <a:noFill/>
          <a:ln/>
        </p:spPr>
        <p:txBody>
          <a:bodyPr wrap="square" lIns="0" tIns="0" rIns="0" bIns="0" rtlCol="0" anchor="b"/>
          <a:lstStyle/>
          <a:p>
            <a:pPr algn="l" indent="0" marL="0">
              <a:buNone/>
            </a:pPr>
            <a:r>
              <a:rPr lang="en-US" sz="5400" b="1" dirty="0">
                <a:solidFill>
                  <a:srgbClr val="FB923C"/>
                </a:solidFill>
                <a:latin typeface="Lexend" pitchFamily="34" charset="0"/>
                <a:ea typeface="Lexend" pitchFamily="34" charset="-122"/>
                <a:cs typeface="Lexend" pitchFamily="34" charset="-120"/>
              </a:rPr>
              <a:t>4</a:t>
            </a:r>
            <a:endParaRPr lang="en-US" sz="5400" dirty="0"/>
          </a:p>
        </p:txBody>
      </p:sp>
      <p:sp>
        <p:nvSpPr>
          <p:cNvPr id="3" name="Text 0"/>
          <p:cNvSpPr/>
          <p:nvPr>
            <p:ph idx="101" type="title" hasCustomPrompt="1"/>
          </p:nvPr>
        </p:nvSpPr>
        <p:spPr>
          <a:xfrm>
            <a:off x="822960" y="2514600"/>
            <a:ext cx="10515600" cy="1097280"/>
          </a:xfrm>
          <a:prstGeom prst="rect">
            <a:avLst/>
          </a:prstGeom>
          <a:noFill/>
          <a:ln/>
        </p:spPr>
        <p:txBody>
          <a:bodyPr wrap="square" lIns="0" tIns="0" rIns="0" bIns="0" rtlCol="0" anchor="t"/>
          <a:lstStyle/>
          <a:p>
            <a:pPr algn="l" indent="0" marL="0">
              <a:buNone/>
            </a:pPr>
            <a:r>
              <a:rPr lang="en-US" sz="4400" b="1" dirty="0">
                <a:solidFill>
                  <a:srgbClr val="FFFFFF"/>
                </a:solidFill>
                <a:latin typeface="Lexend" pitchFamily="34" charset="0"/>
                <a:ea typeface="Lexend" pitchFamily="34" charset="-122"/>
                <a:cs typeface="Lexend" pitchFamily="34" charset="-120"/>
              </a:rPr>
              <a:t>Datos, modelo y cifras</a:t>
            </a:r>
            <a:endParaRPr lang="en-US" sz="4400" dirty="0"/>
          </a:p>
        </p:txBody>
      </p:sp>
      <p:sp>
        <p:nvSpPr>
          <p:cNvPr id="4" name="Text 0"/>
          <p:cNvSpPr/>
          <p:nvPr>
            <p:ph idx="102" type="body" hasCustomPrompt="1"/>
          </p:nvPr>
        </p:nvSpPr>
        <p:spPr>
          <a:xfrm>
            <a:off x="822960" y="3703320"/>
            <a:ext cx="10515600" cy="457200"/>
          </a:xfrm>
          <a:prstGeom prst="rect">
            <a:avLst/>
          </a:prstGeom>
          <a:noFill/>
          <a:ln/>
        </p:spPr>
        <p:txBody>
          <a:bodyPr wrap="square" lIns="0" tIns="0" rIns="0" bIns="0" rtlCol="0"/>
          <a:lstStyle/>
          <a:p>
            <a:pPr algn="l" indent="0" marL="0">
              <a:buNone/>
            </a:pPr>
            <a:r>
              <a:rPr lang="en-US" sz="2000" dirty="0">
                <a:solidFill>
                  <a:srgbClr val="E7E5E4"/>
                </a:solidFill>
                <a:latin typeface="Lexend" pitchFamily="34" charset="0"/>
                <a:ea typeface="Lexend" pitchFamily="34" charset="-122"/>
                <a:cs typeface="Lexend" pitchFamily="34" charset="-120"/>
              </a:rPr>
              <a:t>Alejandro</a:t>
            </a:r>
            <a:endParaRPr lang="en-US" sz="2000" dirty="0"/>
          </a:p>
        </p:txBody>
      </p:sp>
      <p:sp>
        <p:nvSpPr>
          <p:cNvPr id="5" name="Text 0"/>
          <p:cNvSpPr/>
          <p:nvPr>
            <p:ph idx="103" type="body" hasCustomPrompt="1"/>
          </p:nvPr>
        </p:nvSpPr>
        <p:spPr>
          <a:xfrm>
            <a:off x="822960" y="4206240"/>
            <a:ext cx="10058400" cy="457200"/>
          </a:xfrm>
          <a:prstGeom prst="rect">
            <a:avLst/>
          </a:prstGeom>
          <a:noFill/>
          <a:ln/>
        </p:spPr>
        <p:txBody>
          <a:bodyPr wrap="square" lIns="0" tIns="0" rIns="0" bIns="0" rtlCol="0"/>
          <a:lstStyle/>
          <a:p>
            <a:pPr algn="l" indent="0" marL="0">
              <a:buNone/>
            </a:pPr>
            <a:r>
              <a:rPr lang="en-US" sz="1600" dirty="0">
                <a:solidFill>
                  <a:srgbClr val="A8A29E"/>
                </a:solidFill>
                <a:latin typeface="Quattrocento Sans" pitchFamily="34" charset="0"/>
                <a:ea typeface="Quattrocento Sans" pitchFamily="34" charset="-122"/>
                <a:cs typeface="Quattrocento Sans" pitchFamily="34" charset="-120"/>
              </a:rPr>
              <a:t>De dónde salen los datos, cómo se decide y qué propone hoy el motor</a:t>
            </a: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latin typeface="Quattrocento Sans"/>
                <a:ea typeface="Quattrocento Sans"/>
                <a:cs typeface="Quattrocento Sans"/>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749808" y="310896"/>
            <a:ext cx="10881360" cy="658368"/>
          </a:xfrm>
          <a:prstGeom prst="rect">
            <a:avLst/>
          </a:prstGeom>
          <a:noFill/>
          <a:ln/>
        </p:spPr>
        <p:txBody>
          <a:bodyPr wrap="square" lIns="0" tIns="0" rIns="0" bIns="0" rtlCol="0" anchor="ctr"/>
          <a:lstStyle/>
          <a:p>
            <a:pPr algn="l" indent="0" marL="0">
              <a:buNone/>
            </a:pPr>
            <a:r>
              <a:rPr lang="en-US" sz="2600" b="1" dirty="0">
                <a:solidFill>
                  <a:srgbClr val="1C1917"/>
                </a:solidFill>
                <a:latin typeface="Lexend" pitchFamily="34" charset="0"/>
                <a:ea typeface="Lexend" pitchFamily="34" charset="-122"/>
                <a:cs typeface="Lexend" pitchFamily="34" charset="-120"/>
              </a:rPr>
              <a:t>De datos abiertos a 194 polos</a:t>
            </a:r>
            <a:endParaRPr lang="en-US" sz="2600" dirty="0"/>
          </a:p>
        </p:txBody>
      </p:sp>
      <p:sp>
        <p:nvSpPr>
          <p:cNvPr id="3" name="Text 1"/>
          <p:cNvSpPr/>
          <p:nvPr>
            <p:ph idx="102" type="body" hasCustomPrompt="1"/>
          </p:nvPr>
        </p:nvSpPr>
        <p:spPr>
          <a:xfrm>
            <a:off x="749808" y="932688"/>
            <a:ext cx="10881360" cy="384048"/>
          </a:xfrm>
          <a:prstGeom prst="rect">
            <a:avLst/>
          </a:prstGeom>
          <a:noFill/>
          <a:ln/>
        </p:spPr>
        <p:txBody>
          <a:bodyPr wrap="square" lIns="0" tIns="0" rIns="0" bIns="0" rtlCol="0" anchor="t"/>
          <a:lstStyle/>
          <a:p>
            <a:pPr algn="l" indent="0" marL="0">
              <a:buNone/>
            </a:pPr>
            <a:r>
              <a:rPr lang="en-US" sz="1400" dirty="0">
                <a:solidFill>
                  <a:srgbClr val="57534E"/>
                </a:solidFill>
                <a:latin typeface="Quattrocento Sans" pitchFamily="34" charset="0"/>
                <a:ea typeface="Quattrocento Sans" pitchFamily="34" charset="-122"/>
                <a:cs typeface="Quattrocento Sans" pitchFamily="34" charset="-120"/>
              </a:rPr>
              <a:t>Todo sale de fuentes abiertas que se pueden redistribuir, y los datos llevan versión</a:t>
            </a:r>
            <a:endParaRPr lang="en-US" sz="1400" dirty="0"/>
          </a:p>
        </p:txBody>
      </p:sp>
      <p:sp>
        <p:nvSpPr>
          <p:cNvPr id="4" name="fuente 1"/>
          <p:cNvSpPr/>
          <p:nvPr/>
        </p:nvSpPr>
        <p:spPr>
          <a:xfrm>
            <a:off x="548640" y="1508760"/>
            <a:ext cx="6675120" cy="621792"/>
          </a:xfrm>
          <a:prstGeom prst="roundRect">
            <a:avLst>
              <a:gd name="adj" fmla="val 17647"/>
            </a:avLst>
          </a:prstGeom>
          <a:solidFill>
            <a:srgbClr val="FAFAF9"/>
          </a:solidFill>
          <a:ln w="12700">
            <a:solidFill>
              <a:srgbClr val="E7E5E4"/>
            </a:solidFill>
            <a:prstDash val="solid"/>
          </a:ln>
        </p:spPr>
      </p:sp>
      <p:sp>
        <p:nvSpPr>
          <p:cNvPr id="5" name="Text 3"/>
          <p:cNvSpPr txBox="1"/>
          <p:nvPr/>
        </p:nvSpPr>
        <p:spPr>
          <a:xfrm>
            <a:off x="777240" y="1664208"/>
            <a:ext cx="6309360" cy="365760"/>
          </a:xfrm>
          <a:prstGeom prst="rect">
            <a:avLst/>
          </a:prstGeom>
          <a:noFill/>
          <a:ln/>
        </p:spPr>
        <p:txBody>
          <a:bodyPr wrap="square" lIns="0" tIns="0" rIns="0" bIns="0" rtlCol="0" anchor="t"/>
          <a:lstStyle/>
          <a:p>
            <a:pPr indent="0" marL="0">
              <a:buNone/>
            </a:pPr>
            <a:r>
              <a:rPr lang="en-US" sz="1450" b="1" dirty="0">
                <a:solidFill>
                  <a:srgbClr val="1C1917"/>
                </a:solidFill>
                <a:latin typeface="Quattrocento Sans" pitchFamily="34" charset="0"/>
                <a:ea typeface="Quattrocento Sans" pitchFamily="34" charset="-122"/>
                <a:cs typeface="Quattrocento Sans" pitchFamily="34" charset="-120"/>
              </a:rPr>
              <a:t>6 225 fichas oficiales</a:t>
            </a:r>
            <a:pPr indent="0" marL="0">
              <a:spcAft>
                <a:spcPts val="1000"/>
              </a:spcAft>
              <a:buNone/>
            </a:pPr>
            <a:r>
              <a:rPr lang="en-US" sz="1450" dirty="0">
                <a:solidFill>
                  <a:srgbClr val="57534E"/>
                </a:solidFill>
                <a:latin typeface="Quattrocento Sans" pitchFamily="34" charset="0"/>
                <a:ea typeface="Quattrocento Sans" pitchFamily="34" charset="-122"/>
                <a:cs typeface="Quattrocento Sans" pitchFamily="34" charset="-120"/>
              </a:rPr>
              <a:t> de MINCETUR, leídas una por una, y 758 fiestas</a:t>
            </a:r>
            <a:endParaRPr lang="en-US" sz="1450" dirty="0"/>
          </a:p>
        </p:txBody>
      </p:sp>
      <p:sp>
        <p:nvSpPr>
          <p:cNvPr id="6" name="fuente 2"/>
          <p:cNvSpPr/>
          <p:nvPr/>
        </p:nvSpPr>
        <p:spPr>
          <a:xfrm>
            <a:off x="548640" y="2258568"/>
            <a:ext cx="6675120" cy="621792"/>
          </a:xfrm>
          <a:prstGeom prst="roundRect">
            <a:avLst>
              <a:gd name="adj" fmla="val 17647"/>
            </a:avLst>
          </a:prstGeom>
          <a:solidFill>
            <a:srgbClr val="FAFAF9"/>
          </a:solidFill>
          <a:ln w="12700">
            <a:solidFill>
              <a:srgbClr val="E7E5E4"/>
            </a:solidFill>
            <a:prstDash val="solid"/>
          </a:ln>
        </p:spPr>
      </p:sp>
      <p:sp>
        <p:nvSpPr>
          <p:cNvPr id="7" name="Text 5"/>
          <p:cNvSpPr txBox="1"/>
          <p:nvPr/>
        </p:nvSpPr>
        <p:spPr>
          <a:xfrm>
            <a:off x="777240" y="2414016"/>
            <a:ext cx="6309360" cy="365760"/>
          </a:xfrm>
          <a:prstGeom prst="rect">
            <a:avLst/>
          </a:prstGeom>
          <a:noFill/>
          <a:ln/>
        </p:spPr>
        <p:txBody>
          <a:bodyPr wrap="square" lIns="0" tIns="0" rIns="0" bIns="0" rtlCol="0" anchor="t"/>
          <a:lstStyle/>
          <a:p>
            <a:pPr indent="0" marL="0">
              <a:buNone/>
            </a:pPr>
            <a:r>
              <a:rPr lang="en-US" sz="1450" b="1" dirty="0">
                <a:solidFill>
                  <a:srgbClr val="1C1917"/>
                </a:solidFill>
                <a:latin typeface="Quattrocento Sans" pitchFamily="34" charset="0"/>
                <a:ea typeface="Quattrocento Sans" pitchFamily="34" charset="-122"/>
                <a:cs typeface="Quattrocento Sans" pitchFamily="34" charset="-120"/>
              </a:rPr>
              <a:t>Una red vial propia</a:t>
            </a:r>
            <a:pPr indent="0" marL="0">
              <a:spcAft>
                <a:spcPts val="1000"/>
              </a:spcAft>
              <a:buNone/>
            </a:pPr>
            <a:r>
              <a:rPr lang="en-US" sz="1450" dirty="0">
                <a:solidFill>
                  <a:srgbClr val="57534E"/>
                </a:solidFill>
                <a:latin typeface="Quattrocento Sans" pitchFamily="34" charset="0"/>
                <a:ea typeface="Quattrocento Sans" pitchFamily="34" charset="-122"/>
                <a:cs typeface="Quattrocento Sans" pitchFamily="34" charset="-120"/>
              </a:rPr>
              <a:t> sobre OpenStreetMap, con tren, botes y las 22 rutas aéreas de Lima</a:t>
            </a:r>
            <a:endParaRPr lang="en-US" sz="1450" dirty="0"/>
          </a:p>
        </p:txBody>
      </p:sp>
      <p:sp>
        <p:nvSpPr>
          <p:cNvPr id="8" name="fuente 3"/>
          <p:cNvSpPr/>
          <p:nvPr/>
        </p:nvSpPr>
        <p:spPr>
          <a:xfrm>
            <a:off x="548640" y="3008376"/>
            <a:ext cx="6675120" cy="621792"/>
          </a:xfrm>
          <a:prstGeom prst="roundRect">
            <a:avLst>
              <a:gd name="adj" fmla="val 17647"/>
            </a:avLst>
          </a:prstGeom>
          <a:solidFill>
            <a:srgbClr val="FAFAF9"/>
          </a:solidFill>
          <a:ln w="12700">
            <a:solidFill>
              <a:srgbClr val="E7E5E4"/>
            </a:solidFill>
            <a:prstDash val="solid"/>
          </a:ln>
        </p:spPr>
      </p:sp>
      <p:sp>
        <p:nvSpPr>
          <p:cNvPr id="9" name="Text 7"/>
          <p:cNvSpPr txBox="1"/>
          <p:nvPr/>
        </p:nvSpPr>
        <p:spPr>
          <a:xfrm>
            <a:off x="777240" y="3163824"/>
            <a:ext cx="6309360" cy="365760"/>
          </a:xfrm>
          <a:prstGeom prst="rect">
            <a:avLst/>
          </a:prstGeom>
          <a:noFill/>
          <a:ln/>
        </p:spPr>
        <p:txBody>
          <a:bodyPr wrap="square" lIns="0" tIns="0" rIns="0" bIns="0" rtlCol="0" anchor="t"/>
          <a:lstStyle/>
          <a:p>
            <a:pPr indent="0" marL="0">
              <a:buNone/>
            </a:pPr>
            <a:r>
              <a:rPr lang="en-US" sz="1450" b="1" dirty="0">
                <a:solidFill>
                  <a:srgbClr val="1C1917"/>
                </a:solidFill>
                <a:latin typeface="Quattrocento Sans" pitchFamily="34" charset="0"/>
                <a:ea typeface="Quattrocento Sans" pitchFamily="34" charset="-122"/>
                <a:cs typeface="Quattrocento Sans" pitchFamily="34" charset="-120"/>
              </a:rPr>
              <a:t>Diez años de lluvia</a:t>
            </a:r>
            <a:pPr indent="0" marL="0">
              <a:spcAft>
                <a:spcPts val="1000"/>
              </a:spcAft>
              <a:buNone/>
            </a:pPr>
            <a:r>
              <a:rPr lang="en-US" sz="1450" dirty="0">
                <a:solidFill>
                  <a:srgbClr val="57534E"/>
                </a:solidFill>
                <a:latin typeface="Quattrocento Sans" pitchFamily="34" charset="0"/>
                <a:ea typeface="Quattrocento Sans" pitchFamily="34" charset="-122"/>
                <a:cs typeface="Quattrocento Sans" pitchFamily="34" charset="-120"/>
              </a:rPr>
              <a:t> en cada polo, de Open-Meteo, y sus noches despejadas, de NOAA</a:t>
            </a:r>
            <a:endParaRPr lang="en-US" sz="1450" dirty="0"/>
          </a:p>
        </p:txBody>
      </p:sp>
      <p:sp>
        <p:nvSpPr>
          <p:cNvPr id="10" name="fuente 4"/>
          <p:cNvSpPr/>
          <p:nvPr/>
        </p:nvSpPr>
        <p:spPr>
          <a:xfrm>
            <a:off x="548640" y="3758184"/>
            <a:ext cx="6675120" cy="621792"/>
          </a:xfrm>
          <a:prstGeom prst="roundRect">
            <a:avLst>
              <a:gd name="adj" fmla="val 17647"/>
            </a:avLst>
          </a:prstGeom>
          <a:solidFill>
            <a:srgbClr val="FAFAF9"/>
          </a:solidFill>
          <a:ln w="12700">
            <a:solidFill>
              <a:srgbClr val="E7E5E4"/>
            </a:solidFill>
            <a:prstDash val="solid"/>
          </a:ln>
        </p:spPr>
      </p:sp>
      <p:sp>
        <p:nvSpPr>
          <p:cNvPr id="11" name="Text 9"/>
          <p:cNvSpPr txBox="1"/>
          <p:nvPr/>
        </p:nvSpPr>
        <p:spPr>
          <a:xfrm>
            <a:off x="777240" y="3913632"/>
            <a:ext cx="6309360" cy="365760"/>
          </a:xfrm>
          <a:prstGeom prst="rect">
            <a:avLst/>
          </a:prstGeom>
          <a:noFill/>
          <a:ln/>
        </p:spPr>
        <p:txBody>
          <a:bodyPr wrap="square" lIns="0" tIns="0" rIns="0" bIns="0" rtlCol="0" anchor="t"/>
          <a:lstStyle/>
          <a:p>
            <a:pPr indent="0" marL="0">
              <a:buNone/>
            </a:pPr>
            <a:r>
              <a:rPr lang="en-US" sz="1450" b="1" dirty="0">
                <a:solidFill>
                  <a:srgbClr val="1C1917"/>
                </a:solidFill>
                <a:latin typeface="Quattrocento Sans" pitchFamily="34" charset="0"/>
                <a:ea typeface="Quattrocento Sans" pitchFamily="34" charset="-122"/>
                <a:cs typeface="Quattrocento Sans" pitchFamily="34" charset="-120"/>
              </a:rPr>
              <a:t>Dónde comer y salir</a:t>
            </a:r>
            <a:pPr indent="0" marL="0">
              <a:spcAft>
                <a:spcPts val="1000"/>
              </a:spcAft>
              <a:buNone/>
            </a:pPr>
            <a:r>
              <a:rPr lang="en-US" sz="1450" dirty="0">
                <a:solidFill>
                  <a:srgbClr val="57534E"/>
                </a:solidFill>
                <a:latin typeface="Quattrocento Sans" pitchFamily="34" charset="0"/>
                <a:ea typeface="Quattrocento Sans" pitchFamily="34" charset="-122"/>
                <a:cs typeface="Quattrocento Sans" pitchFamily="34" charset="-120"/>
              </a:rPr>
              <a:t> cerca de cada lugar, de OpenStreetMap y Overture Maps</a:t>
            </a:r>
            <a:endParaRPr lang="en-US" sz="1450" dirty="0"/>
          </a:p>
        </p:txBody>
      </p:sp>
      <p:sp>
        <p:nvSpPr>
          <p:cNvPr id="12" name="fuente 5"/>
          <p:cNvSpPr/>
          <p:nvPr/>
        </p:nvSpPr>
        <p:spPr>
          <a:xfrm>
            <a:off x="548640" y="4507992"/>
            <a:ext cx="6675120" cy="621792"/>
          </a:xfrm>
          <a:prstGeom prst="roundRect">
            <a:avLst>
              <a:gd name="adj" fmla="val 17647"/>
            </a:avLst>
          </a:prstGeom>
          <a:solidFill>
            <a:srgbClr val="FAFAF9"/>
          </a:solidFill>
          <a:ln w="12700">
            <a:solidFill>
              <a:srgbClr val="E7E5E4"/>
            </a:solidFill>
            <a:prstDash val="solid"/>
          </a:ln>
        </p:spPr>
      </p:sp>
      <p:sp>
        <p:nvSpPr>
          <p:cNvPr id="13" name="Text 11"/>
          <p:cNvSpPr txBox="1"/>
          <p:nvPr/>
        </p:nvSpPr>
        <p:spPr>
          <a:xfrm>
            <a:off x="777240" y="4663440"/>
            <a:ext cx="6309360" cy="365760"/>
          </a:xfrm>
          <a:prstGeom prst="rect">
            <a:avLst/>
          </a:prstGeom>
          <a:noFill/>
          <a:ln/>
        </p:spPr>
        <p:txBody>
          <a:bodyPr wrap="square" lIns="0" tIns="0" rIns="0" bIns="0" rtlCol="0" anchor="t"/>
          <a:lstStyle/>
          <a:p>
            <a:pPr indent="0" marL="0">
              <a:buNone/>
            </a:pPr>
            <a:r>
              <a:rPr lang="en-US" sz="1450" b="1" dirty="0">
                <a:solidFill>
                  <a:srgbClr val="1C1917"/>
                </a:solidFill>
                <a:latin typeface="Quattrocento Sans" pitchFamily="34" charset="0"/>
                <a:ea typeface="Quattrocento Sans" pitchFamily="34" charset="-122"/>
                <a:cs typeface="Quattrocento Sans" pitchFamily="34" charset="-120"/>
              </a:rPr>
              <a:t>La luz del cielo y la altura</a:t>
            </a:r>
            <a:pPr indent="0" marL="0">
              <a:spcAft>
                <a:spcPts val="1000"/>
              </a:spcAft>
              <a:buNone/>
            </a:pPr>
            <a:r>
              <a:rPr lang="en-US" sz="1450" dirty="0">
                <a:solidFill>
                  <a:srgbClr val="57534E"/>
                </a:solidFill>
                <a:latin typeface="Quattrocento Sans" pitchFamily="34" charset="0"/>
                <a:ea typeface="Quattrocento Sans" pitchFamily="34" charset="-122"/>
                <a:cs typeface="Quattrocento Sans" pitchFamily="34" charset="-120"/>
              </a:rPr>
              <a:t> de cada base, de VIIRS y Terrain Tiles</a:t>
            </a:r>
            <a:endParaRPr lang="en-US" sz="1450" dirty="0"/>
          </a:p>
        </p:txBody>
      </p:sp>
      <p:sp>
        <p:nvSpPr>
          <p:cNvPr id="14" name="fuente 6"/>
          <p:cNvSpPr/>
          <p:nvPr/>
        </p:nvSpPr>
        <p:spPr>
          <a:xfrm>
            <a:off x="548640" y="5257800"/>
            <a:ext cx="6675120" cy="621792"/>
          </a:xfrm>
          <a:prstGeom prst="roundRect">
            <a:avLst>
              <a:gd name="adj" fmla="val 17647"/>
            </a:avLst>
          </a:prstGeom>
          <a:solidFill>
            <a:srgbClr val="FAFAF9"/>
          </a:solidFill>
          <a:ln w="12700">
            <a:solidFill>
              <a:srgbClr val="E7E5E4"/>
            </a:solidFill>
            <a:prstDash val="solid"/>
          </a:ln>
        </p:spPr>
      </p:sp>
      <p:sp>
        <p:nvSpPr>
          <p:cNvPr id="15" name="Text 13"/>
          <p:cNvSpPr txBox="1"/>
          <p:nvPr/>
        </p:nvSpPr>
        <p:spPr>
          <a:xfrm>
            <a:off x="777240" y="5413248"/>
            <a:ext cx="6309360" cy="365760"/>
          </a:xfrm>
          <a:prstGeom prst="rect">
            <a:avLst/>
          </a:prstGeom>
          <a:noFill/>
          <a:ln/>
        </p:spPr>
        <p:txBody>
          <a:bodyPr wrap="square" lIns="0" tIns="0" rIns="0" bIns="0" rtlCol="0" anchor="t"/>
          <a:lstStyle/>
          <a:p>
            <a:pPr indent="0" marL="0">
              <a:buNone/>
            </a:pPr>
            <a:r>
              <a:rPr lang="en-US" sz="1450" b="1" dirty="0">
                <a:solidFill>
                  <a:srgbClr val="1C1917"/>
                </a:solidFill>
                <a:latin typeface="Quattrocento Sans" pitchFamily="34" charset="0"/>
                <a:ea typeface="Quattrocento Sans" pitchFamily="34" charset="-122"/>
                <a:cs typeface="Quattrocento Sans" pitchFamily="34" charset="-120"/>
              </a:rPr>
              <a:t>Fotos de licencia libre</a:t>
            </a:r>
            <a:pPr indent="0" marL="0">
              <a:spcAft>
                <a:spcPts val="1000"/>
              </a:spcAft>
              <a:buNone/>
            </a:pPr>
            <a:r>
              <a:rPr lang="en-US" sz="1450" dirty="0">
                <a:solidFill>
                  <a:srgbClr val="57534E"/>
                </a:solidFill>
                <a:latin typeface="Quattrocento Sans" pitchFamily="34" charset="0"/>
                <a:ea typeface="Quattrocento Sans" pitchFamily="34" charset="-122"/>
                <a:cs typeface="Quattrocento Sans" pitchFamily="34" charset="-120"/>
              </a:rPr>
              <a:t> de Wikimedia Commons, con su autor</a:t>
            </a:r>
            <a:endParaRPr lang="en-US" sz="1450" dirty="0"/>
          </a:p>
        </p:txBody>
      </p:sp>
      <p:sp>
        <p:nvSpPr>
          <p:cNvPr id="16" name="flecha"/>
          <p:cNvSpPr/>
          <p:nvPr/>
        </p:nvSpPr>
        <p:spPr>
          <a:xfrm>
            <a:off x="7452360" y="3246120"/>
            <a:ext cx="594360" cy="457200"/>
          </a:xfrm>
          <a:prstGeom prst="rightArrow">
            <a:avLst/>
          </a:prstGeom>
          <a:solidFill>
            <a:srgbClr val="A8A29E"/>
          </a:solidFill>
          <a:ln w="12700">
            <a:solidFill>
              <a:srgbClr val="A8A29E"/>
            </a:solidFill>
            <a:prstDash val="solid"/>
          </a:ln>
        </p:spPr>
      </p:sp>
      <p:sp>
        <p:nvSpPr>
          <p:cNvPr id="17" name="Text 15"/>
          <p:cNvSpPr txBox="1"/>
          <p:nvPr/>
        </p:nvSpPr>
        <p:spPr>
          <a:xfrm>
            <a:off x="8321040" y="1691640"/>
            <a:ext cx="3291840" cy="1143000"/>
          </a:xfrm>
          <a:prstGeom prst="rect">
            <a:avLst/>
          </a:prstGeom>
          <a:noFill/>
          <a:ln/>
        </p:spPr>
        <p:txBody>
          <a:bodyPr wrap="square" lIns="0" tIns="0" rIns="0" bIns="0" rtlCol="0" anchor="ctr"/>
          <a:lstStyle/>
          <a:p>
            <a:pPr indent="0" marL="0">
              <a:buNone/>
            </a:pPr>
            <a:r>
              <a:rPr lang="en-US" sz="8000" b="1" dirty="0">
                <a:solidFill>
                  <a:srgbClr val="C2410C"/>
                </a:solidFill>
                <a:latin typeface="Lexend" pitchFamily="34" charset="0"/>
                <a:ea typeface="Lexend" pitchFamily="34" charset="-122"/>
                <a:cs typeface="Lexend" pitchFamily="34" charset="-120"/>
              </a:rPr>
              <a:t>194</a:t>
            </a:r>
            <a:endParaRPr lang="en-US" sz="8000" dirty="0"/>
          </a:p>
        </p:txBody>
      </p:sp>
      <p:sp>
        <p:nvSpPr>
          <p:cNvPr id="18" name="Text 16"/>
          <p:cNvSpPr txBox="1"/>
          <p:nvPr/>
        </p:nvSpPr>
        <p:spPr>
          <a:xfrm>
            <a:off x="8321040" y="2880360"/>
            <a:ext cx="3291840" cy="685800"/>
          </a:xfrm>
          <a:prstGeom prst="rect">
            <a:avLst/>
          </a:prstGeom>
          <a:noFill/>
          <a:ln/>
        </p:spPr>
        <p:txBody>
          <a:bodyPr wrap="square" lIns="0" tIns="0" rIns="0" bIns="0" rtlCol="0" anchor="t"/>
          <a:lstStyle/>
          <a:p>
            <a:pPr indent="0" marL="0">
              <a:buNone/>
            </a:pPr>
            <a:r>
              <a:rPr lang="en-US" sz="1500" dirty="0">
                <a:solidFill>
                  <a:srgbClr val="57534E"/>
                </a:solidFill>
                <a:latin typeface="Quattrocento Sans" pitchFamily="34" charset="0"/>
                <a:ea typeface="Quattrocento Sans" pitchFamily="34" charset="-122"/>
                <a:cs typeface="Quattrocento Sans" pitchFamily="34" charset="-120"/>
              </a:rPr>
              <a:t>polos turísticos, uno por cada pueblo donde se duerme</a:t>
            </a:r>
            <a:endParaRPr lang="en-US" sz="1500" dirty="0"/>
          </a:p>
        </p:txBody>
      </p:sp>
      <p:sp>
        <p:nvSpPr>
          <p:cNvPr id="19" name="Text 17"/>
          <p:cNvSpPr txBox="1"/>
          <p:nvPr/>
        </p:nvSpPr>
        <p:spPr>
          <a:xfrm>
            <a:off x="8321040" y="3886200"/>
            <a:ext cx="3291840" cy="1645920"/>
          </a:xfrm>
          <a:prstGeom prst="rect">
            <a:avLst/>
          </a:prstGeom>
          <a:noFill/>
          <a:ln/>
        </p:spPr>
        <p:txBody>
          <a:bodyPr wrap="square" lIns="0" tIns="0" rIns="0" bIns="0" rtlCol="0" anchor="t"/>
          <a:lstStyle/>
          <a:p>
            <a:pPr indent="0" marL="0">
              <a:buNone/>
            </a:pPr>
            <a:r>
              <a:rPr lang="en-US" sz="1600" b="1" dirty="0">
                <a:solidFill>
                  <a:srgbClr val="1C1917"/>
                </a:solidFill>
                <a:latin typeface="Lexend" pitchFamily="34" charset="0"/>
                <a:ea typeface="Lexend" pitchFamily="34" charset="-122"/>
                <a:cs typeface="Lexend" pitchFamily="34" charset="-120"/>
              </a:rPr>
              <a:t>4 465</a:t>
            </a:r>
            <a:pPr indent="0" marL="0">
              <a:spcAft>
                <a:spcPts val="800"/>
              </a:spcAft>
              <a:buNone/>
            </a:pPr>
            <a:r>
              <a:rPr lang="en-US" sz="1600" dirty="0">
                <a:solidFill>
                  <a:srgbClr val="57534E"/>
                </a:solidFill>
                <a:latin typeface="Quattrocento Sans" pitchFamily="34" charset="0"/>
                <a:ea typeface="Quattrocento Sans" pitchFamily="34" charset="-122"/>
                <a:cs typeface="Quattrocento Sans" pitchFamily="34" charset="-120"/>
              </a:rPr>
              <a:t> lugares que pueden ser parada</a:t>
            </a:r>
            <a:endParaRPr lang="en-US" sz="1600" dirty="0"/>
          </a:p>
          <a:p>
            <a:pPr indent="0" marL="0">
              <a:buNone/>
            </a:pPr>
            <a:r>
              <a:rPr lang="en-US" sz="1600" b="1" dirty="0">
                <a:solidFill>
                  <a:srgbClr val="1C1917"/>
                </a:solidFill>
                <a:latin typeface="Lexend" pitchFamily="34" charset="0"/>
                <a:ea typeface="Lexend" pitchFamily="34" charset="-122"/>
                <a:cs typeface="Lexend" pitchFamily="34" charset="-120"/>
              </a:rPr>
              <a:t>24</a:t>
            </a:r>
            <a:pPr indent="0" marL="0">
              <a:spcAft>
                <a:spcPts val="800"/>
              </a:spcAft>
              <a:buNone/>
            </a:pPr>
            <a:r>
              <a:rPr lang="en-US" sz="1600" dirty="0">
                <a:solidFill>
                  <a:srgbClr val="57534E"/>
                </a:solidFill>
                <a:latin typeface="Quattrocento Sans" pitchFamily="34" charset="0"/>
                <a:ea typeface="Quattrocento Sans" pitchFamily="34" charset="-122"/>
                <a:cs typeface="Quattrocento Sans" pitchFamily="34" charset="-120"/>
              </a:rPr>
              <a:t> ciudades de origen</a:t>
            </a:r>
            <a:endParaRPr lang="en-US" sz="1600" dirty="0"/>
          </a:p>
          <a:p>
            <a:pPr indent="0" marL="0">
              <a:buNone/>
            </a:pPr>
            <a:r>
              <a:rPr lang="en-US" sz="1600" b="1" dirty="0">
                <a:solidFill>
                  <a:srgbClr val="1C1917"/>
                </a:solidFill>
                <a:latin typeface="Lexend" pitchFamily="34" charset="0"/>
                <a:ea typeface="Lexend" pitchFamily="34" charset="-122"/>
                <a:cs typeface="Lexend" pitchFamily="34" charset="-120"/>
              </a:rPr>
              <a:t>2026.10.8</a:t>
            </a:r>
            <a:pPr indent="0" marL="0">
              <a:buNone/>
            </a:pPr>
            <a:r>
              <a:rPr lang="en-US" sz="1600" dirty="0">
                <a:solidFill>
                  <a:srgbClr val="57534E"/>
                </a:solidFill>
                <a:latin typeface="Quattrocento Sans" pitchFamily="34" charset="0"/>
                <a:ea typeface="Quattrocento Sans" pitchFamily="34" charset="-122"/>
                <a:cs typeface="Quattrocento Sans" pitchFamily="34" charset="-120"/>
              </a:rPr>
              <a:t> la versión de los datos</a:t>
            </a: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latin typeface="Quattrocento Sans"/>
                <a:ea typeface="Quattrocento Sans"/>
                <a:cs typeface="Quattrocento Sans"/>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749808" y="310896"/>
            <a:ext cx="10881360" cy="658368"/>
          </a:xfrm>
          <a:prstGeom prst="rect">
            <a:avLst/>
          </a:prstGeom>
          <a:noFill/>
          <a:ln/>
        </p:spPr>
        <p:txBody>
          <a:bodyPr wrap="square" lIns="0" tIns="0" rIns="0" bIns="0" rtlCol="0" anchor="ctr"/>
          <a:lstStyle/>
          <a:p>
            <a:pPr algn="l" indent="0" marL="0">
              <a:buNone/>
            </a:pPr>
            <a:r>
              <a:rPr lang="en-US" sz="2600" b="1" dirty="0">
                <a:solidFill>
                  <a:srgbClr val="1C1917"/>
                </a:solidFill>
                <a:latin typeface="Lexend" pitchFamily="34" charset="0"/>
                <a:ea typeface="Lexend" pitchFamily="34" charset="-122"/>
                <a:cs typeface="Lexend" pitchFamily="34" charset="-120"/>
              </a:rPr>
              <a:t>Cuatro métodos, cada uno medido</a:t>
            </a:r>
            <a:endParaRPr lang="en-US" sz="2600" dirty="0"/>
          </a:p>
        </p:txBody>
      </p:sp>
      <p:sp>
        <p:nvSpPr>
          <p:cNvPr id="3" name="Text 1"/>
          <p:cNvSpPr/>
          <p:nvPr>
            <p:ph idx="102" type="body" hasCustomPrompt="1"/>
          </p:nvPr>
        </p:nvSpPr>
        <p:spPr>
          <a:xfrm>
            <a:off x="749808" y="932688"/>
            <a:ext cx="10881360" cy="384048"/>
          </a:xfrm>
          <a:prstGeom prst="rect">
            <a:avLst/>
          </a:prstGeom>
          <a:noFill/>
          <a:ln/>
        </p:spPr>
        <p:txBody>
          <a:bodyPr wrap="square" lIns="0" tIns="0" rIns="0" bIns="0" rtlCol="0" anchor="t"/>
          <a:lstStyle/>
          <a:p>
            <a:pPr algn="l" indent="0" marL="0">
              <a:buNone/>
            </a:pPr>
            <a:r>
              <a:rPr lang="en-US" sz="1400" dirty="0">
                <a:solidFill>
                  <a:srgbClr val="57534E"/>
                </a:solidFill>
                <a:latin typeface="Quattrocento Sans" pitchFamily="34" charset="0"/>
                <a:ea typeface="Quattrocento Sans" pitchFamily="34" charset="-122"/>
                <a:cs typeface="Quattrocento Sans" pitchFamily="34" charset="-120"/>
              </a:rPr>
              <a:t>No hay clics ni valoraciones de los que aprender: cada método es declarado y tiene su medida (decisión 0004)</a:t>
            </a:r>
            <a:endParaRPr lang="en-US" sz="1400" dirty="0"/>
          </a:p>
        </p:txBody>
      </p:sp>
      <p:graphicFrame>
        <p:nvGraphicFramePr>
          <p:cNvPr id="21" name="tabla de métodos"/>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2240280"/>
                <a:gridCol w="4480560"/>
                <a:gridCol w="4370832"/>
              </a:tblGrid>
              <a:tr h="0">
                <a:tc>
                  <a:txBody>
                    <a:bodyPr/>
                    <a:lstStyle/>
                    <a:p>
                      <a:pPr indent="0" marL="0">
                        <a:buNone/>
                      </a:pPr>
                      <a:r>
                        <a:rPr lang="en-US" sz="1450" b="1" dirty="0">
                          <a:solidFill>
                            <a:srgbClr val="FFFFFF"/>
                          </a:solidFill>
                          <a:latin typeface="Quattrocento Sans" pitchFamily="34" charset="0"/>
                          <a:ea typeface="Quattrocento Sans" pitchFamily="34" charset="-122"/>
                          <a:cs typeface="Quattrocento Sans" pitchFamily="34" charset="-120"/>
                        </a:rPr>
                        <a:t>Método</a:t>
                      </a:r>
                      <a:endParaRPr lang="en-US" sz="145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C2410C"/>
                    </a:solidFill>
                  </a:tcPr>
                </a:tc>
                <a:tc>
                  <a:txBody>
                    <a:bodyPr/>
                    <a:lstStyle/>
                    <a:p>
                      <a:pPr indent="0" marL="0">
                        <a:buNone/>
                      </a:pPr>
                      <a:r>
                        <a:rPr lang="en-US" sz="1450" b="1" dirty="0">
                          <a:solidFill>
                            <a:srgbClr val="FFFFFF"/>
                          </a:solidFill>
                          <a:latin typeface="Quattrocento Sans" pitchFamily="34" charset="0"/>
                          <a:ea typeface="Quattrocento Sans" pitchFamily="34" charset="-122"/>
                          <a:cs typeface="Quattrocento Sans" pitchFamily="34" charset="-120"/>
                        </a:rPr>
                        <a:t>Qué hace</a:t>
                      </a:r>
                      <a:endParaRPr lang="en-US" sz="145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C2410C"/>
                    </a:solidFill>
                  </a:tcPr>
                </a:tc>
                <a:tc>
                  <a:txBody>
                    <a:bodyPr/>
                    <a:lstStyle/>
                    <a:p>
                      <a:pPr indent="0" marL="0">
                        <a:buNone/>
                      </a:pPr>
                      <a:r>
                        <a:rPr lang="en-US" sz="1450" b="1" dirty="0">
                          <a:solidFill>
                            <a:srgbClr val="FFFFFF"/>
                          </a:solidFill>
                          <a:latin typeface="Quattrocento Sans" pitchFamily="34" charset="0"/>
                          <a:ea typeface="Quattrocento Sans" pitchFamily="34" charset="-122"/>
                          <a:cs typeface="Quattrocento Sans" pitchFamily="34" charset="-120"/>
                        </a:rPr>
                        <a:t>Cómo se midió</a:t>
                      </a:r>
                      <a:endParaRPr lang="en-US" sz="145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C2410C"/>
                    </a:solidFill>
                  </a:tcPr>
                </a:tc>
              </a:tr>
              <a:tr h="0">
                <a:tc>
                  <a:txBody>
                    <a:bodyPr/>
                    <a:lstStyle/>
                    <a:p>
                      <a:pPr indent="0" marL="0">
                        <a:buNone/>
                      </a:pPr>
                      <a:r>
                        <a:rPr lang="en-US" sz="1450" b="1" dirty="0">
                          <a:solidFill>
                            <a:srgbClr val="1C1917"/>
                          </a:solidFill>
                          <a:latin typeface="Quattrocento Sans" pitchFamily="34" charset="0"/>
                          <a:ea typeface="Quattrocento Sans" pitchFamily="34" charset="-122"/>
                          <a:cs typeface="Quattrocento Sans" pitchFamily="34" charset="-120"/>
                        </a:rPr>
                        <a:t>Agrupamiento (TA-01)</a:t>
                      </a:r>
                      <a:endParaRPr lang="en-US" sz="145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AFAF9"/>
                    </a:solidFill>
                  </a:tcPr>
                </a:tc>
                <a:tc>
                  <a:txBody>
                    <a:bodyPr/>
                    <a:lstStyle/>
                    <a:p>
                      <a:pPr indent="0" marL="0">
                        <a:buNone/>
                      </a:pPr>
                      <a:r>
                        <a:rPr lang="en-US" sz="1450" dirty="0">
                          <a:solidFill>
                            <a:srgbClr val="57534E"/>
                          </a:solidFill>
                          <a:latin typeface="Quattrocento Sans" pitchFamily="34" charset="0"/>
                          <a:ea typeface="Quattrocento Sans" pitchFamily="34" charset="-122"/>
                          <a:cs typeface="Quattrocento Sans" pitchFamily="34" charset="-120"/>
                        </a:rPr>
                        <a:t>Junta los lugares en 222 grupos; los que duermen en el mismo pueblo son un polo: 194</a:t>
                      </a:r>
                      <a:endParaRPr lang="en-US" sz="145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AFAF9"/>
                    </a:solidFill>
                  </a:tcPr>
                </a:tc>
                <a:tc>
                  <a:txBody>
                    <a:bodyPr/>
                    <a:lstStyle/>
                    <a:p>
                      <a:pPr indent="0" marL="0">
                        <a:buNone/>
                      </a:pPr>
                      <a:r>
                        <a:rPr lang="en-US" sz="1450" dirty="0">
                          <a:solidFill>
                            <a:srgbClr val="57534E"/>
                          </a:solidFill>
                          <a:latin typeface="Quattrocento Sans" pitchFamily="34" charset="0"/>
                          <a:ea typeface="Quattrocento Sans" pitchFamily="34" charset="-122"/>
                          <a:cs typeface="Quattrocento Sans" pitchFamily="34" charset="-120"/>
                        </a:rPr>
                        <a:t>Ningún grupo pasa de 80 km de viaje. HDBSCAN daba grupos de 21 horas de punta a punta</a:t>
                      </a:r>
                      <a:endParaRPr lang="en-US" sz="145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AFAF9"/>
                    </a:solidFill>
                  </a:tcPr>
                </a:tc>
              </a:tr>
              <a:tr h="0">
                <a:tc>
                  <a:txBody>
                    <a:bodyPr/>
                    <a:lstStyle/>
                    <a:p>
                      <a:pPr indent="0" marL="0">
                        <a:buNone/>
                      </a:pPr>
                      <a:r>
                        <a:rPr lang="en-US" sz="1450" b="1" dirty="0">
                          <a:solidFill>
                            <a:srgbClr val="1C1917"/>
                          </a:solidFill>
                          <a:latin typeface="Quattrocento Sans" pitchFamily="34" charset="0"/>
                          <a:ea typeface="Quattrocento Sans" pitchFamily="34" charset="-122"/>
                          <a:cs typeface="Quattrocento Sans" pitchFamily="34" charset="-120"/>
                        </a:rPr>
                        <a:t>Tiempos de viaje</a:t>
                      </a:r>
                      <a:endParaRPr lang="en-US" sz="145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FFFFF"/>
                    </a:solidFill>
                  </a:tcPr>
                </a:tc>
                <a:tc>
                  <a:txBody>
                    <a:bodyPr/>
                    <a:lstStyle/>
                    <a:p>
                      <a:pPr indent="0" marL="0">
                        <a:buNone/>
                      </a:pPr>
                      <a:r>
                        <a:rPr lang="en-US" sz="1450" dirty="0">
                          <a:solidFill>
                            <a:srgbClr val="57534E"/>
                          </a:solidFill>
                          <a:latin typeface="Quattrocento Sans" pitchFamily="34" charset="0"/>
                          <a:ea typeface="Quattrocento Sans" pitchFamily="34" charset="-122"/>
                          <a:cs typeface="Quattrocento Sans" pitchFamily="34" charset="-120"/>
                        </a:rPr>
                        <a:t>El camino más rápido sobre una red de 1,45 millones de vértices, con tren, botes y vuelos</a:t>
                      </a:r>
                      <a:endParaRPr lang="en-US" sz="145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FFFFF"/>
                    </a:solidFill>
                  </a:tcPr>
                </a:tc>
                <a:tc>
                  <a:txBody>
                    <a:bodyPr/>
                    <a:lstStyle/>
                    <a:p>
                      <a:pPr indent="0" marL="0">
                        <a:buNone/>
                      </a:pPr>
                      <a:r>
                        <a:rPr lang="en-US" sz="1450" dirty="0">
                          <a:solidFill>
                            <a:srgbClr val="57534E"/>
                          </a:solidFill>
                          <a:latin typeface="Quattrocento Sans" pitchFamily="34" charset="0"/>
                          <a:ea typeface="Quattrocento Sans" pitchFamily="34" charset="-122"/>
                          <a:cs typeface="Quattrocento Sans" pitchFamily="34" charset="-120"/>
                        </a:rPr>
                        <a:t>22 % de error medio contra 1 780 recorridos de las fichas. La fórmula inicial erraba en 48 %</a:t>
                      </a:r>
                      <a:endParaRPr lang="en-US" sz="145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FFFFF"/>
                    </a:solidFill>
                  </a:tcPr>
                </a:tc>
              </a:tr>
              <a:tr h="0">
                <a:tc>
                  <a:txBody>
                    <a:bodyPr/>
                    <a:lstStyle/>
                    <a:p>
                      <a:pPr indent="0" marL="0">
                        <a:buNone/>
                      </a:pPr>
                      <a:r>
                        <a:rPr lang="en-US" sz="1450" b="1" dirty="0">
                          <a:solidFill>
                            <a:srgbClr val="1C1917"/>
                          </a:solidFill>
                          <a:latin typeface="Quattrocento Sans" pitchFamily="34" charset="0"/>
                          <a:ea typeface="Quattrocento Sans" pitchFamily="34" charset="-122"/>
                          <a:cs typeface="Quattrocento Sans" pitchFamily="34" charset="-120"/>
                        </a:rPr>
                        <a:t>Estacionalidad (TA-05)</a:t>
                      </a:r>
                      <a:endParaRPr lang="en-US" sz="145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AFAF9"/>
                    </a:solidFill>
                  </a:tcPr>
                </a:tc>
                <a:tc>
                  <a:txBody>
                    <a:bodyPr/>
                    <a:lstStyle/>
                    <a:p>
                      <a:pPr indent="0" marL="0">
                        <a:buNone/>
                      </a:pPr>
                      <a:r>
                        <a:rPr lang="en-US" sz="1450" dirty="0">
                          <a:solidFill>
                            <a:srgbClr val="57534E"/>
                          </a:solidFill>
                          <a:latin typeface="Quattrocento Sans" pitchFamily="34" charset="0"/>
                          <a:ea typeface="Quattrocento Sans" pitchFamily="34" charset="-122"/>
                          <a:cs typeface="Quattrocento Sans" pitchFamily="34" charset="-120"/>
                        </a:rPr>
                        <a:t>Cada mes conviene, lleva advertencia o se desaconseja, según diez años de lluvia</a:t>
                      </a:r>
                      <a:endParaRPr lang="en-US" sz="145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AFAF9"/>
                    </a:solidFill>
                  </a:tcPr>
                </a:tc>
                <a:tc>
                  <a:txBody>
                    <a:bodyPr/>
                    <a:lstStyle/>
                    <a:p>
                      <a:pPr indent="0" marL="0">
                        <a:buNone/>
                      </a:pPr>
                      <a:r>
                        <a:rPr lang="en-US" sz="1450" dirty="0">
                          <a:solidFill>
                            <a:srgbClr val="57534E"/>
                          </a:solidFill>
                          <a:latin typeface="Quattrocento Sans" pitchFamily="34" charset="0"/>
                          <a:ea typeface="Quattrocento Sans" pitchFamily="34" charset="-122"/>
                          <a:cs typeface="Quattrocento Sans" pitchFamily="34" charset="-120"/>
                        </a:rPr>
                        <a:t>Regla declarada, no predicción</a:t>
                      </a:r>
                      <a:endParaRPr lang="en-US" sz="145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AFAF9"/>
                    </a:solidFill>
                  </a:tcPr>
                </a:tc>
              </a:tr>
              <a:tr h="0">
                <a:tc>
                  <a:txBody>
                    <a:bodyPr/>
                    <a:lstStyle/>
                    <a:p>
                      <a:pPr indent="0" marL="0">
                        <a:buNone/>
                      </a:pPr>
                      <a:r>
                        <a:rPr lang="en-US" sz="1450" b="1" dirty="0">
                          <a:solidFill>
                            <a:srgbClr val="1C1917"/>
                          </a:solidFill>
                          <a:latin typeface="Quattrocento Sans" pitchFamily="34" charset="0"/>
                          <a:ea typeface="Quattrocento Sans" pitchFamily="34" charset="-122"/>
                          <a:cs typeface="Quattrocento Sans" pitchFamily="34" charset="-120"/>
                        </a:rPr>
                        <a:t>Itinerario (TA-04)</a:t>
                      </a:r>
                      <a:endParaRPr lang="en-US" sz="145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FFFFF"/>
                    </a:solidFill>
                  </a:tcPr>
                </a:tc>
                <a:tc>
                  <a:txBody>
                    <a:bodyPr/>
                    <a:lstStyle/>
                    <a:p>
                      <a:pPr indent="0" marL="0">
                        <a:buNone/>
                      </a:pPr>
                      <a:r>
                        <a:rPr lang="en-US" sz="1450" dirty="0">
                          <a:solidFill>
                            <a:srgbClr val="57534E"/>
                          </a:solidFill>
                          <a:latin typeface="Quattrocento Sans" pitchFamily="34" charset="0"/>
                          <a:ea typeface="Quattrocento Sans" pitchFamily="34" charset="-122"/>
                          <a:cs typeface="Quattrocento Sans" pitchFamily="34" charset="-120"/>
                        </a:rPr>
                        <a:t>Qué visitar y en qué orden, en jornadas de 8 horas, con almuerzo</a:t>
                      </a:r>
                      <a:endParaRPr lang="en-US" sz="145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FFFFF"/>
                    </a:solidFill>
                  </a:tcPr>
                </a:tc>
                <a:tc>
                  <a:txBody>
                    <a:bodyPr/>
                    <a:lstStyle/>
                    <a:p>
                      <a:pPr indent="0" marL="0">
                        <a:buNone/>
                      </a:pPr>
                      <a:r>
                        <a:rPr lang="en-US" sz="1450" dirty="0">
                          <a:solidFill>
                            <a:srgbClr val="57534E"/>
                          </a:solidFill>
                          <a:latin typeface="Quattrocento Sans" pitchFamily="34" charset="0"/>
                          <a:ea typeface="Quattrocento Sans" pitchFamily="34" charset="-122"/>
                          <a:cs typeface="Quattrocento Sans" pitchFamily="34" charset="-120"/>
                        </a:rPr>
                        <a:t>Catorce propiedades, en 1 000 consultas al azar</a:t>
                      </a:r>
                      <a:endParaRPr lang="en-US" sz="145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FFFFF"/>
                    </a:solidFill>
                  </a:tcPr>
                </a:tc>
              </a:tr>
            </a:tbl>
          </a:graphicData>
        </a:graphic>
      </p:graphicFrame>
      <p:sp>
        <p:nvSpPr>
          <p:cNvPr id="5" name="puntaje"/>
          <p:cNvSpPr/>
          <p:nvPr/>
        </p:nvSpPr>
        <p:spPr>
          <a:xfrm>
            <a:off x="548640" y="4206240"/>
            <a:ext cx="5440680" cy="960120"/>
          </a:xfrm>
          <a:prstGeom prst="roundRect">
            <a:avLst>
              <a:gd name="adj" fmla="val 11429"/>
            </a:avLst>
          </a:prstGeom>
          <a:solidFill>
            <a:srgbClr val="F5F5F4"/>
          </a:solidFill>
          <a:ln w="12700">
            <a:solidFill>
              <a:srgbClr val="E7E5E4"/>
            </a:solidFill>
            <a:prstDash val="solid"/>
          </a:ln>
        </p:spPr>
      </p:sp>
      <p:sp>
        <p:nvSpPr>
          <p:cNvPr id="6" name="Text 3"/>
          <p:cNvSpPr txBox="1"/>
          <p:nvPr/>
        </p:nvSpPr>
        <p:spPr>
          <a:xfrm>
            <a:off x="777240" y="4361688"/>
            <a:ext cx="5029200" cy="685800"/>
          </a:xfrm>
          <a:prstGeom prst="rect">
            <a:avLst/>
          </a:prstGeom>
          <a:noFill/>
          <a:ln/>
        </p:spPr>
        <p:txBody>
          <a:bodyPr wrap="square" lIns="0" tIns="0" rIns="0" bIns="0" rtlCol="0" anchor="t"/>
          <a:lstStyle/>
          <a:p>
            <a:pPr indent="0" marL="0">
              <a:buNone/>
            </a:pPr>
            <a:r>
              <a:rPr lang="en-US" sz="1500" b="1" dirty="0">
                <a:solidFill>
                  <a:srgbClr val="1C1917"/>
                </a:solidFill>
                <a:latin typeface="Quattrocento Sans" pitchFamily="34" charset="0"/>
                <a:ea typeface="Quattrocento Sans" pitchFamily="34" charset="-122"/>
                <a:cs typeface="Quattrocento Sans" pitchFamily="34" charset="-120"/>
              </a:rPr>
              <a:t>Puntaje = </a:t>
            </a:r>
            <a:pPr indent="0" marL="0">
              <a:spcAft>
                <a:spcPts val="1000"/>
              </a:spcAft>
              <a:buNone/>
            </a:pPr>
            <a:r>
              <a:rPr lang="en-US" sz="1500" dirty="0">
                <a:solidFill>
                  <a:srgbClr val="57534E"/>
                </a:solidFill>
                <a:latin typeface="Quattrocento Sans" pitchFamily="34" charset="0"/>
                <a:ea typeface="Quattrocento Sans" pitchFamily="34" charset="-122"/>
                <a:cs typeface="Quattrocento Sans" pitchFamily="34" charset="-120"/>
              </a:rPr>
              <a:t>70 % calidad, con la temporada y el presupuesto, + 30 % novedad</a:t>
            </a:r>
            <a:endParaRPr lang="en-US" sz="1500" dirty="0"/>
          </a:p>
        </p:txBody>
      </p:sp>
      <p:sp>
        <p:nvSpPr>
          <p:cNvPr id="7" name="costo"/>
          <p:cNvSpPr/>
          <p:nvPr/>
        </p:nvSpPr>
        <p:spPr>
          <a:xfrm>
            <a:off x="6199632" y="4206240"/>
            <a:ext cx="5440680" cy="960120"/>
          </a:xfrm>
          <a:prstGeom prst="roundRect">
            <a:avLst>
              <a:gd name="adj" fmla="val 11429"/>
            </a:avLst>
          </a:prstGeom>
          <a:solidFill>
            <a:srgbClr val="F5F5F4"/>
          </a:solidFill>
          <a:ln w="12700">
            <a:solidFill>
              <a:srgbClr val="E7E5E4"/>
            </a:solidFill>
            <a:prstDash val="solid"/>
          </a:ln>
        </p:spPr>
      </p:sp>
      <p:sp>
        <p:nvSpPr>
          <p:cNvPr id="8" name="Text 5"/>
          <p:cNvSpPr txBox="1"/>
          <p:nvPr/>
        </p:nvSpPr>
        <p:spPr>
          <a:xfrm>
            <a:off x="6428232" y="4361688"/>
            <a:ext cx="5029200" cy="685800"/>
          </a:xfrm>
          <a:prstGeom prst="rect">
            <a:avLst/>
          </a:prstGeom>
          <a:noFill/>
          <a:ln/>
        </p:spPr>
        <p:txBody>
          <a:bodyPr wrap="square" lIns="0" tIns="0" rIns="0" bIns="0" rtlCol="0" anchor="t"/>
          <a:lstStyle/>
          <a:p>
            <a:pPr indent="0" marL="0">
              <a:buNone/>
            </a:pPr>
            <a:r>
              <a:rPr lang="en-US" sz="1500" b="1" dirty="0">
                <a:solidFill>
                  <a:srgbClr val="1C1917"/>
                </a:solidFill>
                <a:latin typeface="Quattrocento Sans" pitchFamily="34" charset="0"/>
                <a:ea typeface="Quattrocento Sans" pitchFamily="34" charset="-122"/>
                <a:cs typeface="Quattrocento Sans" pitchFamily="34" charset="-120"/>
              </a:rPr>
              <a:t>Costo = </a:t>
            </a:r>
            <a:pPr indent="0" marL="0">
              <a:spcAft>
                <a:spcPts val="1000"/>
              </a:spcAft>
              <a:buNone/>
            </a:pPr>
            <a:r>
              <a:rPr lang="en-US" sz="1500" dirty="0">
                <a:solidFill>
                  <a:srgbClr val="57534E"/>
                </a:solidFill>
                <a:latin typeface="Quattrocento Sans" pitchFamily="34" charset="0"/>
                <a:ea typeface="Quattrocento Sans" pitchFamily="34" charset="-122"/>
                <a:cs typeface="Quattrocento Sans" pitchFamily="34" charset="-120"/>
              </a:rPr>
              <a:t>banda del percentil 20 al 80, en 4 000 simulaciones, con los pasajes</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latin typeface="Quattrocento Sans"/>
                <a:ea typeface="Quattrocento Sans"/>
                <a:cs typeface="Quattrocento Sans"/>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749808" y="310896"/>
            <a:ext cx="10881360" cy="658368"/>
          </a:xfrm>
          <a:prstGeom prst="rect">
            <a:avLst/>
          </a:prstGeom>
          <a:noFill/>
          <a:ln/>
        </p:spPr>
        <p:txBody>
          <a:bodyPr wrap="square" lIns="0" tIns="0" rIns="0" bIns="0" rtlCol="0" anchor="ctr"/>
          <a:lstStyle/>
          <a:p>
            <a:pPr algn="l" indent="0" marL="0">
              <a:buNone/>
            </a:pPr>
            <a:r>
              <a:rPr lang="en-US" sz="2600" b="1" dirty="0">
                <a:solidFill>
                  <a:srgbClr val="1C1917"/>
                </a:solidFill>
                <a:latin typeface="Lexend" pitchFamily="34" charset="0"/>
                <a:ea typeface="Lexend" pitchFamily="34" charset="-122"/>
                <a:cs typeface="Lexend" pitchFamily="34" charset="-120"/>
              </a:rPr>
              <a:t>Lo que el motor propone hoy</a:t>
            </a:r>
            <a:endParaRPr lang="en-US" sz="2600" dirty="0"/>
          </a:p>
        </p:txBody>
      </p:sp>
      <p:sp>
        <p:nvSpPr>
          <p:cNvPr id="3" name="Text 1"/>
          <p:cNvSpPr/>
          <p:nvPr>
            <p:ph idx="102" type="body" hasCustomPrompt="1"/>
          </p:nvPr>
        </p:nvSpPr>
        <p:spPr>
          <a:xfrm>
            <a:off x="749808" y="932688"/>
            <a:ext cx="10881360" cy="384048"/>
          </a:xfrm>
          <a:prstGeom prst="rect">
            <a:avLst/>
          </a:prstGeom>
          <a:noFill/>
          <a:ln/>
        </p:spPr>
        <p:txBody>
          <a:bodyPr wrap="square" lIns="0" tIns="0" rIns="0" bIns="0" rtlCol="0" anchor="t"/>
          <a:lstStyle/>
          <a:p>
            <a:pPr algn="l" indent="0" marL="0">
              <a:buNone/>
            </a:pPr>
            <a:r>
              <a:rPr lang="en-US" sz="1400" dirty="0">
                <a:solidFill>
                  <a:srgbClr val="57534E"/>
                </a:solidFill>
                <a:latin typeface="Quattrocento Sans" pitchFamily="34" charset="0"/>
                <a:ea typeface="Quattrocento Sans" pitchFamily="34" charset="-122"/>
                <a:cs typeface="Quattrocento Sans" pitchFamily="34" charset="-120"/>
              </a:rPr>
              <a:t>Una rejilla de 1 152 consultas: 24 orígenes × 2, 4, 6 y 9 días × los 12 meses, sin intereses</a:t>
            </a:r>
            <a:endParaRPr lang="en-US" sz="1400" dirty="0"/>
          </a:p>
        </p:txBody>
      </p:sp>
      <p:sp>
        <p:nvSpPr>
          <p:cNvPr id="4" name="cifra 1"/>
          <p:cNvSpPr/>
          <p:nvPr/>
        </p:nvSpPr>
        <p:spPr>
          <a:xfrm>
            <a:off x="548640" y="1554480"/>
            <a:ext cx="3538728" cy="2240280"/>
          </a:xfrm>
          <a:prstGeom prst="roundRect">
            <a:avLst>
              <a:gd name="adj" fmla="val 4898"/>
            </a:avLst>
          </a:prstGeom>
          <a:solidFill>
            <a:srgbClr val="FAFAF9"/>
          </a:solidFill>
          <a:ln w="12700">
            <a:solidFill>
              <a:srgbClr val="E7E5E4"/>
            </a:solidFill>
            <a:prstDash val="solid"/>
          </a:ln>
        </p:spPr>
      </p:sp>
      <p:sp>
        <p:nvSpPr>
          <p:cNvPr id="5" name="Text 3"/>
          <p:cNvSpPr txBox="1"/>
          <p:nvPr/>
        </p:nvSpPr>
        <p:spPr>
          <a:xfrm>
            <a:off x="777240" y="1719072"/>
            <a:ext cx="3108960" cy="502920"/>
          </a:xfrm>
          <a:prstGeom prst="rect">
            <a:avLst/>
          </a:prstGeom>
          <a:noFill/>
          <a:ln/>
        </p:spPr>
        <p:txBody>
          <a:bodyPr wrap="square" lIns="0" tIns="0" rIns="0" bIns="0" rtlCol="0" anchor="t"/>
          <a:lstStyle/>
          <a:p>
            <a:pPr indent="0" marL="0">
              <a:buNone/>
            </a:pPr>
            <a:r>
              <a:rPr lang="en-US" sz="1400" dirty="0">
                <a:solidFill>
                  <a:srgbClr val="57534E"/>
                </a:solidFill>
                <a:latin typeface="Quattrocento Sans" pitchFamily="34" charset="0"/>
                <a:ea typeface="Quattrocento Sans" pitchFamily="34" charset="-122"/>
                <a:cs typeface="Quattrocento Sans" pitchFamily="34" charset="-120"/>
              </a:rPr>
              <a:t>Viajes con el aviso de que el camino pesa</a:t>
            </a:r>
            <a:endParaRPr lang="en-US" sz="1400" dirty="0"/>
          </a:p>
        </p:txBody>
      </p:sp>
      <p:sp>
        <p:nvSpPr>
          <p:cNvPr id="6" name="Text 4"/>
          <p:cNvSpPr txBox="1"/>
          <p:nvPr/>
        </p:nvSpPr>
        <p:spPr>
          <a:xfrm>
            <a:off x="777240" y="2240280"/>
            <a:ext cx="3200400" cy="868680"/>
          </a:xfrm>
          <a:prstGeom prst="rect">
            <a:avLst/>
          </a:prstGeom>
          <a:noFill/>
          <a:ln/>
        </p:spPr>
        <p:txBody>
          <a:bodyPr wrap="square" lIns="0" tIns="0" rIns="0" bIns="0" rtlCol="0" anchor="ctr"/>
          <a:lstStyle/>
          <a:p>
            <a:pPr indent="0" marL="0">
              <a:buNone/>
            </a:pPr>
            <a:r>
              <a:rPr lang="en-US" sz="3800" b="1" dirty="0">
                <a:solidFill>
                  <a:srgbClr val="A8A29E"/>
                </a:solidFill>
                <a:latin typeface="Lexend" pitchFamily="34" charset="0"/>
                <a:ea typeface="Lexend" pitchFamily="34" charset="-122"/>
                <a:cs typeface="Lexend" pitchFamily="34" charset="-120"/>
              </a:rPr>
              <a:t>37 %</a:t>
            </a:r>
            <a:pPr indent="0" marL="0">
              <a:buNone/>
            </a:pPr>
            <a:r>
              <a:rPr lang="en-US" sz="2400" b="1" dirty="0">
                <a:solidFill>
                  <a:srgbClr val="A8A29E"/>
                </a:solidFill>
                <a:latin typeface="Arial" pitchFamily="34" charset="0"/>
                <a:ea typeface="Arial" pitchFamily="34" charset="-122"/>
                <a:cs typeface="Arial" pitchFamily="34" charset="-120"/>
              </a:rPr>
              <a:t>  →  </a:t>
            </a:r>
            <a:pPr indent="0" marL="0">
              <a:buNone/>
            </a:pPr>
            <a:r>
              <a:rPr lang="en-US" sz="3800" b="1" dirty="0">
                <a:solidFill>
                  <a:srgbClr val="C2410C"/>
                </a:solidFill>
                <a:latin typeface="Lexend" pitchFamily="34" charset="0"/>
                <a:ea typeface="Lexend" pitchFamily="34" charset="-122"/>
                <a:cs typeface="Lexend" pitchFamily="34" charset="-120"/>
              </a:rPr>
              <a:t>7 %</a:t>
            </a:r>
            <a:endParaRPr lang="en-US" sz="3800" dirty="0"/>
          </a:p>
        </p:txBody>
      </p:sp>
      <p:sp>
        <p:nvSpPr>
          <p:cNvPr id="7" name="Text 5"/>
          <p:cNvSpPr txBox="1"/>
          <p:nvPr/>
        </p:nvSpPr>
        <p:spPr>
          <a:xfrm>
            <a:off x="777240" y="3200400"/>
            <a:ext cx="3108960" cy="457200"/>
          </a:xfrm>
          <a:prstGeom prst="rect">
            <a:avLst/>
          </a:prstGeom>
          <a:noFill/>
          <a:ln/>
        </p:spPr>
        <p:txBody>
          <a:bodyPr wrap="square" lIns="0" tIns="0" rIns="0" bIns="0" rtlCol="0" anchor="t"/>
          <a:lstStyle/>
          <a:p>
            <a:pPr indent="0" marL="0">
              <a:buNone/>
            </a:pPr>
            <a:r>
              <a:rPr lang="en-US" sz="1300" dirty="0">
                <a:solidFill>
                  <a:srgbClr val="78716C"/>
                </a:solidFill>
                <a:latin typeface="Quattrocento Sans" pitchFamily="34" charset="0"/>
                <a:ea typeface="Quattrocento Sans" pitchFamily="34" charset="-122"/>
                <a:cs typeface="Quattrocento Sans" pitchFamily="34" charset="-120"/>
              </a:rPr>
              <a:t>en bus de noche o en avión, los días son allá</a:t>
            </a:r>
            <a:endParaRPr lang="en-US" sz="1300" dirty="0"/>
          </a:p>
        </p:txBody>
      </p:sp>
      <p:sp>
        <p:nvSpPr>
          <p:cNvPr id="8" name="cifra 2"/>
          <p:cNvSpPr/>
          <p:nvPr/>
        </p:nvSpPr>
        <p:spPr>
          <a:xfrm>
            <a:off x="4325112" y="1554480"/>
            <a:ext cx="3538728" cy="2240280"/>
          </a:xfrm>
          <a:prstGeom prst="roundRect">
            <a:avLst>
              <a:gd name="adj" fmla="val 4898"/>
            </a:avLst>
          </a:prstGeom>
          <a:solidFill>
            <a:srgbClr val="FAFAF9"/>
          </a:solidFill>
          <a:ln w="12700">
            <a:solidFill>
              <a:srgbClr val="E7E5E4"/>
            </a:solidFill>
            <a:prstDash val="solid"/>
          </a:ln>
        </p:spPr>
      </p:sp>
      <p:sp>
        <p:nvSpPr>
          <p:cNvPr id="9" name="Text 7"/>
          <p:cNvSpPr txBox="1"/>
          <p:nvPr/>
        </p:nvSpPr>
        <p:spPr>
          <a:xfrm>
            <a:off x="4553712" y="1719072"/>
            <a:ext cx="3108960" cy="502920"/>
          </a:xfrm>
          <a:prstGeom prst="rect">
            <a:avLst/>
          </a:prstGeom>
          <a:noFill/>
          <a:ln/>
        </p:spPr>
        <p:txBody>
          <a:bodyPr wrap="square" lIns="0" tIns="0" rIns="0" bIns="0" rtlCol="0" anchor="t"/>
          <a:lstStyle/>
          <a:p>
            <a:pPr indent="0" marL="0">
              <a:buNone/>
            </a:pPr>
            <a:r>
              <a:rPr lang="en-US" sz="1400" dirty="0">
                <a:solidFill>
                  <a:srgbClr val="57534E"/>
                </a:solidFill>
                <a:latin typeface="Quattrocento Sans" pitchFamily="34" charset="0"/>
                <a:ea typeface="Quattrocento Sans" pitchFamily="34" charset="-122"/>
                <a:cs typeface="Quattrocento Sans" pitchFamily="34" charset="-120"/>
              </a:rPr>
              <a:t>Viajes en un mes desaconsejado</a:t>
            </a:r>
            <a:endParaRPr lang="en-US" sz="1400" dirty="0"/>
          </a:p>
        </p:txBody>
      </p:sp>
      <p:sp>
        <p:nvSpPr>
          <p:cNvPr id="10" name="Text 8"/>
          <p:cNvSpPr txBox="1"/>
          <p:nvPr/>
        </p:nvSpPr>
        <p:spPr>
          <a:xfrm>
            <a:off x="4553712" y="2240280"/>
            <a:ext cx="3200400" cy="868680"/>
          </a:xfrm>
          <a:prstGeom prst="rect">
            <a:avLst/>
          </a:prstGeom>
          <a:noFill/>
          <a:ln/>
        </p:spPr>
        <p:txBody>
          <a:bodyPr wrap="square" lIns="0" tIns="0" rIns="0" bIns="0" rtlCol="0" anchor="ctr"/>
          <a:lstStyle/>
          <a:p>
            <a:pPr indent="0" marL="0">
              <a:buNone/>
            </a:pPr>
            <a:r>
              <a:rPr lang="en-US" sz="3800" b="1" dirty="0">
                <a:solidFill>
                  <a:srgbClr val="A8A29E"/>
                </a:solidFill>
                <a:latin typeface="Lexend" pitchFamily="34" charset="0"/>
                <a:ea typeface="Lexend" pitchFamily="34" charset="-122"/>
                <a:cs typeface="Lexend" pitchFamily="34" charset="-120"/>
              </a:rPr>
              <a:t>140</a:t>
            </a:r>
            <a:pPr indent="0" marL="0">
              <a:buNone/>
            </a:pPr>
            <a:r>
              <a:rPr lang="en-US" sz="2400" b="1" dirty="0">
                <a:solidFill>
                  <a:srgbClr val="A8A29E"/>
                </a:solidFill>
                <a:latin typeface="Arial" pitchFamily="34" charset="0"/>
                <a:ea typeface="Arial" pitchFamily="34" charset="-122"/>
                <a:cs typeface="Arial" pitchFamily="34" charset="-120"/>
              </a:rPr>
              <a:t>  →  </a:t>
            </a:r>
            <a:pPr indent="0" marL="0">
              <a:buNone/>
            </a:pPr>
            <a:r>
              <a:rPr lang="en-US" sz="3800" b="1" dirty="0">
                <a:solidFill>
                  <a:srgbClr val="C2410C"/>
                </a:solidFill>
                <a:latin typeface="Lexend" pitchFamily="34" charset="0"/>
                <a:ea typeface="Lexend" pitchFamily="34" charset="-122"/>
                <a:cs typeface="Lexend" pitchFamily="34" charset="-120"/>
              </a:rPr>
              <a:t>45</a:t>
            </a:r>
            <a:endParaRPr lang="en-US" sz="3800" dirty="0"/>
          </a:p>
        </p:txBody>
      </p:sp>
      <p:sp>
        <p:nvSpPr>
          <p:cNvPr id="11" name="Text 9"/>
          <p:cNvSpPr txBox="1"/>
          <p:nvPr/>
        </p:nvSpPr>
        <p:spPr>
          <a:xfrm>
            <a:off x="4553712" y="3200400"/>
            <a:ext cx="3108960" cy="457200"/>
          </a:xfrm>
          <a:prstGeom prst="rect">
            <a:avLst/>
          </a:prstGeom>
          <a:noFill/>
          <a:ln/>
        </p:spPr>
        <p:txBody>
          <a:bodyPr wrap="square" lIns="0" tIns="0" rIns="0" bIns="0" rtlCol="0" anchor="t"/>
          <a:lstStyle/>
          <a:p>
            <a:pPr indent="0" marL="0">
              <a:buNone/>
            </a:pPr>
            <a:r>
              <a:rPr lang="en-US" sz="1300" dirty="0">
                <a:solidFill>
                  <a:srgbClr val="78716C"/>
                </a:solidFill>
                <a:latin typeface="Quattrocento Sans" pitchFamily="34" charset="0"/>
                <a:ea typeface="Quattrocento Sans" pitchFamily="34" charset="-122"/>
                <a:cs typeface="Quattrocento Sans" pitchFamily="34" charset="-120"/>
              </a:rPr>
              <a:t>de 3 444, siempre con su aviso</a:t>
            </a:r>
            <a:endParaRPr lang="en-US" sz="1300" dirty="0"/>
          </a:p>
        </p:txBody>
      </p:sp>
      <p:sp>
        <p:nvSpPr>
          <p:cNvPr id="12" name="cifra 3"/>
          <p:cNvSpPr/>
          <p:nvPr/>
        </p:nvSpPr>
        <p:spPr>
          <a:xfrm>
            <a:off x="8101584" y="1554480"/>
            <a:ext cx="3538728" cy="2240280"/>
          </a:xfrm>
          <a:prstGeom prst="roundRect">
            <a:avLst>
              <a:gd name="adj" fmla="val 4898"/>
            </a:avLst>
          </a:prstGeom>
          <a:solidFill>
            <a:srgbClr val="FAFAF9"/>
          </a:solidFill>
          <a:ln w="12700">
            <a:solidFill>
              <a:srgbClr val="E7E5E4"/>
            </a:solidFill>
            <a:prstDash val="solid"/>
          </a:ln>
        </p:spPr>
      </p:sp>
      <p:sp>
        <p:nvSpPr>
          <p:cNvPr id="13" name="Text 11"/>
          <p:cNvSpPr txBox="1"/>
          <p:nvPr/>
        </p:nvSpPr>
        <p:spPr>
          <a:xfrm>
            <a:off x="8330184" y="1719072"/>
            <a:ext cx="3108960" cy="502920"/>
          </a:xfrm>
          <a:prstGeom prst="rect">
            <a:avLst/>
          </a:prstGeom>
          <a:noFill/>
          <a:ln/>
        </p:spPr>
        <p:txBody>
          <a:bodyPr wrap="square" lIns="0" tIns="0" rIns="0" bIns="0" rtlCol="0" anchor="t"/>
          <a:lstStyle/>
          <a:p>
            <a:pPr indent="0" marL="0">
              <a:buNone/>
            </a:pPr>
            <a:r>
              <a:rPr lang="en-US" sz="1400" dirty="0">
                <a:solidFill>
                  <a:srgbClr val="57534E"/>
                </a:solidFill>
                <a:latin typeface="Quattrocento Sans" pitchFamily="34" charset="0"/>
                <a:ea typeface="Quattrocento Sans" pitchFamily="34" charset="-122"/>
                <a:cs typeface="Quattrocento Sans" pitchFamily="34" charset="-120"/>
              </a:rPr>
              <a:t>Viajes que se llevan los diez polos más propuestos</a:t>
            </a:r>
            <a:endParaRPr lang="en-US" sz="1400" dirty="0"/>
          </a:p>
        </p:txBody>
      </p:sp>
      <p:sp>
        <p:nvSpPr>
          <p:cNvPr id="14" name="Text 12"/>
          <p:cNvSpPr txBox="1"/>
          <p:nvPr/>
        </p:nvSpPr>
        <p:spPr>
          <a:xfrm>
            <a:off x="8330184" y="2240280"/>
            <a:ext cx="3200400" cy="868680"/>
          </a:xfrm>
          <a:prstGeom prst="rect">
            <a:avLst/>
          </a:prstGeom>
          <a:noFill/>
          <a:ln/>
        </p:spPr>
        <p:txBody>
          <a:bodyPr wrap="square" lIns="0" tIns="0" rIns="0" bIns="0" rtlCol="0" anchor="ctr"/>
          <a:lstStyle/>
          <a:p>
            <a:pPr indent="0" marL="0">
              <a:buNone/>
            </a:pPr>
            <a:r>
              <a:rPr lang="en-US" sz="3800" b="1" dirty="0">
                <a:solidFill>
                  <a:srgbClr val="A8A29E"/>
                </a:solidFill>
                <a:latin typeface="Lexend" pitchFamily="34" charset="0"/>
                <a:ea typeface="Lexend" pitchFamily="34" charset="-122"/>
                <a:cs typeface="Lexend" pitchFamily="34" charset="-120"/>
              </a:rPr>
              <a:t>57 %</a:t>
            </a:r>
            <a:pPr indent="0" marL="0">
              <a:buNone/>
            </a:pPr>
            <a:r>
              <a:rPr lang="en-US" sz="2400" b="1" dirty="0">
                <a:solidFill>
                  <a:srgbClr val="A8A29E"/>
                </a:solidFill>
                <a:latin typeface="Arial" pitchFamily="34" charset="0"/>
                <a:ea typeface="Arial" pitchFamily="34" charset="-122"/>
                <a:cs typeface="Arial" pitchFamily="34" charset="-120"/>
              </a:rPr>
              <a:t>  →  </a:t>
            </a:r>
            <a:pPr indent="0" marL="0">
              <a:buNone/>
            </a:pPr>
            <a:r>
              <a:rPr lang="en-US" sz="3800" b="1" dirty="0">
                <a:solidFill>
                  <a:srgbClr val="1C1917"/>
                </a:solidFill>
                <a:latin typeface="Lexend" pitchFamily="34" charset="0"/>
                <a:ea typeface="Lexend" pitchFamily="34" charset="-122"/>
                <a:cs typeface="Lexend" pitchFamily="34" charset="-120"/>
              </a:rPr>
              <a:t>80 %</a:t>
            </a:r>
            <a:endParaRPr lang="en-US" sz="3800" dirty="0"/>
          </a:p>
        </p:txBody>
      </p:sp>
      <p:sp>
        <p:nvSpPr>
          <p:cNvPr id="15" name="Text 13"/>
          <p:cNvSpPr txBox="1"/>
          <p:nvPr/>
        </p:nvSpPr>
        <p:spPr>
          <a:xfrm>
            <a:off x="8330184" y="3200400"/>
            <a:ext cx="3108960" cy="457200"/>
          </a:xfrm>
          <a:prstGeom prst="rect">
            <a:avLst/>
          </a:prstGeom>
          <a:noFill/>
          <a:ln/>
        </p:spPr>
        <p:txBody>
          <a:bodyPr wrap="square" lIns="0" tIns="0" rIns="0" bIns="0" rtlCol="0" anchor="t"/>
          <a:lstStyle/>
          <a:p>
            <a:pPr indent="0" marL="0">
              <a:buNone/>
            </a:pPr>
            <a:r>
              <a:rPr lang="en-US" sz="1300" dirty="0">
                <a:solidFill>
                  <a:srgbClr val="78716C"/>
                </a:solidFill>
                <a:latin typeface="Quattrocento Sans" pitchFamily="34" charset="0"/>
                <a:ea typeface="Quattrocento Sans" pitchFamily="34" charset="-122"/>
                <a:cs typeface="Quattrocento Sans" pitchFamily="34" charset="-120"/>
              </a:rPr>
              <a:t>el precio: el motor reparte menos</a:t>
            </a:r>
            <a:endParaRPr lang="en-US" sz="1300" dirty="0"/>
          </a:p>
        </p:txBody>
      </p:sp>
      <p:sp>
        <p:nvSpPr>
          <p:cNvPr id="16" name="Text 14"/>
          <p:cNvSpPr txBox="1"/>
          <p:nvPr/>
        </p:nvSpPr>
        <p:spPr>
          <a:xfrm>
            <a:off x="548640" y="4069080"/>
            <a:ext cx="5486400" cy="365760"/>
          </a:xfrm>
          <a:prstGeom prst="rect">
            <a:avLst/>
          </a:prstGeom>
          <a:noFill/>
          <a:ln/>
        </p:spPr>
        <p:txBody>
          <a:bodyPr wrap="square" lIns="0" tIns="0" rIns="0" bIns="0" rtlCol="0" anchor="t"/>
          <a:lstStyle/>
          <a:p>
            <a:pPr indent="0" marL="0">
              <a:buNone/>
            </a:pPr>
            <a:r>
              <a:rPr lang="en-US" sz="1600" b="1" dirty="0">
                <a:solidFill>
                  <a:srgbClr val="1C1917"/>
                </a:solidFill>
                <a:latin typeface="Lexend" pitchFamily="34" charset="0"/>
                <a:ea typeface="Lexend" pitchFamily="34" charset="-122"/>
                <a:cs typeface="Lexend" pitchFamily="34" charset="-120"/>
              </a:rPr>
              <a:t>Qué cambió del 10 al 20 de octubre</a:t>
            </a:r>
            <a:endParaRPr lang="en-US" sz="1600" dirty="0"/>
          </a:p>
        </p:txBody>
      </p:sp>
      <p:sp>
        <p:nvSpPr>
          <p:cNvPr id="17" name="Text 15"/>
          <p:cNvSpPr txBox="1"/>
          <p:nvPr/>
        </p:nvSpPr>
        <p:spPr>
          <a:xfrm>
            <a:off x="548640" y="4480560"/>
            <a:ext cx="5669280" cy="160020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rgbClr val="57534E"/>
                </a:solidFill>
                <a:latin typeface="Quattrocento Sans" pitchFamily="34" charset="0"/>
                <a:ea typeface="Quattrocento Sans" pitchFamily="34" charset="-122"/>
                <a:cs typeface="Quattrocento Sans" pitchFamily="34" charset="-120"/>
              </a:rPr>
              <a:t>Se vuela a lo lejano: el 37 % de los viajes.</a:t>
            </a:r>
            <a:endParaRPr lang="en-US" sz="1400" dirty="0"/>
          </a:p>
          <a:p>
            <a:pPr marL="203200" indent="-203200">
              <a:spcAft>
                <a:spcPts val="400"/>
              </a:spcAft>
              <a:buSzPct val="100000"/>
              <a:buChar char="•"/>
            </a:pPr>
            <a:r>
              <a:rPr lang="en-US" sz="1400" dirty="0">
                <a:solidFill>
                  <a:srgbClr val="57534E"/>
                </a:solidFill>
                <a:latin typeface="Quattrocento Sans" pitchFamily="34" charset="0"/>
                <a:ea typeface="Quattrocento Sans" pitchFamily="34" charset="-122"/>
                <a:cs typeface="Quattrocento Sans" pitchFamily="34" charset="-120"/>
              </a:rPr>
              <a:t>De 7 a 16 horas, bus de noche: el 35 %.</a:t>
            </a:r>
            <a:endParaRPr lang="en-US" sz="1400" dirty="0"/>
          </a:p>
          <a:p>
            <a:pPr marL="203200" indent="-203200">
              <a:spcAft>
                <a:spcPts val="400"/>
              </a:spcAft>
              <a:buSzPct val="100000"/>
              <a:buChar char="•"/>
            </a:pPr>
            <a:r>
              <a:rPr lang="en-US" sz="1400" dirty="0">
                <a:solidFill>
                  <a:srgbClr val="57534E"/>
                </a:solidFill>
                <a:latin typeface="Quattrocento Sans" pitchFamily="34" charset="0"/>
                <a:ea typeface="Quattrocento Sans" pitchFamily="34" charset="-122"/>
                <a:cs typeface="Quattrocento Sans" pitchFamily="34" charset="-120"/>
              </a:rPr>
              <a:t>Un primer día tranquilo en la altura: el 21 %.</a:t>
            </a:r>
            <a:endParaRPr lang="en-US" sz="1400" dirty="0"/>
          </a:p>
          <a:p>
            <a:pPr marL="203200" indent="-203200">
              <a:spcAft>
                <a:spcPts val="400"/>
              </a:spcAft>
              <a:buSzPct val="100000"/>
              <a:buChar char="•"/>
            </a:pPr>
            <a:r>
              <a:rPr lang="en-US" sz="1400" dirty="0">
                <a:solidFill>
                  <a:srgbClr val="57534E"/>
                </a:solidFill>
                <a:latin typeface="Quattrocento Sans" pitchFamily="34" charset="0"/>
                <a:ea typeface="Quattrocento Sans" pitchFamily="34" charset="-122"/>
                <a:cs typeface="Quattrocento Sans" pitchFamily="34" charset="-120"/>
              </a:rPr>
              <a:t>Una hora de almuerzo en cada día con visitas.</a:t>
            </a:r>
            <a:endParaRPr lang="en-US" sz="1400" dirty="0"/>
          </a:p>
        </p:txBody>
      </p:sp>
      <p:sp>
        <p:nvSpPr>
          <p:cNvPr id="18" name="Text 16"/>
          <p:cNvSpPr txBox="1"/>
          <p:nvPr/>
        </p:nvSpPr>
        <p:spPr>
          <a:xfrm>
            <a:off x="6629400" y="4069080"/>
            <a:ext cx="4937760" cy="365760"/>
          </a:xfrm>
          <a:prstGeom prst="rect">
            <a:avLst/>
          </a:prstGeom>
          <a:noFill/>
          <a:ln/>
        </p:spPr>
        <p:txBody>
          <a:bodyPr wrap="square" lIns="0" tIns="0" rIns="0" bIns="0" rtlCol="0" anchor="t"/>
          <a:lstStyle/>
          <a:p>
            <a:pPr indent="0" marL="0">
              <a:buNone/>
            </a:pPr>
            <a:r>
              <a:rPr lang="en-US" sz="1600" b="1" dirty="0">
                <a:solidFill>
                  <a:srgbClr val="1C1917"/>
                </a:solidFill>
                <a:latin typeface="Lexend" pitchFamily="34" charset="0"/>
                <a:ea typeface="Lexend" pitchFamily="34" charset="-122"/>
                <a:cs typeface="Lexend" pitchFamily="34" charset="-120"/>
              </a:rPr>
              <a:t>El precio, en la misma rejilla</a:t>
            </a:r>
            <a:endParaRPr lang="en-US" sz="1600" dirty="0"/>
          </a:p>
        </p:txBody>
      </p:sp>
      <p:sp>
        <p:nvSpPr>
          <p:cNvPr id="19" name="Text 17"/>
          <p:cNvSpPr txBox="1"/>
          <p:nvPr/>
        </p:nvSpPr>
        <p:spPr>
          <a:xfrm>
            <a:off x="6629400" y="4480560"/>
            <a:ext cx="5010912" cy="160020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rgbClr val="57534E"/>
                </a:solidFill>
                <a:latin typeface="Quattrocento Sans" pitchFamily="34" charset="0"/>
                <a:ea typeface="Quattrocento Sans" pitchFamily="34" charset="-122"/>
                <a:cs typeface="Quattrocento Sans" pitchFamily="34" charset="-120"/>
              </a:rPr>
              <a:t>Miraflores, en Lima, sale en el 18 % de los viajes; Trujillo, en el 16 %, y el Cusco, en el 14 %.</a:t>
            </a:r>
            <a:endParaRPr lang="en-US" sz="1400" dirty="0"/>
          </a:p>
          <a:p>
            <a:pPr marL="203200" indent="-203200">
              <a:spcAft>
                <a:spcPts val="400"/>
              </a:spcAft>
              <a:buSzPct val="100000"/>
              <a:buChar char="•"/>
            </a:pPr>
            <a:r>
              <a:rPr lang="en-US" sz="1400" dirty="0">
                <a:solidFill>
                  <a:srgbClr val="57534E"/>
                </a:solidFill>
                <a:latin typeface="Quattrocento Sans" pitchFamily="34" charset="0"/>
                <a:ea typeface="Quattrocento Sans" pitchFamily="34" charset="-122"/>
                <a:cs typeface="Quattrocento Sans" pitchFamily="34" charset="-120"/>
              </a:rPr>
              <a:t>Machu Picchu, en uno: gana la ciudad del Cusco. Se pide con «Quiero ir a…».</a:t>
            </a:r>
            <a:endParaRPr lang="en-US" sz="1400" dirty="0"/>
          </a:p>
          <a:p>
            <a:pPr marL="203200" indent="-203200">
              <a:spcAft>
                <a:spcPts val="400"/>
              </a:spcAft>
              <a:buSzPct val="100000"/>
              <a:buChar char="•"/>
            </a:pPr>
            <a:r>
              <a:rPr lang="en-US" sz="1400" dirty="0">
                <a:solidFill>
                  <a:srgbClr val="57534E"/>
                </a:solidFill>
                <a:latin typeface="Quattrocento Sans" pitchFamily="34" charset="0"/>
                <a:ea typeface="Quattrocento Sans" pitchFamily="34" charset="-122"/>
                <a:cs typeface="Quattrocento Sans" pitchFamily="34" charset="-120"/>
              </a:rPr>
              <a:t>Fuera del circuito Lima-Cusco va el 66 %; antes, el 77 %.</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latin typeface="Quattrocento Sans"/>
                <a:ea typeface="Quattrocento Sans"/>
                <a:cs typeface="Quattrocento Sans"/>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749808" y="310896"/>
            <a:ext cx="10881360" cy="658368"/>
          </a:xfrm>
          <a:prstGeom prst="rect">
            <a:avLst/>
          </a:prstGeom>
          <a:noFill/>
          <a:ln/>
        </p:spPr>
        <p:txBody>
          <a:bodyPr wrap="square" lIns="0" tIns="0" rIns="0" bIns="0" rtlCol="0" anchor="ctr"/>
          <a:lstStyle/>
          <a:p>
            <a:pPr algn="l" indent="0" marL="0">
              <a:buNone/>
            </a:pPr>
            <a:r>
              <a:rPr lang="en-US" sz="2600" b="1" dirty="0">
                <a:solidFill>
                  <a:srgbClr val="1C1917"/>
                </a:solidFill>
                <a:latin typeface="Lexend" pitchFamily="34" charset="0"/>
                <a:ea typeface="Lexend" pitchFamily="34" charset="-122"/>
                <a:cs typeface="Lexend" pitchFamily="34" charset="-120"/>
              </a:rPr>
              <a:t>P50 o P80: la misma consulta, otra lista</a:t>
            </a:r>
            <a:endParaRPr lang="en-US" sz="2600" dirty="0"/>
          </a:p>
        </p:txBody>
      </p:sp>
      <p:sp>
        <p:nvSpPr>
          <p:cNvPr id="3" name="Text 1"/>
          <p:cNvSpPr/>
          <p:nvPr>
            <p:ph idx="102" type="body" hasCustomPrompt="1"/>
          </p:nvPr>
        </p:nvSpPr>
        <p:spPr>
          <a:xfrm>
            <a:off x="749808" y="932688"/>
            <a:ext cx="10881360" cy="384048"/>
          </a:xfrm>
          <a:prstGeom prst="rect">
            <a:avLst/>
          </a:prstGeom>
          <a:noFill/>
          <a:ln/>
        </p:spPr>
        <p:txBody>
          <a:bodyPr wrap="square" lIns="0" tIns="0" rIns="0" bIns="0" rtlCol="0" anchor="t"/>
          <a:lstStyle/>
          <a:p>
            <a:pPr algn="l" indent="0" marL="0">
              <a:buNone/>
            </a:pPr>
            <a:r>
              <a:rPr lang="en-US" sz="1400" dirty="0">
                <a:solidFill>
                  <a:srgbClr val="57534E"/>
                </a:solidFill>
                <a:latin typeface="Quattrocento Sans" pitchFamily="34" charset="0"/>
                <a:ea typeface="Quattrocento Sans" pitchFamily="34" charset="-122"/>
                <a:cs typeface="Quattrocento Sans" pitchFamily="34" charset="-120"/>
              </a:rPr>
              <a:t>Lima, julio, 4 días y S/ 800 en la copia de revisión del profesor, que deja solo lo que cabe según el criterio</a:t>
            </a:r>
            <a:endParaRPr lang="en-US" sz="1400" dirty="0"/>
          </a:p>
        </p:txBody>
      </p:sp>
      <p:pic>
        <p:nvPicPr>
          <p:cNvPr id="4" name="demo_800_comparacion.png" descr="Las dos listas de la copia del profesor: en P50, Huaraz, Huacho y Nasca; en P80, Trujillo, Huánuco y Pozuzo">    </p:cNvPr>
          <p:cNvPicPr>
            <a:picLocks noChangeAspect="1"/>
          </p:cNvPicPr>
          <p:nvPr/>
        </p:nvPicPr>
        <p:blipFill>
          <a:blip r:embed="rId1"/>
          <a:stretch>
            <a:fillRect/>
          </a:stretch>
        </p:blipFill>
        <p:spPr>
          <a:xfrm>
            <a:off x="548640" y="1417320"/>
            <a:ext cx="7086600" cy="2347593"/>
          </a:xfrm>
          <a:prstGeom prst="rect">
            <a:avLst/>
          </a:prstGeom>
        </p:spPr>
      </p:pic>
      <p:sp>
        <p:nvSpPr>
          <p:cNvPr id="5" name="por qué cambia la lista"/>
          <p:cNvSpPr/>
          <p:nvPr/>
        </p:nvSpPr>
        <p:spPr>
          <a:xfrm>
            <a:off x="7863840" y="1417320"/>
            <a:ext cx="3776472" cy="2347593"/>
          </a:xfrm>
          <a:prstGeom prst="roundRect">
            <a:avLst>
              <a:gd name="adj" fmla="val 4674"/>
            </a:avLst>
          </a:prstGeom>
          <a:solidFill>
            <a:srgbClr val="F5F5F4"/>
          </a:solidFill>
          <a:ln w="12700">
            <a:solidFill>
              <a:srgbClr val="E7E5E4"/>
            </a:solidFill>
            <a:prstDash val="solid"/>
          </a:ln>
        </p:spPr>
      </p:sp>
      <p:sp>
        <p:nvSpPr>
          <p:cNvPr id="6" name="Text 3"/>
          <p:cNvSpPr txBox="1"/>
          <p:nvPr/>
        </p:nvSpPr>
        <p:spPr>
          <a:xfrm>
            <a:off x="8092440" y="1572768"/>
            <a:ext cx="3383280" cy="365760"/>
          </a:xfrm>
          <a:prstGeom prst="rect">
            <a:avLst/>
          </a:prstGeom>
          <a:noFill/>
          <a:ln/>
        </p:spPr>
        <p:txBody>
          <a:bodyPr wrap="square" lIns="0" tIns="0" rIns="0" bIns="0" rtlCol="0" anchor="t"/>
          <a:lstStyle/>
          <a:p>
            <a:pPr indent="0" marL="0">
              <a:buNone/>
            </a:pPr>
            <a:r>
              <a:rPr lang="en-US" sz="1550" b="1" dirty="0">
                <a:solidFill>
                  <a:srgbClr val="1C1917"/>
                </a:solidFill>
                <a:latin typeface="Lexend" pitchFamily="34" charset="0"/>
                <a:ea typeface="Lexend" pitchFamily="34" charset="-122"/>
                <a:cs typeface="Lexend" pitchFamily="34" charset="-120"/>
              </a:rPr>
              <a:t>Por qué cambia la lista</a:t>
            </a:r>
            <a:endParaRPr lang="en-US" sz="1550" dirty="0"/>
          </a:p>
        </p:txBody>
      </p:sp>
      <p:sp>
        <p:nvSpPr>
          <p:cNvPr id="7" name="Text 4"/>
          <p:cNvSpPr txBox="1"/>
          <p:nvPr/>
        </p:nvSpPr>
        <p:spPr>
          <a:xfrm>
            <a:off x="8092440" y="1984248"/>
            <a:ext cx="3401568" cy="1661793"/>
          </a:xfrm>
          <a:prstGeom prst="rect">
            <a:avLst/>
          </a:prstGeom>
          <a:noFill/>
          <a:ln/>
        </p:spPr>
        <p:txBody>
          <a:bodyPr wrap="square" lIns="0" tIns="0" rIns="0" bIns="0" rtlCol="0" anchor="t"/>
          <a:lstStyle/>
          <a:p>
            <a:pPr marL="203200" indent="-203200">
              <a:spcAft>
                <a:spcPts val="800"/>
              </a:spcAft>
              <a:buSzPct val="100000"/>
              <a:buChar char="•"/>
            </a:pPr>
            <a:r>
              <a:rPr lang="en-US" sz="1300" dirty="0">
                <a:solidFill>
                  <a:srgbClr val="57534E"/>
                </a:solidFill>
                <a:latin typeface="Quattrocento Sans" pitchFamily="34" charset="0"/>
                <a:ea typeface="Quattrocento Sans" pitchFamily="34" charset="-122"/>
                <a:cs typeface="Quattrocento Sans" pitchFamily="34" charset="-120"/>
              </a:rPr>
              <a:t>P80 suma unos S/ 110 a cada viaje: Huaraz, Huacho y Nasca pasan los S/ 800 (S/ 816, 887 y 905).</a:t>
            </a:r>
            <a:endParaRPr lang="en-US" sz="1300" dirty="0"/>
          </a:p>
          <a:p>
            <a:pPr marL="203200" indent="-203200">
              <a:spcAft>
                <a:spcPts val="800"/>
              </a:spcAft>
              <a:buSzPct val="100000"/>
              <a:buChar char="•"/>
            </a:pPr>
            <a:r>
              <a:rPr lang="en-US" sz="1300" dirty="0">
                <a:solidFill>
                  <a:srgbClr val="57534E"/>
                </a:solidFill>
                <a:latin typeface="Quattrocento Sans" pitchFamily="34" charset="0"/>
                <a:ea typeface="Quattrocento Sans" pitchFamily="34" charset="-122"/>
                <a:cs typeface="Quattrocento Sans" pitchFamily="34" charset="-120"/>
              </a:rPr>
              <a:t>Entran los siguientes que caben, Trujillo, Huánuco y Pozuzo, con menos puntaje: de 0,60 a 0,42, contra 0,75 a 0,70.</a:t>
            </a:r>
            <a:endParaRPr lang="en-US" sz="1300" dirty="0"/>
          </a:p>
        </p:txBody>
      </p:sp>
      <p:sp>
        <p:nvSpPr>
          <p:cNvPr id="8" name="Text 5"/>
          <p:cNvSpPr txBox="1"/>
          <p:nvPr/>
        </p:nvSpPr>
        <p:spPr>
          <a:xfrm>
            <a:off x="548640" y="3966081"/>
            <a:ext cx="6766560" cy="347472"/>
          </a:xfrm>
          <a:prstGeom prst="rect">
            <a:avLst/>
          </a:prstGeom>
          <a:noFill/>
          <a:ln/>
        </p:spPr>
        <p:txBody>
          <a:bodyPr wrap="square" lIns="0" tIns="0" rIns="0" bIns="0" rtlCol="0" anchor="t"/>
          <a:lstStyle/>
          <a:p>
            <a:pPr indent="0" marL="0">
              <a:buNone/>
            </a:pPr>
            <a:r>
              <a:rPr lang="en-US" sz="1550" b="1" dirty="0">
                <a:solidFill>
                  <a:srgbClr val="1C1917"/>
                </a:solidFill>
                <a:latin typeface="Lexend" pitchFamily="34" charset="0"/>
                <a:ea typeface="Lexend" pitchFamily="34" charset="-122"/>
                <a:cs typeface="Lexend" pitchFamily="34" charset="-120"/>
              </a:rPr>
              <a:t>Huacho en P50: S/ 773, todavía no un precio</a:t>
            </a:r>
            <a:endParaRPr lang="en-US" sz="1550" dirty="0"/>
          </a:p>
        </p:txBody>
      </p:sp>
      <p:graphicFrame>
        <p:nvGraphicFramePr>
          <p:cNvPr id="23" name="las dos filas revisadas"/>
          <p:cNvGraphicFramePr>
            <a:graphicFrameLocks noGrp="1"/>
          </p:cNvGraphicFramePr>
          <p:nvPr>
            <p:extLst>
              <p:ext uri="{D42A27DB-BD31-4B8C-83A1-F6EECF244321}">
                <p14:modId xmlns:p14="http://schemas.microsoft.com/office/powerpoint/2010/main" val="1579011935"/>
              </p:ext>
            </p:extLst>
          </p:nvPr>
        </p:nvGraphicFramePr>
        <p:xfrm>
          <a:off x="548640" y="4377561"/>
          <a:ext cx="7086600" cy="914400"/>
        </p:xfrm>
        <a:graphic>
          <a:graphicData uri="http://schemas.openxmlformats.org/drawingml/2006/table">
            <a:tbl>
              <a:tblPr/>
              <a:tblGrid>
                <a:gridCol w="2606040"/>
                <a:gridCol w="594360"/>
                <a:gridCol w="1051560"/>
                <a:gridCol w="1051560"/>
                <a:gridCol w="1783080"/>
              </a:tblGrid>
              <a:tr h="0">
                <a:tc>
                  <a:txBody>
                    <a:bodyPr/>
                    <a:lstStyle/>
                    <a:p>
                      <a:pPr indent="0" marL="0">
                        <a:buNone/>
                      </a:pPr>
                      <a:r>
                        <a:rPr lang="en-US" sz="1150" b="1" dirty="0">
                          <a:solidFill>
                            <a:srgbClr val="FFFFFF"/>
                          </a:solidFill>
                          <a:latin typeface="Quattrocento Sans" pitchFamily="34" charset="0"/>
                          <a:ea typeface="Quattrocento Sans" pitchFamily="34" charset="-122"/>
                          <a:cs typeface="Quattrocento Sans" pitchFamily="34" charset="-120"/>
                        </a:rPr>
                        <a:t>Lugar en la hoja CSV</a:t>
                      </a:r>
                      <a:endParaRPr lang="en-US" sz="115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C2410C"/>
                    </a:solidFill>
                  </a:tcPr>
                </a:tc>
                <a:tc>
                  <a:txBody>
                    <a:bodyPr/>
                    <a:lstStyle/>
                    <a:p>
                      <a:pPr indent="0" marL="0">
                        <a:buNone/>
                      </a:pPr>
                      <a:r>
                        <a:rPr lang="en-US" sz="1150" b="1" dirty="0">
                          <a:solidFill>
                            <a:srgbClr val="FFFFFF"/>
                          </a:solidFill>
                          <a:latin typeface="Quattrocento Sans" pitchFamily="34" charset="0"/>
                          <a:ea typeface="Quattrocento Sans" pitchFamily="34" charset="-122"/>
                          <a:cs typeface="Quattrocento Sans" pitchFamily="34" charset="-120"/>
                        </a:rPr>
                        <a:t>ID</a:t>
                      </a:r>
                      <a:endParaRPr lang="en-US" sz="115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C2410C"/>
                    </a:solidFill>
                  </a:tcPr>
                </a:tc>
                <a:tc>
                  <a:txBody>
                    <a:bodyPr/>
                    <a:lstStyle/>
                    <a:p>
                      <a:pPr indent="0" marL="0">
                        <a:buNone/>
                      </a:pPr>
                      <a:r>
                        <a:rPr lang="en-US" sz="1150" b="1" dirty="0">
                          <a:solidFill>
                            <a:srgbClr val="FFFFFF"/>
                          </a:solidFill>
                          <a:latin typeface="Quattrocento Sans" pitchFamily="34" charset="0"/>
                          <a:ea typeface="Quattrocento Sans" pitchFamily="34" charset="-122"/>
                          <a:cs typeface="Quattrocento Sans" pitchFamily="34" charset="-120"/>
                        </a:rPr>
                        <a:t>Llega</a:t>
                      </a:r>
                      <a:endParaRPr lang="en-US" sz="115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C2410C"/>
                    </a:solidFill>
                  </a:tcPr>
                </a:tc>
                <a:tc>
                  <a:txBody>
                    <a:bodyPr/>
                    <a:lstStyle/>
                    <a:p>
                      <a:pPr indent="0" marL="0">
                        <a:buNone/>
                      </a:pPr>
                      <a:r>
                        <a:rPr lang="en-US" sz="1150" b="1" dirty="0">
                          <a:solidFill>
                            <a:srgbClr val="FFFFFF"/>
                          </a:solidFill>
                          <a:latin typeface="Quattrocento Sans" pitchFamily="34" charset="0"/>
                          <a:ea typeface="Quattrocento Sans" pitchFamily="34" charset="-122"/>
                          <a:cs typeface="Quattrocento Sans" pitchFamily="34" charset="-120"/>
                        </a:rPr>
                        <a:t>Cobro</a:t>
                      </a:r>
                      <a:endParaRPr lang="en-US" sz="115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C2410C"/>
                    </a:solidFill>
                  </a:tcPr>
                </a:tc>
                <a:tc>
                  <a:txBody>
                    <a:bodyPr/>
                    <a:lstStyle/>
                    <a:p>
                      <a:pPr indent="0" marL="0">
                        <a:buNone/>
                      </a:pPr>
                      <a:r>
                        <a:rPr lang="en-US" sz="1150" b="1" dirty="0">
                          <a:solidFill>
                            <a:srgbClr val="FFFFFF"/>
                          </a:solidFill>
                          <a:latin typeface="Quattrocento Sans" pitchFamily="34" charset="0"/>
                          <a:ea typeface="Quattrocento Sans" pitchFamily="34" charset="-122"/>
                          <a:cs typeface="Quattrocento Sans" pitchFamily="34" charset="-120"/>
                        </a:rPr>
                        <a:t>Observaciones</a:t>
                      </a:r>
                      <a:endParaRPr lang="en-US" sz="115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C2410C"/>
                    </a:solidFill>
                  </a:tcPr>
                </a:tc>
              </a:tr>
              <a:tr h="0">
                <a:tc>
                  <a:txBody>
                    <a:bodyPr/>
                    <a:lstStyle/>
                    <a:p>
                      <a:pPr indent="0" marL="0">
                        <a:buNone/>
                      </a:pPr>
                      <a:r>
                        <a:rPr lang="en-US" sz="1150" b="1" dirty="0">
                          <a:solidFill>
                            <a:srgbClr val="1C1917"/>
                          </a:solidFill>
                          <a:latin typeface="Quattrocento Sans" pitchFamily="34" charset="0"/>
                          <a:ea typeface="Quattrocento Sans" pitchFamily="34" charset="-122"/>
                          <a:cs typeface="Quattrocento Sans" pitchFamily="34" charset="-120"/>
                        </a:rPr>
                        <a:t>Zona Arqueológica Monumental de Peñico</a:t>
                      </a:r>
                      <a:endParaRPr lang="en-US" sz="115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AFAF9"/>
                    </a:solidFill>
                  </a:tcPr>
                </a:tc>
                <a:tc>
                  <a:txBody>
                    <a:bodyPr/>
                    <a:lstStyle/>
                    <a:p>
                      <a:pPr indent="0" marL="0">
                        <a:buNone/>
                      </a:pPr>
                      <a:r>
                        <a:rPr lang="en-US" sz="1150" dirty="0">
                          <a:solidFill>
                            <a:srgbClr val="57534E"/>
                          </a:solidFill>
                          <a:latin typeface="Quattrocento Sans" pitchFamily="34" charset="0"/>
                          <a:ea typeface="Quattrocento Sans" pitchFamily="34" charset="-122"/>
                          <a:cs typeface="Quattrocento Sans" pitchFamily="34" charset="-120"/>
                        </a:rPr>
                        <a:t>11873</a:t>
                      </a:r>
                      <a:endParaRPr lang="en-US" sz="115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AFAF9"/>
                    </a:solidFill>
                  </a:tcPr>
                </a:tc>
                <a:tc>
                  <a:txBody>
                    <a:bodyPr/>
                    <a:lstStyle/>
                    <a:p>
                      <a:pPr indent="0" marL="0">
                        <a:buNone/>
                      </a:pPr>
                      <a:r>
                        <a:rPr lang="en-US" sz="1150" dirty="0">
                          <a:solidFill>
                            <a:srgbClr val="57534E"/>
                          </a:solidFill>
                          <a:latin typeface="Quattrocento Sans" pitchFamily="34" charset="0"/>
                          <a:ea typeface="Quattrocento Sans" pitchFamily="34" charset="-122"/>
                          <a:cs typeface="Quattrocento Sans" pitchFamily="34" charset="-120"/>
                        </a:rPr>
                        <a:t>Día 3, 10:05</a:t>
                      </a:r>
                      <a:endParaRPr lang="en-US" sz="115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AFAF9"/>
                    </a:solidFill>
                  </a:tcPr>
                </a:tc>
                <a:tc>
                  <a:txBody>
                    <a:bodyPr/>
                    <a:lstStyle/>
                    <a:p>
                      <a:pPr indent="0" marL="0">
                        <a:buNone/>
                      </a:pPr>
                      <a:r>
                        <a:rPr lang="en-US" sz="1150" dirty="0">
                          <a:solidFill>
                            <a:srgbClr val="57534E"/>
                          </a:solidFill>
                          <a:latin typeface="Quattrocento Sans" pitchFamily="34" charset="0"/>
                          <a:ea typeface="Quattrocento Sans" pitchFamily="34" charset="-122"/>
                          <a:cs typeface="Quattrocento Sans" pitchFamily="34" charset="-120"/>
                        </a:rPr>
                        <a:t>desconocido</a:t>
                      </a:r>
                      <a:endParaRPr lang="en-US" sz="115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AFAF9"/>
                    </a:solidFill>
                  </a:tcPr>
                </a:tc>
                <a:tc>
                  <a:txBody>
                    <a:bodyPr/>
                    <a:lstStyle/>
                    <a:p>
                      <a:pPr indent="0" marL="0">
                        <a:buNone/>
                      </a:pPr>
                      <a:r>
                        <a:rPr lang="en-US" sz="1150" dirty="0">
                          <a:solidFill>
                            <a:srgbClr val="57534E"/>
                          </a:solidFill>
                          <a:latin typeface="Quattrocento Sans" pitchFamily="34" charset="0"/>
                          <a:ea typeface="Quattrocento Sans" pitchFamily="34" charset="-122"/>
                          <a:cs typeface="Quattrocento Sans" pitchFamily="34" charset="-120"/>
                        </a:rPr>
                        <a:t>Pendiente de confirmar</a:t>
                      </a:r>
                      <a:endParaRPr lang="en-US" sz="115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AFAF9"/>
                    </a:solidFill>
                  </a:tcPr>
                </a:tc>
              </a:tr>
              <a:tr h="0">
                <a:tc>
                  <a:txBody>
                    <a:bodyPr/>
                    <a:lstStyle/>
                    <a:p>
                      <a:pPr indent="0" marL="0">
                        <a:buNone/>
                      </a:pPr>
                      <a:r>
                        <a:rPr lang="en-US" sz="1150" b="1" dirty="0">
                          <a:solidFill>
                            <a:srgbClr val="1C1917"/>
                          </a:solidFill>
                          <a:latin typeface="Quattrocento Sans" pitchFamily="34" charset="0"/>
                          <a:ea typeface="Quattrocento Sans" pitchFamily="34" charset="-122"/>
                          <a:cs typeface="Quattrocento Sans" pitchFamily="34" charset="-120"/>
                        </a:rPr>
                        <a:t>Museo Municipal de Hualmay</a:t>
                      </a:r>
                      <a:endParaRPr lang="en-US" sz="115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FFFFF"/>
                    </a:solidFill>
                  </a:tcPr>
                </a:tc>
                <a:tc>
                  <a:txBody>
                    <a:bodyPr/>
                    <a:lstStyle/>
                    <a:p>
                      <a:pPr indent="0" marL="0">
                        <a:buNone/>
                      </a:pPr>
                      <a:r>
                        <a:rPr lang="en-US" sz="1150" dirty="0">
                          <a:solidFill>
                            <a:srgbClr val="57534E"/>
                          </a:solidFill>
                          <a:latin typeface="Quattrocento Sans" pitchFamily="34" charset="0"/>
                          <a:ea typeface="Quattrocento Sans" pitchFamily="34" charset="-122"/>
                          <a:cs typeface="Quattrocento Sans" pitchFamily="34" charset="-120"/>
                        </a:rPr>
                        <a:t>11211</a:t>
                      </a:r>
                      <a:endParaRPr lang="en-US" sz="115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FFFFF"/>
                    </a:solidFill>
                  </a:tcPr>
                </a:tc>
                <a:tc>
                  <a:txBody>
                    <a:bodyPr/>
                    <a:lstStyle/>
                    <a:p>
                      <a:pPr indent="0" marL="0">
                        <a:buNone/>
                      </a:pPr>
                      <a:r>
                        <a:rPr lang="en-US" sz="1150" dirty="0">
                          <a:solidFill>
                            <a:srgbClr val="57534E"/>
                          </a:solidFill>
                          <a:latin typeface="Quattrocento Sans" pitchFamily="34" charset="0"/>
                          <a:ea typeface="Quattrocento Sans" pitchFamily="34" charset="-122"/>
                          <a:cs typeface="Quattrocento Sans" pitchFamily="34" charset="-120"/>
                        </a:rPr>
                        <a:t>Día 2, 11:36</a:t>
                      </a:r>
                      <a:endParaRPr lang="en-US" sz="115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FFFFF"/>
                    </a:solidFill>
                  </a:tcPr>
                </a:tc>
                <a:tc>
                  <a:txBody>
                    <a:bodyPr/>
                    <a:lstStyle/>
                    <a:p>
                      <a:pPr indent="0" marL="0">
                        <a:buNone/>
                      </a:pPr>
                      <a:r>
                        <a:rPr lang="en-US" sz="1150" dirty="0">
                          <a:solidFill>
                            <a:srgbClr val="57534E"/>
                          </a:solidFill>
                          <a:latin typeface="Quattrocento Sans" pitchFamily="34" charset="0"/>
                          <a:ea typeface="Quattrocento Sans" pitchFamily="34" charset="-122"/>
                          <a:cs typeface="Quattrocento Sans" pitchFamily="34" charset="-120"/>
                        </a:rPr>
                        <a:t>desconocido</a:t>
                      </a:r>
                      <a:endParaRPr lang="en-US" sz="115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FFFFF"/>
                    </a:solidFill>
                  </a:tcPr>
                </a:tc>
                <a:tc>
                  <a:txBody>
                    <a:bodyPr/>
                    <a:lstStyle/>
                    <a:p>
                      <a:pPr indent="0" marL="0">
                        <a:buNone/>
                      </a:pPr>
                      <a:r>
                        <a:rPr lang="en-US" sz="1150" dirty="0">
                          <a:solidFill>
                            <a:srgbClr val="57534E"/>
                          </a:solidFill>
                          <a:latin typeface="Quattrocento Sans" pitchFamily="34" charset="0"/>
                          <a:ea typeface="Quattrocento Sans" pitchFamily="34" charset="-122"/>
                          <a:cs typeface="Quattrocento Sans" pitchFamily="34" charset="-120"/>
                        </a:rPr>
                        <a:t>Pendiente de confirmar</a:t>
                      </a:r>
                      <a:endParaRPr lang="en-US" sz="1150" dirty="0">
                        <a:latin typeface="Quattrocento Sans" charset="0"/>
                        <a:ea typeface="Quattrocento Sans" charset="0"/>
                        <a:cs typeface="Quattrocento Sans" charset="0"/>
                      </a:endParaRPr>
                    </a:p>
                  </a:txBody>
                  <a:tcPr marL="101600" marR="101600" marT="63500" marB="63500" anchor="ctr">
                    <a:lnL w="9525" cap="flat" cmpd="sng" algn="ctr">
                      <a:solidFill>
                        <a:srgbClr val="E7E5E4"/>
                      </a:solidFill>
                      <a:prstDash val="solid"/>
                      <a:round/>
                      <a:headEnd type="none" w="med" len="med"/>
                      <a:tailEnd type="none" w="med" len="med"/>
                    </a:lnL>
                    <a:lnR w="9525" cap="flat" cmpd="sng" algn="ctr">
                      <a:solidFill>
                        <a:srgbClr val="E7E5E4"/>
                      </a:solidFill>
                      <a:prstDash val="solid"/>
                      <a:round/>
                      <a:headEnd type="none" w="med" len="med"/>
                      <a:tailEnd type="none" w="med" len="med"/>
                    </a:lnR>
                    <a:lnT w="9525" cap="flat" cmpd="sng" algn="ctr">
                      <a:solidFill>
                        <a:srgbClr val="E7E5E4"/>
                      </a:solidFill>
                      <a:prstDash val="solid"/>
                      <a:round/>
                      <a:headEnd type="none" w="med" len="med"/>
                      <a:tailEnd type="none" w="med" len="med"/>
                    </a:lnT>
                    <a:lnB w="9525" cap="flat" cmpd="sng" algn="ctr">
                      <a:solidFill>
                        <a:srgbClr val="E7E5E4"/>
                      </a:solidFill>
                      <a:prstDash val="solid"/>
                      <a:round/>
                      <a:headEnd type="none" w="med" len="med"/>
                      <a:tailEnd type="none" w="med" len="med"/>
                    </a:lnB>
                    <a:solidFill>
                      <a:srgbClr val="FFFFFF"/>
                    </a:solidFill>
                  </a:tcPr>
                </a:tc>
              </a:tr>
            </a:tbl>
          </a:graphicData>
        </a:graphic>
      </p:graphicFrame>
      <p:sp>
        <p:nvSpPr>
          <p:cNvPr id="10" name="Text 6"/>
          <p:cNvSpPr txBox="1"/>
          <p:nvPr/>
        </p:nvSpPr>
        <p:spPr>
          <a:xfrm>
            <a:off x="7863840" y="3966081"/>
            <a:ext cx="3776472" cy="347472"/>
          </a:xfrm>
          <a:prstGeom prst="rect">
            <a:avLst/>
          </a:prstGeom>
          <a:noFill/>
          <a:ln/>
        </p:spPr>
        <p:txBody>
          <a:bodyPr wrap="square" lIns="0" tIns="0" rIns="0" bIns="0" rtlCol="0" anchor="t"/>
          <a:lstStyle/>
          <a:p>
            <a:pPr indent="0" marL="0">
              <a:buNone/>
            </a:pPr>
            <a:r>
              <a:rPr lang="en-US" sz="1550" b="1" dirty="0">
                <a:solidFill>
                  <a:srgbClr val="1C1917"/>
                </a:solidFill>
                <a:latin typeface="Lexend" pitchFamily="34" charset="0"/>
                <a:ea typeface="Lexend" pitchFamily="34" charset="-122"/>
                <a:cs typeface="Lexend" pitchFamily="34" charset="-120"/>
              </a:rPr>
              <a:t>Por qué no es definitivo</a:t>
            </a:r>
            <a:endParaRPr lang="en-US" sz="1550" dirty="0"/>
          </a:p>
        </p:txBody>
      </p:sp>
      <p:sp>
        <p:nvSpPr>
          <p:cNvPr id="11" name="Text 7"/>
          <p:cNvSpPr txBox="1"/>
          <p:nvPr/>
        </p:nvSpPr>
        <p:spPr>
          <a:xfrm>
            <a:off x="7863840" y="4377561"/>
            <a:ext cx="3776472" cy="1600200"/>
          </a:xfrm>
          <a:prstGeom prst="rect">
            <a:avLst/>
          </a:prstGeom>
          <a:noFill/>
          <a:ln/>
        </p:spPr>
        <p:txBody>
          <a:bodyPr wrap="square" lIns="0" tIns="0" rIns="0" bIns="0" rtlCol="0" anchor="t"/>
          <a:lstStyle/>
          <a:p>
            <a:pPr marL="203200" indent="-203200">
              <a:spcAft>
                <a:spcPts val="500"/>
              </a:spcAft>
              <a:buSzPct val="100000"/>
              <a:buChar char="•"/>
            </a:pPr>
            <a:r>
              <a:rPr lang="en-US" sz="1250" dirty="0">
                <a:solidFill>
                  <a:srgbClr val="57534E"/>
                </a:solidFill>
                <a:latin typeface="Quattrocento Sans" pitchFamily="34" charset="0"/>
                <a:ea typeface="Quattrocento Sans" pitchFamily="34" charset="-122"/>
                <a:cs typeface="Quattrocento Sans" pitchFamily="34" charset="-120"/>
              </a:rPr>
              <a:t>8 de sus 18 paradas no tienen cobro conocido y no suman nada: desconocido no es gratis.</a:t>
            </a:r>
            <a:endParaRPr lang="en-US" sz="1250" dirty="0"/>
          </a:p>
          <a:p>
            <a:pPr marL="203200" indent="-203200">
              <a:spcAft>
                <a:spcPts val="500"/>
              </a:spcAft>
              <a:buSzPct val="100000"/>
              <a:buChar char="•"/>
            </a:pPr>
            <a:r>
              <a:rPr lang="en-US" sz="1250" dirty="0">
                <a:solidFill>
                  <a:srgbClr val="57534E"/>
                </a:solidFill>
                <a:latin typeface="Quattrocento Sans" pitchFamily="34" charset="0"/>
                <a:ea typeface="Quattrocento Sans" pitchFamily="34" charset="-122"/>
                <a:cs typeface="Quattrocento Sans" pitchFamily="34" charset="-120"/>
              </a:rPr>
              <a:t>P50 y P80 salen de 4 000 simulaciones con rangos sin calibrar: son escenarios, no cotizaciones.</a:t>
            </a:r>
            <a:endParaRPr lang="en-US" sz="1250" dirty="0"/>
          </a:p>
          <a:p>
            <a:pPr marL="203200" indent="-203200">
              <a:spcAft>
                <a:spcPts val="500"/>
              </a:spcAft>
              <a:buSzPct val="100000"/>
              <a:buChar char="•"/>
            </a:pPr>
            <a:r>
              <a:rPr lang="en-US" sz="1250" dirty="0">
                <a:solidFill>
                  <a:srgbClr val="57534E"/>
                </a:solidFill>
                <a:latin typeface="Quattrocento Sans" pitchFamily="34" charset="0"/>
                <a:ea typeface="Quattrocento Sans" pitchFamily="34" charset="-122"/>
                <a:cs typeface="Quattrocento Sans" pitchFamily="34" charset="-120"/>
              </a:rPr>
              <a:t>Horario, tarifa, fecha y fuente confirmados quedan vacíos hasta verificarlos.</a:t>
            </a:r>
            <a:endParaRPr lang="en-US" sz="1250" dirty="0"/>
          </a:p>
        </p:txBody>
      </p:sp>
      <p:sp>
        <p:nvSpPr>
          <p:cNvPr id="12" name="Text 8"/>
          <p:cNvSpPr txBox="1"/>
          <p:nvPr/>
        </p:nvSpPr>
        <p:spPr>
          <a:xfrm>
            <a:off x="548640" y="5943600"/>
            <a:ext cx="11091672" cy="365760"/>
          </a:xfrm>
          <a:prstGeom prst="rect">
            <a:avLst/>
          </a:prstGeom>
          <a:noFill/>
          <a:ln/>
        </p:spPr>
        <p:txBody>
          <a:bodyPr wrap="square" lIns="0" tIns="0" rIns="0" bIns="0" rtlCol="0" anchor="t"/>
          <a:lstStyle/>
          <a:p>
            <a:pPr indent="0" marL="0">
              <a:buNone/>
            </a:pPr>
            <a:r>
              <a:rPr lang="en-US" sz="1250" b="1" dirty="0">
                <a:solidFill>
                  <a:srgbClr val="0D9488"/>
                </a:solidFill>
                <a:latin typeface="Quattrocento Sans" pitchFamily="34" charset="0"/>
                <a:ea typeface="Quattrocento Sans" pitchFamily="34" charset="-122"/>
                <a:cs typeface="Quattrocento Sans" pitchFamily="34" charset="-120"/>
              </a:rPr>
              <a:t>En la app de hoy, con los datos 2026.10.8, la misma consulta da Trujillo, Huaraz y Huánuco en bus de noche, y el que pasa el monto según el P50 sale con su aviso.</a:t>
            </a:r>
            <a:endParaRPr lang="en-US" sz="125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latin typeface="Quattrocento Sans"/>
                <a:ea typeface="Quattrocento Sans"/>
                <a:cs typeface="Quattrocento Sans"/>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749808" y="310896"/>
            <a:ext cx="10881360" cy="658368"/>
          </a:xfrm>
          <a:prstGeom prst="rect">
            <a:avLst/>
          </a:prstGeom>
          <a:noFill/>
          <a:ln/>
        </p:spPr>
        <p:txBody>
          <a:bodyPr wrap="square" lIns="0" tIns="0" rIns="0" bIns="0" rtlCol="0" anchor="ctr"/>
          <a:lstStyle/>
          <a:p>
            <a:pPr algn="l" indent="0" marL="0">
              <a:buNone/>
            </a:pPr>
            <a:r>
              <a:rPr lang="en-US" sz="2600" b="1" dirty="0">
                <a:solidFill>
                  <a:srgbClr val="1C1917"/>
                </a:solidFill>
                <a:latin typeface="Lexend" pitchFamily="34" charset="0"/>
                <a:ea typeface="Lexend" pitchFamily="34" charset="-122"/>
                <a:cs typeface="Lexend" pitchFamily="34" charset="-120"/>
              </a:rPr>
              <a:t>El clima cambia la respuesta</a:t>
            </a:r>
            <a:endParaRPr lang="en-US" sz="2600" dirty="0"/>
          </a:p>
        </p:txBody>
      </p:sp>
      <p:sp>
        <p:nvSpPr>
          <p:cNvPr id="3" name="Text 1"/>
          <p:cNvSpPr/>
          <p:nvPr>
            <p:ph idx="102" type="body" hasCustomPrompt="1"/>
          </p:nvPr>
        </p:nvSpPr>
        <p:spPr>
          <a:xfrm>
            <a:off x="749808" y="932688"/>
            <a:ext cx="10881360" cy="384048"/>
          </a:xfrm>
          <a:prstGeom prst="rect">
            <a:avLst/>
          </a:prstGeom>
          <a:noFill/>
          <a:ln/>
        </p:spPr>
        <p:txBody>
          <a:bodyPr wrap="square" lIns="0" tIns="0" rIns="0" bIns="0" rtlCol="0" anchor="t"/>
          <a:lstStyle/>
          <a:p>
            <a:pPr algn="l" indent="0" marL="0">
              <a:buNone/>
            </a:pPr>
            <a:r>
              <a:rPr lang="en-US" sz="1400" dirty="0">
                <a:solidFill>
                  <a:srgbClr val="57534E"/>
                </a:solidFill>
                <a:latin typeface="Quattrocento Sans" pitchFamily="34" charset="0"/>
                <a:ea typeface="Quattrocento Sans" pitchFamily="34" charset="-122"/>
                <a:cs typeface="Quattrocento Sans" pitchFamily="34" charset="-120"/>
              </a:rPr>
              <a:t>La misma consulta desde Lima: 4 días, naturaleza y caminatas, hasta S/ 1 000</a:t>
            </a:r>
            <a:endParaRPr lang="en-US" sz="1400" dirty="0"/>
          </a:p>
        </p:txBody>
      </p:sp>
      <p:pic>
        <p:nvPicPr>
          <p:cNvPr id="4" name="esc_14_lima_julio_escritorio.png" descr="Julio: Íllimo, Huaraz y Huacho">    </p:cNvPr>
          <p:cNvPicPr>
            <a:picLocks noChangeAspect="1"/>
          </p:cNvPicPr>
          <p:nvPr/>
        </p:nvPicPr>
        <p:blipFill>
          <a:blip r:embed="rId1"/>
          <a:stretch>
            <a:fillRect/>
          </a:stretch>
        </p:blipFill>
        <p:spPr>
          <a:xfrm>
            <a:off x="411480" y="1417320"/>
            <a:ext cx="5669280" cy="3407599"/>
          </a:xfrm>
          <a:prstGeom prst="rect">
            <a:avLst/>
          </a:prstGeom>
        </p:spPr>
      </p:pic>
      <p:pic>
        <p:nvPicPr>
          <p:cNvPr id="5" name="esc_15_lima_febrero_escritorio.png" descr="Febrero: Huacho, Íllimo y Trujillo">    </p:cNvPr>
          <p:cNvPicPr>
            <a:picLocks noChangeAspect="1"/>
          </p:cNvPicPr>
          <p:nvPr/>
        </p:nvPicPr>
        <p:blipFill>
          <a:blip r:embed="rId2"/>
          <a:stretch>
            <a:fillRect/>
          </a:stretch>
        </p:blipFill>
        <p:spPr>
          <a:xfrm>
            <a:off x="6126480" y="1417320"/>
            <a:ext cx="5669280" cy="3407599"/>
          </a:xfrm>
          <a:prstGeom prst="rect">
            <a:avLst/>
          </a:prstGeom>
        </p:spPr>
      </p:pic>
      <p:sp>
        <p:nvSpPr>
          <p:cNvPr id="6" name="Text 2"/>
          <p:cNvSpPr txBox="1"/>
          <p:nvPr/>
        </p:nvSpPr>
        <p:spPr>
          <a:xfrm>
            <a:off x="548640" y="4916359"/>
            <a:ext cx="5440680" cy="548640"/>
          </a:xfrm>
          <a:prstGeom prst="rect">
            <a:avLst/>
          </a:prstGeom>
          <a:noFill/>
          <a:ln/>
        </p:spPr>
        <p:txBody>
          <a:bodyPr wrap="square" lIns="0" tIns="0" rIns="0" bIns="0" rtlCol="0" anchor="t"/>
          <a:lstStyle/>
          <a:p>
            <a:pPr indent="0" marL="0">
              <a:buNone/>
            </a:pPr>
            <a:r>
              <a:rPr lang="en-US" sz="1400" b="1" dirty="0">
                <a:solidFill>
                  <a:srgbClr val="1C1917"/>
                </a:solidFill>
                <a:latin typeface="Quattrocento Sans" pitchFamily="34" charset="0"/>
                <a:ea typeface="Quattrocento Sans" pitchFamily="34" charset="-122"/>
                <a:cs typeface="Quattrocento Sans" pitchFamily="34" charset="-120"/>
              </a:rPr>
              <a:t>Julio: </a:t>
            </a:r>
            <a:pPr indent="0" marL="0">
              <a:spcAft>
                <a:spcPts val="1000"/>
              </a:spcAft>
              <a:buNone/>
            </a:pPr>
            <a:r>
              <a:rPr lang="en-US" sz="1400" dirty="0">
                <a:solidFill>
                  <a:srgbClr val="57534E"/>
                </a:solidFill>
                <a:latin typeface="Quattrocento Sans" pitchFamily="34" charset="0"/>
                <a:ea typeface="Quattrocento Sans" pitchFamily="34" charset="-122"/>
                <a:cs typeface="Quattrocento Sans" pitchFamily="34" charset="-120"/>
              </a:rPr>
              <a:t>Íllimo, Huaraz y Huacho. En la sierra es temporada seca.</a:t>
            </a:r>
            <a:endParaRPr lang="en-US" sz="1400" dirty="0"/>
          </a:p>
        </p:txBody>
      </p:sp>
      <p:sp>
        <p:nvSpPr>
          <p:cNvPr id="7" name="Text 3"/>
          <p:cNvSpPr txBox="1"/>
          <p:nvPr/>
        </p:nvSpPr>
        <p:spPr>
          <a:xfrm>
            <a:off x="6263640" y="4916359"/>
            <a:ext cx="5376672" cy="548640"/>
          </a:xfrm>
          <a:prstGeom prst="rect">
            <a:avLst/>
          </a:prstGeom>
          <a:noFill/>
          <a:ln/>
        </p:spPr>
        <p:txBody>
          <a:bodyPr wrap="square" lIns="0" tIns="0" rIns="0" bIns="0" rtlCol="0" anchor="t"/>
          <a:lstStyle/>
          <a:p>
            <a:pPr indent="0" marL="0">
              <a:buNone/>
            </a:pPr>
            <a:r>
              <a:rPr lang="en-US" sz="1400" b="1" dirty="0">
                <a:solidFill>
                  <a:srgbClr val="1C1917"/>
                </a:solidFill>
                <a:latin typeface="Quattrocento Sans" pitchFamily="34" charset="0"/>
                <a:ea typeface="Quattrocento Sans" pitchFamily="34" charset="-122"/>
                <a:cs typeface="Quattrocento Sans" pitchFamily="34" charset="-120"/>
              </a:rPr>
              <a:t>Febrero: </a:t>
            </a:r>
            <a:pPr indent="0" marL="0">
              <a:spcAft>
                <a:spcPts val="1000"/>
              </a:spcAft>
              <a:buNone/>
            </a:pPr>
            <a:r>
              <a:rPr lang="en-US" sz="1400" dirty="0">
                <a:solidFill>
                  <a:srgbClr val="57534E"/>
                </a:solidFill>
                <a:latin typeface="Quattrocento Sans" pitchFamily="34" charset="0"/>
                <a:ea typeface="Quattrocento Sans" pitchFamily="34" charset="-122"/>
                <a:cs typeface="Quattrocento Sans" pitchFamily="34" charset="-120"/>
              </a:rPr>
              <a:t>Huacho, Íllimo y Trujillo. Huaraz no sale: es temporada de lluvias.</a:t>
            </a:r>
            <a:endParaRPr lang="en-US" sz="1400" dirty="0"/>
          </a:p>
        </p:txBody>
      </p:sp>
      <p:sp>
        <p:nvSpPr>
          <p:cNvPr id="8" name="Text 4"/>
          <p:cNvSpPr txBox="1"/>
          <p:nvPr/>
        </p:nvSpPr>
        <p:spPr>
          <a:xfrm>
            <a:off x="548640" y="5806440"/>
            <a:ext cx="11064240" cy="365760"/>
          </a:xfrm>
          <a:prstGeom prst="rect">
            <a:avLst/>
          </a:prstGeom>
          <a:noFill/>
          <a:ln/>
        </p:spPr>
        <p:txBody>
          <a:bodyPr wrap="square" lIns="0" tIns="0" rIns="0" bIns="0" rtlCol="0" anchor="t"/>
          <a:lstStyle/>
          <a:p>
            <a:pPr indent="0" marL="0">
              <a:buNone/>
            </a:pPr>
            <a:r>
              <a:rPr lang="en-US" sz="1400" b="1" dirty="0">
                <a:solidFill>
                  <a:srgbClr val="0D9488"/>
                </a:solidFill>
                <a:latin typeface="Quattrocento Sans" pitchFamily="34" charset="0"/>
                <a:ea typeface="Quattrocento Sans" pitchFamily="34" charset="-122"/>
                <a:cs typeface="Quattrocento Sans" pitchFamily="34" charset="-120"/>
              </a:rPr>
              <a:t>Cada polo tiene su propio clima, de diez años de datos, y desde el 20 de octubre, a la altura de su base.</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latin typeface="Quattrocento Sans"/>
                <a:ea typeface="Quattrocento Sans"/>
                <a:cs typeface="Quattrocento Sans"/>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749808" y="310896"/>
            <a:ext cx="10881360" cy="658368"/>
          </a:xfrm>
          <a:prstGeom prst="rect">
            <a:avLst/>
          </a:prstGeom>
          <a:noFill/>
          <a:ln/>
        </p:spPr>
        <p:txBody>
          <a:bodyPr wrap="square" lIns="0" tIns="0" rIns="0" bIns="0" rtlCol="0" anchor="ctr"/>
          <a:lstStyle/>
          <a:p>
            <a:pPr algn="l" indent="0" marL="0">
              <a:buNone/>
            </a:pPr>
            <a:r>
              <a:rPr lang="en-US" sz="2600" b="1" dirty="0">
                <a:solidFill>
                  <a:srgbClr val="1C1917"/>
                </a:solidFill>
                <a:latin typeface="Lexend" pitchFamily="34" charset="0"/>
                <a:ea typeface="Lexend" pitchFamily="34" charset="-122"/>
                <a:cs typeface="Lexend" pitchFamily="34" charset="-120"/>
              </a:rPr>
              <a:t>Cómo sabemos que funciona</a:t>
            </a:r>
            <a:endParaRPr lang="en-US" sz="2600" dirty="0"/>
          </a:p>
        </p:txBody>
      </p:sp>
      <p:sp>
        <p:nvSpPr>
          <p:cNvPr id="3" name="Text 1"/>
          <p:cNvSpPr/>
          <p:nvPr>
            <p:ph idx="102" type="body" hasCustomPrompt="1"/>
          </p:nvPr>
        </p:nvSpPr>
        <p:spPr>
          <a:xfrm>
            <a:off x="749808" y="932688"/>
            <a:ext cx="10881360" cy="384048"/>
          </a:xfrm>
          <a:prstGeom prst="rect">
            <a:avLst/>
          </a:prstGeom>
          <a:noFill/>
          <a:ln/>
        </p:spPr>
        <p:txBody>
          <a:bodyPr wrap="square" lIns="0" tIns="0" rIns="0" bIns="0" rtlCol="0" anchor="t"/>
          <a:lstStyle/>
          <a:p>
            <a:pPr algn="l" indent="0" marL="0">
              <a:buNone/>
            </a:pPr>
            <a:r>
              <a:rPr lang="en-US" sz="1400" dirty="0">
                <a:solidFill>
                  <a:srgbClr val="57534E"/>
                </a:solidFill>
                <a:latin typeface="Quattrocento Sans" pitchFamily="34" charset="0"/>
                <a:ea typeface="Quattrocento Sans" pitchFamily="34" charset="-122"/>
                <a:cs typeface="Quattrocento Sans" pitchFamily="34" charset="-120"/>
              </a:rPr>
              <a:t>Las cifras del informe salen del mismo código que responde el API</a:t>
            </a:r>
            <a:endParaRPr lang="en-US" sz="1400" dirty="0"/>
          </a:p>
        </p:txBody>
      </p:sp>
      <p:sp>
        <p:nvSpPr>
          <p:cNvPr id="4" name="estadística 1"/>
          <p:cNvSpPr/>
          <p:nvPr/>
        </p:nvSpPr>
        <p:spPr>
          <a:xfrm>
            <a:off x="548640" y="1554480"/>
            <a:ext cx="2587752" cy="1691640"/>
          </a:xfrm>
          <a:prstGeom prst="roundRect">
            <a:avLst>
              <a:gd name="adj" fmla="val 6486"/>
            </a:avLst>
          </a:prstGeom>
          <a:solidFill>
            <a:srgbClr val="FAFAF9"/>
          </a:solidFill>
          <a:ln w="12700">
            <a:solidFill>
              <a:srgbClr val="E7E5E4"/>
            </a:solidFill>
            <a:prstDash val="solid"/>
          </a:ln>
        </p:spPr>
      </p:sp>
      <p:sp>
        <p:nvSpPr>
          <p:cNvPr id="5" name="Text 3"/>
          <p:cNvSpPr txBox="1"/>
          <p:nvPr/>
        </p:nvSpPr>
        <p:spPr>
          <a:xfrm>
            <a:off x="777240" y="1691640"/>
            <a:ext cx="2194560" cy="777240"/>
          </a:xfrm>
          <a:prstGeom prst="rect">
            <a:avLst/>
          </a:prstGeom>
          <a:noFill/>
          <a:ln/>
        </p:spPr>
        <p:txBody>
          <a:bodyPr wrap="square" lIns="0" tIns="0" rIns="0" bIns="0" rtlCol="0" anchor="ctr"/>
          <a:lstStyle/>
          <a:p>
            <a:pPr indent="0" marL="0">
              <a:buNone/>
            </a:pPr>
            <a:r>
              <a:rPr lang="en-US" sz="3800" b="1" dirty="0">
                <a:solidFill>
                  <a:srgbClr val="C2410C"/>
                </a:solidFill>
                <a:latin typeface="Lexend" pitchFamily="34" charset="0"/>
                <a:ea typeface="Lexend" pitchFamily="34" charset="-122"/>
                <a:cs typeface="Lexend" pitchFamily="34" charset="-120"/>
              </a:rPr>
              <a:t>921</a:t>
            </a:r>
            <a:endParaRPr lang="en-US" sz="3800" dirty="0"/>
          </a:p>
        </p:txBody>
      </p:sp>
      <p:sp>
        <p:nvSpPr>
          <p:cNvPr id="6" name="Text 4"/>
          <p:cNvSpPr txBox="1"/>
          <p:nvPr/>
        </p:nvSpPr>
        <p:spPr>
          <a:xfrm>
            <a:off x="777240" y="2514600"/>
            <a:ext cx="2194560" cy="640080"/>
          </a:xfrm>
          <a:prstGeom prst="rect">
            <a:avLst/>
          </a:prstGeom>
          <a:noFill/>
          <a:ln/>
        </p:spPr>
        <p:txBody>
          <a:bodyPr wrap="square" lIns="0" tIns="0" rIns="0" bIns="0" rtlCol="0" anchor="t"/>
          <a:lstStyle/>
          <a:p>
            <a:pPr indent="0" marL="0">
              <a:buNone/>
            </a:pPr>
            <a:r>
              <a:rPr lang="en-US" sz="1300" dirty="0">
                <a:solidFill>
                  <a:srgbClr val="57534E"/>
                </a:solidFill>
                <a:latin typeface="Quattrocento Sans" pitchFamily="34" charset="0"/>
                <a:ea typeface="Quattrocento Sans" pitchFamily="34" charset="-122"/>
                <a:cs typeface="Quattrocento Sans" pitchFamily="34" charset="-120"/>
              </a:rPr>
              <a:t>pruebas del motor, el API, el pipeline y la evaluación</a:t>
            </a:r>
            <a:endParaRPr lang="en-US" sz="1300" dirty="0"/>
          </a:p>
        </p:txBody>
      </p:sp>
      <p:sp>
        <p:nvSpPr>
          <p:cNvPr id="7" name="estadística 2"/>
          <p:cNvSpPr/>
          <p:nvPr/>
        </p:nvSpPr>
        <p:spPr>
          <a:xfrm>
            <a:off x="3364992" y="1554480"/>
            <a:ext cx="2587752" cy="1691640"/>
          </a:xfrm>
          <a:prstGeom prst="roundRect">
            <a:avLst>
              <a:gd name="adj" fmla="val 6486"/>
            </a:avLst>
          </a:prstGeom>
          <a:solidFill>
            <a:srgbClr val="FAFAF9"/>
          </a:solidFill>
          <a:ln w="12700">
            <a:solidFill>
              <a:srgbClr val="E7E5E4"/>
            </a:solidFill>
            <a:prstDash val="solid"/>
          </a:ln>
        </p:spPr>
      </p:sp>
      <p:sp>
        <p:nvSpPr>
          <p:cNvPr id="8" name="Text 6"/>
          <p:cNvSpPr txBox="1"/>
          <p:nvPr/>
        </p:nvSpPr>
        <p:spPr>
          <a:xfrm>
            <a:off x="3593592" y="1691640"/>
            <a:ext cx="2194560" cy="777240"/>
          </a:xfrm>
          <a:prstGeom prst="rect">
            <a:avLst/>
          </a:prstGeom>
          <a:noFill/>
          <a:ln/>
        </p:spPr>
        <p:txBody>
          <a:bodyPr wrap="square" lIns="0" tIns="0" rIns="0" bIns="0" rtlCol="0" anchor="ctr"/>
          <a:lstStyle/>
          <a:p>
            <a:pPr indent="0" marL="0">
              <a:buNone/>
            </a:pPr>
            <a:r>
              <a:rPr lang="en-US" sz="3800" b="1" dirty="0">
                <a:solidFill>
                  <a:srgbClr val="C2410C"/>
                </a:solidFill>
                <a:latin typeface="Lexend" pitchFamily="34" charset="0"/>
                <a:ea typeface="Lexend" pitchFamily="34" charset="-122"/>
                <a:cs typeface="Lexend" pitchFamily="34" charset="-120"/>
              </a:rPr>
              <a:t>238</a:t>
            </a:r>
            <a:endParaRPr lang="en-US" sz="3800" dirty="0"/>
          </a:p>
        </p:txBody>
      </p:sp>
      <p:sp>
        <p:nvSpPr>
          <p:cNvPr id="9" name="Text 7"/>
          <p:cNvSpPr txBox="1"/>
          <p:nvPr/>
        </p:nvSpPr>
        <p:spPr>
          <a:xfrm>
            <a:off x="3593592" y="2514600"/>
            <a:ext cx="2194560" cy="640080"/>
          </a:xfrm>
          <a:prstGeom prst="rect">
            <a:avLst/>
          </a:prstGeom>
          <a:noFill/>
          <a:ln/>
        </p:spPr>
        <p:txBody>
          <a:bodyPr wrap="square" lIns="0" tIns="0" rIns="0" bIns="0" rtlCol="0" anchor="t"/>
          <a:lstStyle/>
          <a:p>
            <a:pPr indent="0" marL="0">
              <a:buNone/>
            </a:pPr>
            <a:r>
              <a:rPr lang="en-US" sz="1300" dirty="0">
                <a:solidFill>
                  <a:srgbClr val="57534E"/>
                </a:solidFill>
                <a:latin typeface="Quattrocento Sans" pitchFamily="34" charset="0"/>
                <a:ea typeface="Quattrocento Sans" pitchFamily="34" charset="-122"/>
                <a:cs typeface="Quattrocento Sans" pitchFamily="34" charset="-120"/>
              </a:rPr>
              <a:t>pruebas de la app</a:t>
            </a:r>
            <a:endParaRPr lang="en-US" sz="1300" dirty="0"/>
          </a:p>
        </p:txBody>
      </p:sp>
      <p:sp>
        <p:nvSpPr>
          <p:cNvPr id="10" name="estadística 3"/>
          <p:cNvSpPr/>
          <p:nvPr/>
        </p:nvSpPr>
        <p:spPr>
          <a:xfrm>
            <a:off x="6181344" y="1554480"/>
            <a:ext cx="2587752" cy="1691640"/>
          </a:xfrm>
          <a:prstGeom prst="roundRect">
            <a:avLst>
              <a:gd name="adj" fmla="val 6486"/>
            </a:avLst>
          </a:prstGeom>
          <a:solidFill>
            <a:srgbClr val="FAFAF9"/>
          </a:solidFill>
          <a:ln w="12700">
            <a:solidFill>
              <a:srgbClr val="E7E5E4"/>
            </a:solidFill>
            <a:prstDash val="solid"/>
          </a:ln>
        </p:spPr>
      </p:sp>
      <p:sp>
        <p:nvSpPr>
          <p:cNvPr id="11" name="Text 9"/>
          <p:cNvSpPr txBox="1"/>
          <p:nvPr/>
        </p:nvSpPr>
        <p:spPr>
          <a:xfrm>
            <a:off x="6409944" y="1691640"/>
            <a:ext cx="2194560" cy="777240"/>
          </a:xfrm>
          <a:prstGeom prst="rect">
            <a:avLst/>
          </a:prstGeom>
          <a:noFill/>
          <a:ln/>
        </p:spPr>
        <p:txBody>
          <a:bodyPr wrap="square" lIns="0" tIns="0" rIns="0" bIns="0" rtlCol="0" anchor="ctr"/>
          <a:lstStyle/>
          <a:p>
            <a:pPr indent="0" marL="0">
              <a:buNone/>
            </a:pPr>
            <a:r>
              <a:rPr lang="en-US" sz="3800" b="1" dirty="0">
                <a:solidFill>
                  <a:srgbClr val="C2410C"/>
                </a:solidFill>
                <a:latin typeface="Lexend" pitchFamily="34" charset="0"/>
                <a:ea typeface="Lexend" pitchFamily="34" charset="-122"/>
                <a:cs typeface="Lexend" pitchFamily="34" charset="-120"/>
              </a:rPr>
              <a:t>42</a:t>
            </a:r>
            <a:endParaRPr lang="en-US" sz="3800" dirty="0"/>
          </a:p>
        </p:txBody>
      </p:sp>
      <p:sp>
        <p:nvSpPr>
          <p:cNvPr id="12" name="Text 10"/>
          <p:cNvSpPr txBox="1"/>
          <p:nvPr/>
        </p:nvSpPr>
        <p:spPr>
          <a:xfrm>
            <a:off x="6409944" y="2514600"/>
            <a:ext cx="2194560" cy="640080"/>
          </a:xfrm>
          <a:prstGeom prst="rect">
            <a:avLst/>
          </a:prstGeom>
          <a:noFill/>
          <a:ln/>
        </p:spPr>
        <p:txBody>
          <a:bodyPr wrap="square" lIns="0" tIns="0" rIns="0" bIns="0" rtlCol="0" anchor="t"/>
          <a:lstStyle/>
          <a:p>
            <a:pPr indent="0" marL="0">
              <a:buNone/>
            </a:pPr>
            <a:r>
              <a:rPr lang="en-US" sz="1300" dirty="0">
                <a:solidFill>
                  <a:srgbClr val="57534E"/>
                </a:solidFill>
                <a:latin typeface="Quattrocento Sans" pitchFamily="34" charset="0"/>
                <a:ea typeface="Quattrocento Sans" pitchFamily="34" charset="-122"/>
                <a:cs typeface="Quattrocento Sans" pitchFamily="34" charset="-120"/>
              </a:rPr>
              <a:t>pruebas de humo en un navegador, contra el API</a:t>
            </a:r>
            <a:endParaRPr lang="en-US" sz="1300" dirty="0"/>
          </a:p>
        </p:txBody>
      </p:sp>
      <p:sp>
        <p:nvSpPr>
          <p:cNvPr id="13" name="estadística 4"/>
          <p:cNvSpPr/>
          <p:nvPr/>
        </p:nvSpPr>
        <p:spPr>
          <a:xfrm>
            <a:off x="8997696" y="1554480"/>
            <a:ext cx="2587752" cy="1691640"/>
          </a:xfrm>
          <a:prstGeom prst="roundRect">
            <a:avLst>
              <a:gd name="adj" fmla="val 6486"/>
            </a:avLst>
          </a:prstGeom>
          <a:solidFill>
            <a:srgbClr val="FAFAF9"/>
          </a:solidFill>
          <a:ln w="12700">
            <a:solidFill>
              <a:srgbClr val="E7E5E4"/>
            </a:solidFill>
            <a:prstDash val="solid"/>
          </a:ln>
        </p:spPr>
      </p:sp>
      <p:sp>
        <p:nvSpPr>
          <p:cNvPr id="14" name="Text 12"/>
          <p:cNvSpPr txBox="1"/>
          <p:nvPr/>
        </p:nvSpPr>
        <p:spPr>
          <a:xfrm>
            <a:off x="9226296" y="1691640"/>
            <a:ext cx="2194560" cy="777240"/>
          </a:xfrm>
          <a:prstGeom prst="rect">
            <a:avLst/>
          </a:prstGeom>
          <a:noFill/>
          <a:ln/>
        </p:spPr>
        <p:txBody>
          <a:bodyPr wrap="square" lIns="0" tIns="0" rIns="0" bIns="0" rtlCol="0" anchor="ctr"/>
          <a:lstStyle/>
          <a:p>
            <a:pPr indent="0" marL="0">
              <a:buNone/>
            </a:pPr>
            <a:r>
              <a:rPr lang="en-US" sz="3800" b="1" dirty="0">
                <a:solidFill>
                  <a:srgbClr val="0D9488"/>
                </a:solidFill>
                <a:latin typeface="Lexend" pitchFamily="34" charset="0"/>
                <a:ea typeface="Lexend" pitchFamily="34" charset="-122"/>
                <a:cs typeface="Lexend" pitchFamily="34" charset="-120"/>
              </a:rPr>
              <a:t>0,4 s</a:t>
            </a:r>
            <a:endParaRPr lang="en-US" sz="3800" dirty="0"/>
          </a:p>
        </p:txBody>
      </p:sp>
      <p:sp>
        <p:nvSpPr>
          <p:cNvPr id="15" name="Text 13"/>
          <p:cNvSpPr txBox="1"/>
          <p:nvPr/>
        </p:nvSpPr>
        <p:spPr>
          <a:xfrm>
            <a:off x="9226296" y="2514600"/>
            <a:ext cx="2194560" cy="640080"/>
          </a:xfrm>
          <a:prstGeom prst="rect">
            <a:avLst/>
          </a:prstGeom>
          <a:noFill/>
          <a:ln/>
        </p:spPr>
        <p:txBody>
          <a:bodyPr wrap="square" lIns="0" tIns="0" rIns="0" bIns="0" rtlCol="0" anchor="t"/>
          <a:lstStyle/>
          <a:p>
            <a:pPr indent="0" marL="0">
              <a:buNone/>
            </a:pPr>
            <a:r>
              <a:rPr lang="en-US" sz="1300" dirty="0">
                <a:solidFill>
                  <a:srgbClr val="57534E"/>
                </a:solidFill>
                <a:latin typeface="Quattrocento Sans" pitchFamily="34" charset="0"/>
                <a:ea typeface="Quattrocento Sans" pitchFamily="34" charset="-122"/>
                <a:cs typeface="Quattrocento Sans" pitchFamily="34" charset="-120"/>
              </a:rPr>
              <a:t>por consulta, de mediana</a:t>
            </a:r>
            <a:endParaRPr lang="en-US" sz="1300" dirty="0"/>
          </a:p>
        </p:txBody>
      </p:sp>
      <p:sp>
        <p:nvSpPr>
          <p:cNvPr id="16" name="Text 14"/>
          <p:cNvSpPr txBox="1"/>
          <p:nvPr/>
        </p:nvSpPr>
        <p:spPr>
          <a:xfrm>
            <a:off x="548640" y="3520440"/>
            <a:ext cx="5303520" cy="365760"/>
          </a:xfrm>
          <a:prstGeom prst="rect">
            <a:avLst/>
          </a:prstGeom>
          <a:noFill/>
          <a:ln/>
        </p:spPr>
        <p:txBody>
          <a:bodyPr wrap="square" lIns="0" tIns="0" rIns="0" bIns="0" rtlCol="0" anchor="t"/>
          <a:lstStyle/>
          <a:p>
            <a:pPr indent="0" marL="0">
              <a:buNone/>
            </a:pPr>
            <a:r>
              <a:rPr lang="en-US" sz="1600" b="1" dirty="0">
                <a:solidFill>
                  <a:srgbClr val="1C1917"/>
                </a:solidFill>
                <a:latin typeface="Lexend" pitchFamily="34" charset="0"/>
                <a:ea typeface="Lexend" pitchFamily="34" charset="-122"/>
                <a:cs typeface="Lexend" pitchFamily="34" charset="-120"/>
              </a:rPr>
              <a:t>Cómo se prueba</a:t>
            </a:r>
            <a:endParaRPr lang="en-US" sz="1600" dirty="0"/>
          </a:p>
        </p:txBody>
      </p:sp>
      <p:sp>
        <p:nvSpPr>
          <p:cNvPr id="17" name="Text 15"/>
          <p:cNvSpPr txBox="1"/>
          <p:nvPr/>
        </p:nvSpPr>
        <p:spPr>
          <a:xfrm>
            <a:off x="548640" y="3931920"/>
            <a:ext cx="5394960" cy="210312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57534E"/>
                </a:solidFill>
                <a:latin typeface="Quattrocento Sans" pitchFamily="34" charset="0"/>
                <a:ea typeface="Quattrocento Sans" pitchFamily="34" charset="-122"/>
                <a:cs typeface="Quattrocento Sans" pitchFamily="34" charset="-120"/>
              </a:rPr>
              <a:t>Cada pull request corre lint, las pruebas, las imágenes del API y la app contra el API.</a:t>
            </a:r>
            <a:endParaRPr lang="en-US" sz="1400" dirty="0"/>
          </a:p>
          <a:p>
            <a:pPr marL="203200" indent="-203200">
              <a:spcAft>
                <a:spcPts val="600"/>
              </a:spcAft>
              <a:buSzPct val="100000"/>
              <a:buChar char="•"/>
            </a:pPr>
            <a:r>
              <a:rPr lang="en-US" sz="1400" dirty="0">
                <a:solidFill>
                  <a:srgbClr val="57534E"/>
                </a:solidFill>
                <a:latin typeface="Quattrocento Sans" pitchFamily="34" charset="0"/>
                <a:ea typeface="Quattrocento Sans" pitchFamily="34" charset="-122"/>
                <a:cs typeface="Quattrocento Sans" pitchFamily="34" charset="-120"/>
              </a:rPr>
              <a:t>Las catorce propiedades se verifican con 1 000 consultas al azar al cerrar cada etapa.</a:t>
            </a:r>
            <a:endParaRPr lang="en-US" sz="1400" dirty="0"/>
          </a:p>
          <a:p>
            <a:pPr marL="203200" indent="-203200">
              <a:spcAft>
                <a:spcPts val="600"/>
              </a:spcAft>
              <a:buSzPct val="100000"/>
              <a:buChar char="•"/>
            </a:pPr>
            <a:r>
              <a:rPr lang="en-US" sz="1400" dirty="0">
                <a:solidFill>
                  <a:srgbClr val="57534E"/>
                </a:solidFill>
                <a:latin typeface="Quattrocento Sans" pitchFamily="34" charset="0"/>
                <a:ea typeface="Quattrocento Sans" pitchFamily="34" charset="-122"/>
                <a:cs typeface="Quattrocento Sans" pitchFamily="34" charset="-120"/>
              </a:rPr>
              <a:t>El despliegue en AWS se ensayó contra un simulador.</a:t>
            </a:r>
            <a:endParaRPr lang="en-US" sz="1400" dirty="0"/>
          </a:p>
        </p:txBody>
      </p:sp>
      <p:sp>
        <p:nvSpPr>
          <p:cNvPr id="18" name="Text 16"/>
          <p:cNvSpPr txBox="1"/>
          <p:nvPr/>
        </p:nvSpPr>
        <p:spPr>
          <a:xfrm>
            <a:off x="6263640" y="3520440"/>
            <a:ext cx="5303520" cy="365760"/>
          </a:xfrm>
          <a:prstGeom prst="rect">
            <a:avLst/>
          </a:prstGeom>
          <a:noFill/>
          <a:ln/>
        </p:spPr>
        <p:txBody>
          <a:bodyPr wrap="square" lIns="0" tIns="0" rIns="0" bIns="0" rtlCol="0" anchor="t"/>
          <a:lstStyle/>
          <a:p>
            <a:pPr indent="0" marL="0">
              <a:buNone/>
            </a:pPr>
            <a:r>
              <a:rPr lang="en-US" sz="1600" b="1" dirty="0">
                <a:solidFill>
                  <a:srgbClr val="1C1917"/>
                </a:solidFill>
                <a:latin typeface="Lexend" pitchFamily="34" charset="0"/>
                <a:ea typeface="Lexend" pitchFamily="34" charset="-122"/>
                <a:cs typeface="Lexend" pitchFamily="34" charset="-120"/>
              </a:rPr>
              <a:t>Los límites que declaramos</a:t>
            </a:r>
            <a:endParaRPr lang="en-US" sz="1600" dirty="0"/>
          </a:p>
        </p:txBody>
      </p:sp>
      <p:sp>
        <p:nvSpPr>
          <p:cNvPr id="19" name="Text 17"/>
          <p:cNvSpPr txBox="1"/>
          <p:nvPr/>
        </p:nvSpPr>
        <p:spPr>
          <a:xfrm>
            <a:off x="6263640" y="3931920"/>
            <a:ext cx="5376672" cy="210312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57534E"/>
                </a:solidFill>
                <a:latin typeface="Quattrocento Sans" pitchFamily="34" charset="0"/>
                <a:ea typeface="Quattrocento Sans" pitchFamily="34" charset="-122"/>
                <a:cs typeface="Quattrocento Sans" pitchFamily="34" charset="-120"/>
              </a:rPr>
              <a:t>Un viaje recorre una sola zona: no junta el Valle Sagrado con Machu Picchu.</a:t>
            </a:r>
            <a:endParaRPr lang="en-US" sz="1400" dirty="0"/>
          </a:p>
          <a:p>
            <a:pPr marL="203200" indent="-203200">
              <a:spcAft>
                <a:spcPts val="600"/>
              </a:spcAft>
              <a:buSzPct val="100000"/>
              <a:buChar char="•"/>
            </a:pPr>
            <a:r>
              <a:rPr lang="en-US" sz="1400" dirty="0">
                <a:solidFill>
                  <a:srgbClr val="57534E"/>
                </a:solidFill>
                <a:latin typeface="Quattrocento Sans" pitchFamily="34" charset="0"/>
                <a:ea typeface="Quattrocento Sans" pitchFamily="34" charset="-122"/>
                <a:cs typeface="Quattrocento Sans" pitchFamily="34" charset="-120"/>
              </a:rPr>
              <a:t>La escala 1-2-6-24 es un supuesto sin calibrar, y concentra las propuestas.</a:t>
            </a:r>
            <a:endParaRPr lang="en-US" sz="1400" dirty="0"/>
          </a:p>
          <a:p>
            <a:pPr marL="203200" indent="-203200">
              <a:spcAft>
                <a:spcPts val="600"/>
              </a:spcAft>
              <a:buSzPct val="100000"/>
              <a:buChar char="•"/>
            </a:pPr>
            <a:r>
              <a:rPr lang="en-US" sz="1400" dirty="0">
                <a:solidFill>
                  <a:srgbClr val="57534E"/>
                </a:solidFill>
                <a:latin typeface="Quattrocento Sans" pitchFamily="34" charset="0"/>
                <a:ea typeface="Quattrocento Sans" pitchFamily="34" charset="-122"/>
                <a:cs typeface="Quattrocento Sans" pitchFamily="34" charset="-120"/>
              </a:rPr>
              <a:t>No conoce los horarios de los buses ni si un lugar para comer está abierto.</a:t>
            </a:r>
            <a:endParaRPr lang="en-US" sz="1400" dirty="0"/>
          </a:p>
          <a:p>
            <a:pPr marL="203200" indent="-203200">
              <a:spcAft>
                <a:spcPts val="600"/>
              </a:spcAft>
              <a:buSzPct val="100000"/>
              <a:buChar char="•"/>
            </a:pPr>
            <a:r>
              <a:rPr lang="en-US" sz="1400" dirty="0">
                <a:solidFill>
                  <a:srgbClr val="57534E"/>
                </a:solidFill>
                <a:latin typeface="Quattrocento Sans" pitchFamily="34" charset="0"/>
                <a:ea typeface="Quattrocento Sans" pitchFamily="34" charset="-122"/>
                <a:cs typeface="Quattrocento Sans" pitchFamily="34" charset="-120"/>
              </a:rPr>
              <a:t>Solo una de cada nueve paradas tiene foto.</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latin typeface="Quattrocento Sans"/>
                <a:ea typeface="Quattrocento Sans"/>
                <a:cs typeface="Quattrocento Sans"/>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749808" y="310896"/>
            <a:ext cx="10881360" cy="658368"/>
          </a:xfrm>
          <a:prstGeom prst="rect">
            <a:avLst/>
          </a:prstGeom>
          <a:noFill/>
          <a:ln/>
        </p:spPr>
        <p:txBody>
          <a:bodyPr wrap="square" lIns="0" tIns="0" rIns="0" bIns="0" rtlCol="0" anchor="ctr"/>
          <a:lstStyle/>
          <a:p>
            <a:pPr algn="l" indent="0" marL="0">
              <a:buNone/>
            </a:pPr>
            <a:r>
              <a:rPr lang="en-US" sz="2600" b="1" dirty="0">
                <a:solidFill>
                  <a:srgbClr val="1C1917"/>
                </a:solidFill>
                <a:latin typeface="Lexend" pitchFamily="34" charset="0"/>
                <a:ea typeface="Lexend" pitchFamily="34" charset="-122"/>
                <a:cs typeface="Lexend" pitchFamily="34" charset="-120"/>
              </a:rPr>
              <a:t>Retos técnicos</a:t>
            </a:r>
            <a:endParaRPr lang="en-US" sz="2600" dirty="0"/>
          </a:p>
        </p:txBody>
      </p:sp>
      <p:sp>
        <p:nvSpPr>
          <p:cNvPr id="3" name="Text 1"/>
          <p:cNvSpPr/>
          <p:nvPr>
            <p:ph idx="102" type="body" hasCustomPrompt="1"/>
          </p:nvPr>
        </p:nvSpPr>
        <p:spPr>
          <a:xfrm>
            <a:off x="749808" y="932688"/>
            <a:ext cx="10881360" cy="384048"/>
          </a:xfrm>
          <a:prstGeom prst="rect">
            <a:avLst/>
          </a:prstGeom>
          <a:noFill/>
          <a:ln/>
        </p:spPr>
        <p:txBody>
          <a:bodyPr wrap="square" lIns="0" tIns="0" rIns="0" bIns="0" rtlCol="0" anchor="t"/>
          <a:lstStyle/>
          <a:p>
            <a:pPr algn="l" indent="0" marL="0">
              <a:buNone/>
            </a:pPr>
            <a:r>
              <a:rPr lang="en-US" sz="1400" dirty="0">
                <a:solidFill>
                  <a:srgbClr val="57534E"/>
                </a:solidFill>
                <a:latin typeface="Quattrocento Sans" pitchFamily="34" charset="0"/>
                <a:ea typeface="Quattrocento Sans" pitchFamily="34" charset="-122"/>
                <a:cs typeface="Quattrocento Sans" pitchFamily="34" charset="-120"/>
              </a:rPr>
              <a:t>Lo que no salía como esperábamos, y cómo se resolvió</a:t>
            </a:r>
            <a:endParaRPr lang="en-US" sz="1400" dirty="0"/>
          </a:p>
        </p:txBody>
      </p:sp>
      <p:sp>
        <p:nvSpPr>
          <p:cNvPr id="4" name="reto 1"/>
          <p:cNvSpPr/>
          <p:nvPr/>
        </p:nvSpPr>
        <p:spPr>
          <a:xfrm>
            <a:off x="548640" y="1554480"/>
            <a:ext cx="3538728" cy="2057400"/>
          </a:xfrm>
          <a:prstGeom prst="roundRect">
            <a:avLst>
              <a:gd name="adj" fmla="val 5333"/>
            </a:avLst>
          </a:prstGeom>
          <a:solidFill>
            <a:srgbClr val="FAFAF9"/>
          </a:solidFill>
          <a:ln w="12700">
            <a:solidFill>
              <a:srgbClr val="E7E5E4"/>
            </a:solidFill>
            <a:prstDash val="solid"/>
          </a:ln>
        </p:spPr>
      </p:sp>
      <p:sp>
        <p:nvSpPr>
          <p:cNvPr id="5" name="Text 3"/>
          <p:cNvSpPr txBox="1"/>
          <p:nvPr/>
        </p:nvSpPr>
        <p:spPr>
          <a:xfrm>
            <a:off x="777240" y="1755648"/>
            <a:ext cx="3108960" cy="685800"/>
          </a:xfrm>
          <a:prstGeom prst="rect">
            <a:avLst/>
          </a:prstGeom>
          <a:noFill/>
          <a:ln/>
        </p:spPr>
        <p:txBody>
          <a:bodyPr wrap="square" lIns="0" tIns="0" rIns="0" bIns="0" rtlCol="0" anchor="t"/>
          <a:lstStyle/>
          <a:p>
            <a:pPr indent="0" marL="0">
              <a:buNone/>
            </a:pPr>
            <a:r>
              <a:rPr lang="en-US" sz="1500" b="1" dirty="0">
                <a:solidFill>
                  <a:srgbClr val="1C1917"/>
                </a:solidFill>
                <a:latin typeface="Lexend" pitchFamily="34" charset="0"/>
                <a:ea typeface="Lexend" pitchFamily="34" charset="-122"/>
                <a:cs typeface="Lexend" pitchFamily="34" charset="-120"/>
              </a:rPr>
              <a:t>Latitud y longitud intercambiadas</a:t>
            </a:r>
            <a:endParaRPr lang="en-US" sz="1500" dirty="0"/>
          </a:p>
        </p:txBody>
      </p:sp>
      <p:sp>
        <p:nvSpPr>
          <p:cNvPr id="6" name="Text 4"/>
          <p:cNvSpPr txBox="1"/>
          <p:nvPr/>
        </p:nvSpPr>
        <p:spPr>
          <a:xfrm>
            <a:off x="777240" y="2468880"/>
            <a:ext cx="3108960" cy="1051560"/>
          </a:xfrm>
          <a:prstGeom prst="rect">
            <a:avLst/>
          </a:prstGeom>
          <a:noFill/>
          <a:ln/>
        </p:spPr>
        <p:txBody>
          <a:bodyPr wrap="square" lIns="0" tIns="0" rIns="0" bIns="0" rtlCol="0" anchor="t"/>
          <a:lstStyle/>
          <a:p>
            <a:pPr indent="0" marL="0">
              <a:buNone/>
            </a:pPr>
            <a:r>
              <a:rPr lang="en-US" sz="1350" dirty="0">
                <a:solidFill>
                  <a:srgbClr val="57534E"/>
                </a:solidFill>
                <a:latin typeface="Quattrocento Sans" pitchFamily="34" charset="0"/>
                <a:ea typeface="Quattrocento Sans" pitchFamily="34" charset="-122"/>
                <a:cs typeface="Quattrocento Sans" pitchFamily="34" charset="-120"/>
              </a:rPr>
              <a:t>Con sus etiquetas, ningún recurso caía en el Perú. Se corrige al leer y cada coordenada queda marcada.</a:t>
            </a:r>
            <a:endParaRPr lang="en-US" sz="1350" dirty="0"/>
          </a:p>
        </p:txBody>
      </p:sp>
      <p:sp>
        <p:nvSpPr>
          <p:cNvPr id="7" name="reto 2"/>
          <p:cNvSpPr/>
          <p:nvPr/>
        </p:nvSpPr>
        <p:spPr>
          <a:xfrm>
            <a:off x="4325112" y="1554480"/>
            <a:ext cx="3538728" cy="2057400"/>
          </a:xfrm>
          <a:prstGeom prst="roundRect">
            <a:avLst>
              <a:gd name="adj" fmla="val 5333"/>
            </a:avLst>
          </a:prstGeom>
          <a:solidFill>
            <a:srgbClr val="FAFAF9"/>
          </a:solidFill>
          <a:ln w="12700">
            <a:solidFill>
              <a:srgbClr val="E7E5E4"/>
            </a:solidFill>
            <a:prstDash val="solid"/>
          </a:ln>
        </p:spPr>
      </p:sp>
      <p:sp>
        <p:nvSpPr>
          <p:cNvPr id="8" name="Text 6"/>
          <p:cNvSpPr txBox="1"/>
          <p:nvPr/>
        </p:nvSpPr>
        <p:spPr>
          <a:xfrm>
            <a:off x="4553712" y="1755648"/>
            <a:ext cx="3108960" cy="685800"/>
          </a:xfrm>
          <a:prstGeom prst="rect">
            <a:avLst/>
          </a:prstGeom>
          <a:noFill/>
          <a:ln/>
        </p:spPr>
        <p:txBody>
          <a:bodyPr wrap="square" lIns="0" tIns="0" rIns="0" bIns="0" rtlCol="0" anchor="t"/>
          <a:lstStyle/>
          <a:p>
            <a:pPr indent="0" marL="0">
              <a:buNone/>
            </a:pPr>
            <a:r>
              <a:rPr lang="en-US" sz="1500" b="1" dirty="0">
                <a:solidFill>
                  <a:srgbClr val="1C1917"/>
                </a:solidFill>
                <a:latin typeface="Lexend" pitchFamily="34" charset="0"/>
                <a:ea typeface="Lexend" pitchFamily="34" charset="-122"/>
                <a:cs typeface="Lexend" pitchFamily="34" charset="-120"/>
              </a:rPr>
              <a:t>La jerarquía coincidía en el 59,7 %</a:t>
            </a:r>
            <a:endParaRPr lang="en-US" sz="1500" dirty="0"/>
          </a:p>
        </p:txBody>
      </p:sp>
      <p:sp>
        <p:nvSpPr>
          <p:cNvPr id="9" name="Text 7"/>
          <p:cNvSpPr txBox="1"/>
          <p:nvPr/>
        </p:nvSpPr>
        <p:spPr>
          <a:xfrm>
            <a:off x="4553712" y="2468880"/>
            <a:ext cx="3108960" cy="1051560"/>
          </a:xfrm>
          <a:prstGeom prst="rect">
            <a:avLst/>
          </a:prstGeom>
          <a:noFill/>
          <a:ln/>
        </p:spPr>
        <p:txBody>
          <a:bodyPr wrap="square" lIns="0" tIns="0" rIns="0" bIns="0" rtlCol="0" anchor="t"/>
          <a:lstStyle/>
          <a:p>
            <a:pPr indent="0" marL="0">
              <a:buNone/>
            </a:pPr>
            <a:r>
              <a:rPr lang="en-US" sz="1350" dirty="0">
                <a:solidFill>
                  <a:srgbClr val="57534E"/>
                </a:solidFill>
                <a:latin typeface="Quattrocento Sans" pitchFamily="34" charset="0"/>
                <a:ea typeface="Quattrocento Sans" pitchFamily="34" charset="-122"/>
                <a:cs typeface="Quattrocento Sans" pitchFamily="34" charset="-120"/>
              </a:rPr>
              <a:t>Se leyeron las 6 225 fichas oficiales, y cada campo dice de dónde salió.</a:t>
            </a:r>
            <a:endParaRPr lang="en-US" sz="1350" dirty="0"/>
          </a:p>
        </p:txBody>
      </p:sp>
      <p:sp>
        <p:nvSpPr>
          <p:cNvPr id="10" name="reto 3"/>
          <p:cNvSpPr/>
          <p:nvPr/>
        </p:nvSpPr>
        <p:spPr>
          <a:xfrm>
            <a:off x="8101584" y="1554480"/>
            <a:ext cx="3538728" cy="2057400"/>
          </a:xfrm>
          <a:prstGeom prst="roundRect">
            <a:avLst>
              <a:gd name="adj" fmla="val 5333"/>
            </a:avLst>
          </a:prstGeom>
          <a:solidFill>
            <a:srgbClr val="FAFAF9"/>
          </a:solidFill>
          <a:ln w="12700">
            <a:solidFill>
              <a:srgbClr val="E7E5E4"/>
            </a:solidFill>
            <a:prstDash val="solid"/>
          </a:ln>
        </p:spPr>
      </p:sp>
      <p:sp>
        <p:nvSpPr>
          <p:cNvPr id="11" name="Text 9"/>
          <p:cNvSpPr txBox="1"/>
          <p:nvPr/>
        </p:nvSpPr>
        <p:spPr>
          <a:xfrm>
            <a:off x="8330184" y="1755648"/>
            <a:ext cx="3108960" cy="685800"/>
          </a:xfrm>
          <a:prstGeom prst="rect">
            <a:avLst/>
          </a:prstGeom>
          <a:noFill/>
          <a:ln/>
        </p:spPr>
        <p:txBody>
          <a:bodyPr wrap="square" lIns="0" tIns="0" rIns="0" bIns="0" rtlCol="0" anchor="t"/>
          <a:lstStyle/>
          <a:p>
            <a:pPr indent="0" marL="0">
              <a:buNone/>
            </a:pPr>
            <a:r>
              <a:rPr lang="en-US" sz="1500" b="1" dirty="0">
                <a:solidFill>
                  <a:srgbClr val="1C1917"/>
                </a:solidFill>
                <a:latin typeface="Lexend" pitchFamily="34" charset="0"/>
                <a:ea typeface="Lexend" pitchFamily="34" charset="-122"/>
                <a:cs typeface="Lexend" pitchFamily="34" charset="-120"/>
              </a:rPr>
              <a:t>Las fichas publican teléfonos y nombres</a:t>
            </a:r>
            <a:endParaRPr lang="en-US" sz="1500" dirty="0"/>
          </a:p>
        </p:txBody>
      </p:sp>
      <p:sp>
        <p:nvSpPr>
          <p:cNvPr id="12" name="Text 10"/>
          <p:cNvSpPr txBox="1"/>
          <p:nvPr/>
        </p:nvSpPr>
        <p:spPr>
          <a:xfrm>
            <a:off x="8330184" y="2468880"/>
            <a:ext cx="3108960" cy="1051560"/>
          </a:xfrm>
          <a:prstGeom prst="rect">
            <a:avLst/>
          </a:prstGeom>
          <a:noFill/>
          <a:ln/>
        </p:spPr>
        <p:txBody>
          <a:bodyPr wrap="square" lIns="0" tIns="0" rIns="0" bIns="0" rtlCol="0" anchor="t"/>
          <a:lstStyle/>
          <a:p>
            <a:pPr indent="0" marL="0">
              <a:buNone/>
            </a:pPr>
            <a:r>
              <a:rPr lang="en-US" sz="1350" dirty="0">
                <a:solidFill>
                  <a:srgbClr val="57534E"/>
                </a:solidFill>
                <a:latin typeface="Quattrocento Sans" pitchFamily="34" charset="0"/>
                <a:ea typeface="Quattrocento Sans" pitchFamily="34" charset="-122"/>
                <a:cs typeface="Quattrocento Sans" pitchFamily="34" charset="-120"/>
              </a:rPr>
              <a:t>Un filtro los reemplaza al leer, revisado a mano sobre las 6 225 fichas.</a:t>
            </a:r>
            <a:endParaRPr lang="en-US" sz="1350" dirty="0"/>
          </a:p>
        </p:txBody>
      </p:sp>
      <p:sp>
        <p:nvSpPr>
          <p:cNvPr id="13" name="reto 4"/>
          <p:cNvSpPr/>
          <p:nvPr/>
        </p:nvSpPr>
        <p:spPr>
          <a:xfrm>
            <a:off x="548640" y="3840480"/>
            <a:ext cx="3538728" cy="2057400"/>
          </a:xfrm>
          <a:prstGeom prst="roundRect">
            <a:avLst>
              <a:gd name="adj" fmla="val 5333"/>
            </a:avLst>
          </a:prstGeom>
          <a:solidFill>
            <a:srgbClr val="FAFAF9"/>
          </a:solidFill>
          <a:ln w="12700">
            <a:solidFill>
              <a:srgbClr val="E7E5E4"/>
            </a:solidFill>
            <a:prstDash val="solid"/>
          </a:ln>
        </p:spPr>
      </p:sp>
      <p:sp>
        <p:nvSpPr>
          <p:cNvPr id="14" name="Text 12"/>
          <p:cNvSpPr txBox="1"/>
          <p:nvPr/>
        </p:nvSpPr>
        <p:spPr>
          <a:xfrm>
            <a:off x="777240" y="4041648"/>
            <a:ext cx="3108960" cy="685800"/>
          </a:xfrm>
          <a:prstGeom prst="rect">
            <a:avLst/>
          </a:prstGeom>
          <a:noFill/>
          <a:ln/>
        </p:spPr>
        <p:txBody>
          <a:bodyPr wrap="square" lIns="0" tIns="0" rIns="0" bIns="0" rtlCol="0" anchor="t"/>
          <a:lstStyle/>
          <a:p>
            <a:pPr indent="0" marL="0">
              <a:buNone/>
            </a:pPr>
            <a:r>
              <a:rPr lang="en-US" sz="1500" b="1" dirty="0">
                <a:solidFill>
                  <a:srgbClr val="1C1917"/>
                </a:solidFill>
                <a:latin typeface="Lexend" pitchFamily="34" charset="0"/>
                <a:ea typeface="Lexend" pitchFamily="34" charset="-122"/>
                <a:cs typeface="Lexend" pitchFamily="34" charset="-120"/>
              </a:rPr>
              <a:t>Volar a todo no era un buen viaje</a:t>
            </a:r>
            <a:endParaRPr lang="en-US" sz="1500" dirty="0"/>
          </a:p>
        </p:txBody>
      </p:sp>
      <p:sp>
        <p:nvSpPr>
          <p:cNvPr id="15" name="Text 13"/>
          <p:cNvSpPr txBox="1"/>
          <p:nvPr/>
        </p:nvSpPr>
        <p:spPr>
          <a:xfrm>
            <a:off x="777240" y="4754880"/>
            <a:ext cx="3108960" cy="1051560"/>
          </a:xfrm>
          <a:prstGeom prst="rect">
            <a:avLst/>
          </a:prstGeom>
          <a:noFill/>
          <a:ln/>
        </p:spPr>
        <p:txBody>
          <a:bodyPr wrap="square" lIns="0" tIns="0" rIns="0" bIns="0" rtlCol="0" anchor="t"/>
          <a:lstStyle/>
          <a:p>
            <a:pPr indent="0" marL="0">
              <a:buNone/>
            </a:pPr>
            <a:r>
              <a:rPr lang="en-US" sz="1350" dirty="0">
                <a:solidFill>
                  <a:srgbClr val="57534E"/>
                </a:solidFill>
                <a:latin typeface="Quattrocento Sans" pitchFamily="34" charset="0"/>
                <a:ea typeface="Quattrocento Sans" pitchFamily="34" charset="-122"/>
                <a:cs typeface="Quattrocento Sans" pitchFamily="34" charset="-120"/>
              </a:rPr>
              <a:t>La primera regla volaba en 63 de cada 100 viajes y Huaraz dejaba de salir. Se vuela solo si por tierra pasa de 16 horas.</a:t>
            </a:r>
            <a:endParaRPr lang="en-US" sz="1350" dirty="0"/>
          </a:p>
        </p:txBody>
      </p:sp>
      <p:sp>
        <p:nvSpPr>
          <p:cNvPr id="16" name="reto 5"/>
          <p:cNvSpPr/>
          <p:nvPr/>
        </p:nvSpPr>
        <p:spPr>
          <a:xfrm>
            <a:off x="4325112" y="3840480"/>
            <a:ext cx="3538728" cy="2057400"/>
          </a:xfrm>
          <a:prstGeom prst="roundRect">
            <a:avLst>
              <a:gd name="adj" fmla="val 5333"/>
            </a:avLst>
          </a:prstGeom>
          <a:solidFill>
            <a:srgbClr val="FAFAF9"/>
          </a:solidFill>
          <a:ln w="12700">
            <a:solidFill>
              <a:srgbClr val="E7E5E4"/>
            </a:solidFill>
            <a:prstDash val="solid"/>
          </a:ln>
        </p:spPr>
      </p:sp>
      <p:sp>
        <p:nvSpPr>
          <p:cNvPr id="17" name="Text 15"/>
          <p:cNvSpPr txBox="1"/>
          <p:nvPr/>
        </p:nvSpPr>
        <p:spPr>
          <a:xfrm>
            <a:off x="4553712" y="4041648"/>
            <a:ext cx="3108960" cy="685800"/>
          </a:xfrm>
          <a:prstGeom prst="rect">
            <a:avLst/>
          </a:prstGeom>
          <a:noFill/>
          <a:ln/>
        </p:spPr>
        <p:txBody>
          <a:bodyPr wrap="square" lIns="0" tIns="0" rIns="0" bIns="0" rtlCol="0" anchor="t"/>
          <a:lstStyle/>
          <a:p>
            <a:pPr indent="0" marL="0">
              <a:buNone/>
            </a:pPr>
            <a:r>
              <a:rPr lang="en-US" sz="1500" b="1" dirty="0">
                <a:solidFill>
                  <a:srgbClr val="1C1917"/>
                </a:solidFill>
                <a:latin typeface="Lexend" pitchFamily="34" charset="0"/>
                <a:ea typeface="Lexend" pitchFamily="34" charset="-122"/>
                <a:cs typeface="Lexend" pitchFamily="34" charset="-120"/>
              </a:rPr>
              <a:t>El satélite no ve la neblina de la costa</a:t>
            </a:r>
            <a:endParaRPr lang="en-US" sz="1500" dirty="0"/>
          </a:p>
        </p:txBody>
      </p:sp>
      <p:sp>
        <p:nvSpPr>
          <p:cNvPr id="18" name="Text 16"/>
          <p:cNvSpPr txBox="1"/>
          <p:nvPr/>
        </p:nvSpPr>
        <p:spPr>
          <a:xfrm>
            <a:off x="4553712" y="4754880"/>
            <a:ext cx="3108960" cy="1051560"/>
          </a:xfrm>
          <a:prstGeom prst="rect">
            <a:avLst/>
          </a:prstGeom>
          <a:noFill/>
          <a:ln/>
        </p:spPr>
        <p:txBody>
          <a:bodyPr wrap="square" lIns="0" tIns="0" rIns="0" bIns="0" rtlCol="0" anchor="t"/>
          <a:lstStyle/>
          <a:p>
            <a:pPr indent="0" marL="0">
              <a:buNone/>
            </a:pPr>
            <a:r>
              <a:rPr lang="en-US" sz="1350" dirty="0">
                <a:solidFill>
                  <a:srgbClr val="57534E"/>
                </a:solidFill>
                <a:latin typeface="Quattrocento Sans" pitchFamily="34" charset="0"/>
                <a:ea typeface="Quattrocento Sans" pitchFamily="34" charset="-122"/>
                <a:cs typeface="Quattrocento Sans" pitchFamily="34" charset="-120"/>
              </a:rPr>
              <a:t>En julio, GOES-16 da despejada la mitad de las noches de Lima; el aeropuerto, una de cada veinte. En la costa mandan los METAR.</a:t>
            </a:r>
            <a:endParaRPr lang="en-US" sz="1350" dirty="0"/>
          </a:p>
        </p:txBody>
      </p:sp>
      <p:sp>
        <p:nvSpPr>
          <p:cNvPr id="19" name="reto 6"/>
          <p:cNvSpPr/>
          <p:nvPr/>
        </p:nvSpPr>
        <p:spPr>
          <a:xfrm>
            <a:off x="8101584" y="3840480"/>
            <a:ext cx="3538728" cy="2057400"/>
          </a:xfrm>
          <a:prstGeom prst="roundRect">
            <a:avLst>
              <a:gd name="adj" fmla="val 5333"/>
            </a:avLst>
          </a:prstGeom>
          <a:solidFill>
            <a:srgbClr val="FAFAF9"/>
          </a:solidFill>
          <a:ln w="12700">
            <a:solidFill>
              <a:srgbClr val="E7E5E4"/>
            </a:solidFill>
            <a:prstDash val="solid"/>
          </a:ln>
        </p:spPr>
      </p:sp>
      <p:sp>
        <p:nvSpPr>
          <p:cNvPr id="20" name="Text 18"/>
          <p:cNvSpPr txBox="1"/>
          <p:nvPr/>
        </p:nvSpPr>
        <p:spPr>
          <a:xfrm>
            <a:off x="8330184" y="4041648"/>
            <a:ext cx="3108960" cy="685800"/>
          </a:xfrm>
          <a:prstGeom prst="rect">
            <a:avLst/>
          </a:prstGeom>
          <a:noFill/>
          <a:ln/>
        </p:spPr>
        <p:txBody>
          <a:bodyPr wrap="square" lIns="0" tIns="0" rIns="0" bIns="0" rtlCol="0" anchor="t"/>
          <a:lstStyle/>
          <a:p>
            <a:pPr indent="0" marL="0">
              <a:buNone/>
            </a:pPr>
            <a:r>
              <a:rPr lang="en-US" sz="1500" b="1" dirty="0">
                <a:solidFill>
                  <a:srgbClr val="1C1917"/>
                </a:solidFill>
                <a:latin typeface="Lexend" pitchFamily="34" charset="0"/>
                <a:ea typeface="Lexend" pitchFamily="34" charset="-122"/>
                <a:cs typeface="Lexend" pitchFamily="34" charset="-120"/>
              </a:rPr>
              <a:t>Bases sin altura</a:t>
            </a:r>
            <a:endParaRPr lang="en-US" sz="1500" dirty="0"/>
          </a:p>
        </p:txBody>
      </p:sp>
      <p:sp>
        <p:nvSpPr>
          <p:cNvPr id="21" name="Text 19"/>
          <p:cNvSpPr txBox="1"/>
          <p:nvPr/>
        </p:nvSpPr>
        <p:spPr>
          <a:xfrm>
            <a:off x="8330184" y="4754880"/>
            <a:ext cx="3108960" cy="1051560"/>
          </a:xfrm>
          <a:prstGeom prst="rect">
            <a:avLst/>
          </a:prstGeom>
          <a:noFill/>
          <a:ln/>
        </p:spPr>
        <p:txBody>
          <a:bodyPr wrap="square" lIns="0" tIns="0" rIns="0" bIns="0" rtlCol="0" anchor="t"/>
          <a:lstStyle/>
          <a:p>
            <a:pPr indent="0" marL="0">
              <a:buNone/>
            </a:pPr>
            <a:r>
              <a:rPr lang="en-US" sz="1350" dirty="0">
                <a:solidFill>
                  <a:srgbClr val="57534E"/>
                </a:solidFill>
                <a:latin typeface="Quattrocento Sans" pitchFamily="34" charset="0"/>
                <a:ea typeface="Quattrocento Sans" pitchFamily="34" charset="-122"/>
                <a:cs typeface="Quattrocento Sans" pitchFamily="34" charset="-120"/>
              </a:rPr>
              <a:t>13 bases no la tenían y otras 11 la tenían estimada. Terrain Tiles las completó, y el clima se lleva a esa altura.</a:t>
            </a:r>
            <a:endParaRPr lang="en-US" sz="135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latin typeface="Quattrocento Sans"/>
                <a:ea typeface="Quattrocento Sans"/>
                <a:cs typeface="Quattrocento Sans"/>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749808" y="310896"/>
            <a:ext cx="10881360" cy="658368"/>
          </a:xfrm>
          <a:prstGeom prst="rect">
            <a:avLst/>
          </a:prstGeom>
          <a:noFill/>
          <a:ln/>
        </p:spPr>
        <p:txBody>
          <a:bodyPr wrap="square" lIns="0" tIns="0" rIns="0" bIns="0" rtlCol="0" anchor="ctr"/>
          <a:lstStyle/>
          <a:p>
            <a:pPr algn="l" indent="0" marL="0">
              <a:buNone/>
            </a:pPr>
            <a:r>
              <a:rPr lang="en-US" sz="2600" b="1" dirty="0">
                <a:solidFill>
                  <a:srgbClr val="1C1917"/>
                </a:solidFill>
                <a:latin typeface="Lexend" pitchFamily="34" charset="0"/>
                <a:ea typeface="Lexend" pitchFamily="34" charset="-122"/>
                <a:cs typeface="Lexend" pitchFamily="34" charset="-120"/>
              </a:rPr>
              <a:t>Lo que falta</a:t>
            </a:r>
            <a:endParaRPr lang="en-US" sz="2600" dirty="0"/>
          </a:p>
        </p:txBody>
      </p:sp>
      <p:sp>
        <p:nvSpPr>
          <p:cNvPr id="3" name="Text 1"/>
          <p:cNvSpPr/>
          <p:nvPr>
            <p:ph idx="102" type="body" hasCustomPrompt="1"/>
          </p:nvPr>
        </p:nvSpPr>
        <p:spPr>
          <a:xfrm>
            <a:off x="749808" y="932688"/>
            <a:ext cx="10881360" cy="384048"/>
          </a:xfrm>
          <a:prstGeom prst="rect">
            <a:avLst/>
          </a:prstGeom>
          <a:noFill/>
          <a:ln/>
        </p:spPr>
        <p:txBody>
          <a:bodyPr wrap="square" lIns="0" tIns="0" rIns="0" bIns="0" rtlCol="0" anchor="t"/>
          <a:lstStyle/>
          <a:p>
            <a:pPr algn="l" indent="0" marL="0">
              <a:buNone/>
            </a:pPr>
            <a:r>
              <a:rPr lang="en-US" sz="1400" dirty="0">
                <a:solidFill>
                  <a:srgbClr val="57534E"/>
                </a:solidFill>
                <a:latin typeface="Quattrocento Sans" pitchFamily="34" charset="0"/>
                <a:ea typeface="Quattrocento Sans" pitchFamily="34" charset="-122"/>
                <a:cs typeface="Quattrocento Sans" pitchFamily="34" charset="-120"/>
              </a:rPr>
              <a:t>Para la semana 12 y para la entrega final</a:t>
            </a:r>
            <a:endParaRPr lang="en-US" sz="1400" dirty="0"/>
          </a:p>
        </p:txBody>
      </p:sp>
      <p:sp>
        <p:nvSpPr>
          <p:cNvPr id="4" name="semana 12"/>
          <p:cNvSpPr/>
          <p:nvPr/>
        </p:nvSpPr>
        <p:spPr>
          <a:xfrm>
            <a:off x="548640" y="1554480"/>
            <a:ext cx="6720840" cy="4480560"/>
          </a:xfrm>
          <a:prstGeom prst="roundRect">
            <a:avLst>
              <a:gd name="adj" fmla="val 2449"/>
            </a:avLst>
          </a:prstGeom>
          <a:solidFill>
            <a:srgbClr val="FAFAF9"/>
          </a:solidFill>
          <a:ln w="12700">
            <a:solidFill>
              <a:srgbClr val="E7E5E4"/>
            </a:solidFill>
            <a:prstDash val="solid"/>
          </a:ln>
        </p:spPr>
      </p:sp>
      <p:sp>
        <p:nvSpPr>
          <p:cNvPr id="5" name="Text 3"/>
          <p:cNvSpPr txBox="1"/>
          <p:nvPr/>
        </p:nvSpPr>
        <p:spPr>
          <a:xfrm>
            <a:off x="822960" y="1783080"/>
            <a:ext cx="6217920" cy="411480"/>
          </a:xfrm>
          <a:prstGeom prst="rect">
            <a:avLst/>
          </a:prstGeom>
          <a:noFill/>
          <a:ln/>
        </p:spPr>
        <p:txBody>
          <a:bodyPr wrap="square" lIns="0" tIns="0" rIns="0" bIns="0" rtlCol="0" anchor="t"/>
          <a:lstStyle/>
          <a:p>
            <a:pPr indent="0" marL="0">
              <a:buNone/>
            </a:pPr>
            <a:r>
              <a:rPr lang="en-US" sz="1800" b="1" dirty="0">
                <a:solidFill>
                  <a:srgbClr val="C2410C"/>
                </a:solidFill>
                <a:latin typeface="Lexend" pitchFamily="34" charset="0"/>
                <a:ea typeface="Lexend" pitchFamily="34" charset="-122"/>
                <a:cs typeface="Lexend" pitchFamily="34" charset="-120"/>
              </a:rPr>
              <a:t>Semana 12: evaluar, con el kit ya listo</a:t>
            </a:r>
            <a:endParaRPr lang="en-US" sz="1800" dirty="0"/>
          </a:p>
        </p:txBody>
      </p:sp>
      <p:sp>
        <p:nvSpPr>
          <p:cNvPr id="6" name="Text 4"/>
          <p:cNvSpPr txBox="1"/>
          <p:nvPr/>
        </p:nvSpPr>
        <p:spPr>
          <a:xfrm>
            <a:off x="822960" y="2286000"/>
            <a:ext cx="6217920" cy="3657600"/>
          </a:xfrm>
          <a:prstGeom prst="rect">
            <a:avLst/>
          </a:prstGeom>
          <a:noFill/>
          <a:ln/>
        </p:spPr>
        <p:txBody>
          <a:bodyPr wrap="square" lIns="0" tIns="0" rIns="0" bIns="0" rtlCol="0" anchor="t"/>
          <a:lstStyle/>
          <a:p>
            <a:pPr marL="203200" indent="-203200">
              <a:spcAft>
                <a:spcPts val="800"/>
              </a:spcAft>
              <a:buSzPct val="100000"/>
              <a:buChar char="•"/>
            </a:pPr>
            <a:r>
              <a:rPr lang="en-US" sz="1450" dirty="0">
                <a:solidFill>
                  <a:srgbClr val="1C1917"/>
                </a:solidFill>
                <a:latin typeface="Quattrocento Sans" pitchFamily="34" charset="0"/>
                <a:ea typeface="Quattrocento Sans" pitchFamily="34" charset="-122"/>
                <a:cs typeface="Quattrocento Sans" pitchFamily="34" charset="-120"/>
              </a:rPr>
              <a:t>El equipo califica 185 viajes de 40 consultas sin saber de dónde salen: el motor, una guía de lo más conocido y una variante con más peso para lo pedido.</a:t>
            </a:r>
            <a:endParaRPr lang="en-US" sz="1450" dirty="0"/>
          </a:p>
          <a:p>
            <a:pPr marL="203200" indent="-203200">
              <a:spcAft>
                <a:spcPts val="800"/>
              </a:spcAft>
              <a:buSzPct val="100000"/>
              <a:buChar char="•"/>
            </a:pPr>
            <a:r>
              <a:rPr lang="en-US" sz="1450" dirty="0">
                <a:solidFill>
                  <a:srgbClr val="1C1917"/>
                </a:solidFill>
                <a:latin typeface="Quattrocento Sans" pitchFamily="34" charset="0"/>
                <a:ea typeface="Quattrocento Sans" pitchFamily="34" charset="-122"/>
                <a:cs typeface="Quattrocento Sans" pitchFamily="34" charset="-120"/>
              </a:rPr>
              <a:t>Una prueba de usabilidad con cinco personas, cinco tareas y el SUS.</a:t>
            </a:r>
            <a:endParaRPr lang="en-US" sz="1450" dirty="0"/>
          </a:p>
          <a:p>
            <a:pPr marL="203200" indent="-203200">
              <a:spcAft>
                <a:spcPts val="800"/>
              </a:spcAft>
              <a:buSzPct val="100000"/>
              <a:buChar char="•"/>
            </a:pPr>
            <a:r>
              <a:rPr lang="en-US" sz="1450" dirty="0">
                <a:solidFill>
                  <a:srgbClr val="1C1917"/>
                </a:solidFill>
                <a:latin typeface="Quattrocento Sans" pitchFamily="34" charset="0"/>
                <a:ea typeface="Quattrocento Sans" pitchFamily="34" charset="-122"/>
                <a:cs typeface="Quattrocento Sans" pitchFamily="34" charset="-120"/>
              </a:rPr>
              <a:t>La distancia del itinerario al óptimo exacto, y los tiempos contra los horarios de los buses.</a:t>
            </a:r>
            <a:endParaRPr lang="en-US" sz="1450" dirty="0"/>
          </a:p>
          <a:p>
            <a:pPr marL="203200" indent="-203200">
              <a:spcAft>
                <a:spcPts val="800"/>
              </a:spcAft>
              <a:buSzPct val="100000"/>
              <a:buChar char="•"/>
            </a:pPr>
            <a:r>
              <a:rPr lang="en-US" sz="1450" dirty="0">
                <a:solidFill>
                  <a:srgbClr val="1C1917"/>
                </a:solidFill>
                <a:latin typeface="Quattrocento Sans" pitchFamily="34" charset="0"/>
                <a:ea typeface="Quattrocento Sans" pitchFamily="34" charset="-122"/>
                <a:cs typeface="Quattrocento Sans" pitchFamily="34" charset="-120"/>
              </a:rPr>
              <a:t>Decidir si el presupuesto deja fuera lo que no cabe en P80, como en la copia del profesor: cambia la propiedad 7.</a:t>
            </a:r>
            <a:endParaRPr lang="en-US" sz="1450" dirty="0"/>
          </a:p>
          <a:p>
            <a:pPr marL="203200" indent="-203200">
              <a:spcAft>
                <a:spcPts val="800"/>
              </a:spcAft>
              <a:buSzPct val="100000"/>
              <a:buChar char="•"/>
            </a:pPr>
            <a:r>
              <a:rPr lang="en-US" sz="1450" dirty="0">
                <a:solidFill>
                  <a:srgbClr val="1C1917"/>
                </a:solidFill>
                <a:latin typeface="Quattrocento Sans" pitchFamily="34" charset="0"/>
                <a:ea typeface="Quattrocento Sans" pitchFamily="34" charset="-122"/>
                <a:cs typeface="Quattrocento Sans" pitchFamily="34" charset="-120"/>
              </a:rPr>
              <a:t>Viajes de varias zonas, y el API en AWS con su arranque en frío medido.</a:t>
            </a:r>
            <a:endParaRPr lang="en-US" sz="1450" dirty="0"/>
          </a:p>
        </p:txBody>
      </p:sp>
      <p:sp>
        <p:nvSpPr>
          <p:cNvPr id="7" name="entrega final"/>
          <p:cNvSpPr/>
          <p:nvPr/>
        </p:nvSpPr>
        <p:spPr>
          <a:xfrm>
            <a:off x="7543800" y="1554480"/>
            <a:ext cx="4096512" cy="4480560"/>
          </a:xfrm>
          <a:prstGeom prst="roundRect">
            <a:avLst>
              <a:gd name="adj" fmla="val 2679"/>
            </a:avLst>
          </a:prstGeom>
          <a:solidFill>
            <a:srgbClr val="FAFAF9"/>
          </a:solidFill>
          <a:ln w="12700">
            <a:solidFill>
              <a:srgbClr val="E7E5E4"/>
            </a:solidFill>
            <a:prstDash val="solid"/>
          </a:ln>
        </p:spPr>
      </p:sp>
      <p:sp>
        <p:nvSpPr>
          <p:cNvPr id="8" name="Text 6"/>
          <p:cNvSpPr txBox="1"/>
          <p:nvPr/>
        </p:nvSpPr>
        <p:spPr>
          <a:xfrm>
            <a:off x="7818120" y="1783080"/>
            <a:ext cx="3566160" cy="411480"/>
          </a:xfrm>
          <a:prstGeom prst="rect">
            <a:avLst/>
          </a:prstGeom>
          <a:noFill/>
          <a:ln/>
        </p:spPr>
        <p:txBody>
          <a:bodyPr wrap="square" lIns="0" tIns="0" rIns="0" bIns="0" rtlCol="0" anchor="t"/>
          <a:lstStyle/>
          <a:p>
            <a:pPr indent="0" marL="0">
              <a:buNone/>
            </a:pPr>
            <a:r>
              <a:rPr lang="en-US" sz="1800" b="1" dirty="0">
                <a:solidFill>
                  <a:srgbClr val="0D9488"/>
                </a:solidFill>
                <a:latin typeface="Lexend" pitchFamily="34" charset="0"/>
                <a:ea typeface="Lexend" pitchFamily="34" charset="-122"/>
                <a:cs typeface="Lexend" pitchFamily="34" charset="-120"/>
              </a:rPr>
              <a:t>Entrega final</a:t>
            </a:r>
            <a:endParaRPr lang="en-US" sz="1800" dirty="0"/>
          </a:p>
        </p:txBody>
      </p:sp>
      <p:sp>
        <p:nvSpPr>
          <p:cNvPr id="9" name="Text 7"/>
          <p:cNvSpPr txBox="1"/>
          <p:nvPr/>
        </p:nvSpPr>
        <p:spPr>
          <a:xfrm>
            <a:off x="7818120" y="2331720"/>
            <a:ext cx="3566160" cy="3566160"/>
          </a:xfrm>
          <a:prstGeom prst="rect">
            <a:avLst/>
          </a:prstGeom>
          <a:noFill/>
          <a:ln/>
        </p:spPr>
        <p:txBody>
          <a:bodyPr wrap="square" lIns="0" tIns="0" rIns="0" bIns="0" rtlCol="0" anchor="t"/>
          <a:lstStyle/>
          <a:p>
            <a:pPr marL="203200" indent="-203200">
              <a:spcAft>
                <a:spcPts val="900"/>
              </a:spcAft>
              <a:buSzPct val="100000"/>
              <a:buChar char="•"/>
            </a:pPr>
            <a:r>
              <a:rPr lang="en-US" sz="1500" dirty="0">
                <a:solidFill>
                  <a:srgbClr val="1C1917"/>
                </a:solidFill>
                <a:latin typeface="Quattrocento Sans" pitchFamily="34" charset="0"/>
                <a:ea typeface="Quattrocento Sans" pitchFamily="34" charset="-122"/>
                <a:cs typeface="Quattrocento Sans" pitchFamily="34" charset="-120"/>
              </a:rPr>
              <a:t>El informe final y el video.</a:t>
            </a:r>
            <a:endParaRPr lang="en-US" sz="1500" dirty="0"/>
          </a:p>
          <a:p>
            <a:pPr marL="203200" indent="-203200">
              <a:spcAft>
                <a:spcPts val="900"/>
              </a:spcAft>
              <a:buSzPct val="100000"/>
              <a:buChar char="•"/>
            </a:pPr>
            <a:r>
              <a:rPr lang="en-US" sz="1500" dirty="0">
                <a:solidFill>
                  <a:srgbClr val="1C1917"/>
                </a:solidFill>
                <a:latin typeface="Quattrocento Sans" pitchFamily="34" charset="0"/>
                <a:ea typeface="Quattrocento Sans" pitchFamily="34" charset="-122"/>
                <a:cs typeface="Quattrocento Sans" pitchFamily="34" charset="-120"/>
              </a:rPr>
              <a:t>La página del proyecto.</a:t>
            </a:r>
            <a:endParaRPr lang="en-US" sz="1500" dirty="0"/>
          </a:p>
          <a:p>
            <a:pPr marL="203200" indent="-203200">
              <a:spcAft>
                <a:spcPts val="900"/>
              </a:spcAft>
              <a:buSzPct val="100000"/>
              <a:buChar char="•"/>
            </a:pPr>
            <a:r>
              <a:rPr lang="en-US" sz="1500" dirty="0">
                <a:solidFill>
                  <a:srgbClr val="1C1917"/>
                </a:solidFill>
                <a:latin typeface="Quattrocento Sans" pitchFamily="34" charset="0"/>
                <a:ea typeface="Quattrocento Sans" pitchFamily="34" charset="-122"/>
                <a:cs typeface="Quattrocento Sans" pitchFamily="34" charset="-120"/>
              </a:rPr>
              <a:t>El Canvas y los requisitos finales.</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78716C"/>
                </a:solidFill>
                <a:latin typeface="Quattrocento Sans"/>
                <a:ea typeface="Quattrocento Sans"/>
                <a:cs typeface="Quattrocento Sans"/>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731520" y="1417320"/>
            <a:ext cx="6400800" cy="1097280"/>
          </a:xfrm>
          <a:prstGeom prst="rect">
            <a:avLst/>
          </a:prstGeom>
          <a:noFill/>
          <a:ln/>
        </p:spPr>
        <p:txBody>
          <a:bodyPr wrap="square" lIns="0" tIns="0" rIns="0" bIns="0" rtlCol="0" anchor="ctr"/>
          <a:lstStyle/>
          <a:p>
            <a:pPr indent="0" marL="0">
              <a:buNone/>
            </a:pPr>
            <a:r>
              <a:rPr lang="en-US" sz="6000" b="1" dirty="0">
                <a:solidFill>
                  <a:srgbClr val="1C1917"/>
                </a:solidFill>
                <a:latin typeface="Lexend" pitchFamily="34" charset="0"/>
                <a:ea typeface="Lexend" pitchFamily="34" charset="-122"/>
                <a:cs typeface="Lexend" pitchFamily="34" charset="-120"/>
              </a:rPr>
              <a:t>Gracias</a:t>
            </a:r>
            <a:endParaRPr lang="en-US" sz="6000" dirty="0"/>
          </a:p>
        </p:txBody>
      </p:sp>
      <p:sp>
        <p:nvSpPr>
          <p:cNvPr id="3" name="Text 1"/>
          <p:cNvSpPr txBox="1"/>
          <p:nvPr/>
        </p:nvSpPr>
        <p:spPr>
          <a:xfrm>
            <a:off x="731520" y="2514600"/>
            <a:ext cx="6400800" cy="640080"/>
          </a:xfrm>
          <a:prstGeom prst="rect">
            <a:avLst/>
          </a:prstGeom>
          <a:noFill/>
          <a:ln/>
        </p:spPr>
        <p:txBody>
          <a:bodyPr wrap="square" lIns="0" tIns="0" rIns="0" bIns="0" rtlCol="0" anchor="t"/>
          <a:lstStyle/>
          <a:p>
            <a:pPr indent="0" marL="0">
              <a:buNone/>
            </a:pPr>
            <a:r>
              <a:rPr lang="en-US" sz="2800" dirty="0">
                <a:solidFill>
                  <a:srgbClr val="0D9488"/>
                </a:solidFill>
                <a:latin typeface="Lexend" pitchFamily="34" charset="0"/>
                <a:ea typeface="Lexend" pitchFamily="34" charset="-122"/>
                <a:cs typeface="Lexend" pitchFamily="34" charset="-120"/>
              </a:rPr>
              <a:t>¿Preguntas?</a:t>
            </a:r>
            <a:endParaRPr lang="en-US" sz="2800" dirty="0"/>
          </a:p>
        </p:txBody>
      </p:sp>
      <p:sp>
        <p:nvSpPr>
          <p:cNvPr id="4" name="Text 2"/>
          <p:cNvSpPr txBox="1"/>
          <p:nvPr/>
        </p:nvSpPr>
        <p:spPr>
          <a:xfrm>
            <a:off x="731520" y="3520440"/>
            <a:ext cx="6583680" cy="2377440"/>
          </a:xfrm>
          <a:prstGeom prst="rect">
            <a:avLst/>
          </a:prstGeom>
          <a:noFill/>
          <a:ln/>
        </p:spPr>
        <p:txBody>
          <a:bodyPr wrap="square" lIns="0" tIns="0" rIns="0" bIns="0" rtlCol="0" anchor="t"/>
          <a:lstStyle/>
          <a:p>
            <a:pPr indent="0" marL="0">
              <a:buNone/>
            </a:pPr>
            <a:r>
              <a:rPr lang="en-US" sz="1500" b="1" dirty="0">
                <a:solidFill>
                  <a:srgbClr val="1C1917"/>
                </a:solidFill>
                <a:latin typeface="Quattrocento Sans" pitchFamily="34" charset="0"/>
                <a:ea typeface="Quattrocento Sans" pitchFamily="34" charset="-122"/>
                <a:cs typeface="Quattrocento Sans" pitchFamily="34" charset="-120"/>
              </a:rPr>
              <a:t>La app</a:t>
            </a:r>
            <a:endParaRPr lang="en-US" sz="1500" dirty="0"/>
          </a:p>
          <a:p>
            <a:pPr indent="0" marL="0">
              <a:spcAft>
                <a:spcPts val="1000"/>
              </a:spcAft>
              <a:buNone/>
            </a:pPr>
            <a:r>
              <a:rPr lang="en-US" sz="1500" dirty="0">
                <a:solidFill>
                  <a:srgbClr val="0B5C80"/>
                </a:solidFill>
                <a:latin typeface="Quattrocento Sans" pitchFamily="34" charset="0"/>
                <a:ea typeface="Quattrocento Sans" pitchFamily="34" charset="-122"/>
                <a:cs typeface="Quattrocento Sans" pitchFamily="34" charset="-120"/>
              </a:rPr>
              <a:t>oswaldoaqm.github.io/Alejandros-Team</a:t>
            </a:r>
            <a:endParaRPr lang="en-US" sz="1500" dirty="0"/>
          </a:p>
          <a:p>
            <a:pPr indent="0" marL="0">
              <a:buNone/>
            </a:pPr>
            <a:r>
              <a:rPr lang="en-US" sz="1500" b="1" dirty="0">
                <a:solidFill>
                  <a:srgbClr val="1C1917"/>
                </a:solidFill>
                <a:latin typeface="Quattrocento Sans" pitchFamily="34" charset="0"/>
                <a:ea typeface="Quattrocento Sans" pitchFamily="34" charset="-122"/>
                <a:cs typeface="Quattrocento Sans" pitchFamily="34" charset="-120"/>
              </a:rPr>
              <a:t>El API y sus endpoints</a:t>
            </a:r>
            <a:endParaRPr lang="en-US" sz="1500" dirty="0"/>
          </a:p>
          <a:p>
            <a:pPr indent="0" marL="0">
              <a:spcAft>
                <a:spcPts val="1000"/>
              </a:spcAft>
              <a:buNone/>
            </a:pPr>
            <a:r>
              <a:rPr lang="en-US" sz="1500" dirty="0">
                <a:solidFill>
                  <a:srgbClr val="0B5C80"/>
                </a:solidFill>
                <a:latin typeface="Quattrocento Sans" pitchFamily="34" charset="0"/>
                <a:ea typeface="Quattrocento Sans" pitchFamily="34" charset="-122"/>
                <a:cs typeface="Quattrocento Sans" pitchFamily="34" charset="-120"/>
              </a:rPr>
              <a:t>alejandros-team.onrender.com/v1/docs</a:t>
            </a:r>
            <a:endParaRPr lang="en-US" sz="1500" dirty="0"/>
          </a:p>
          <a:p>
            <a:pPr indent="0" marL="0">
              <a:buNone/>
            </a:pPr>
            <a:r>
              <a:rPr lang="en-US" sz="1500" b="1" dirty="0">
                <a:solidFill>
                  <a:srgbClr val="1C1917"/>
                </a:solidFill>
                <a:latin typeface="Quattrocento Sans" pitchFamily="34" charset="0"/>
                <a:ea typeface="Quattrocento Sans" pitchFamily="34" charset="-122"/>
                <a:cs typeface="Quattrocento Sans" pitchFamily="34" charset="-120"/>
              </a:rPr>
              <a:t>El código, los datos y el informe</a:t>
            </a:r>
            <a:endParaRPr lang="en-US" sz="1500" dirty="0"/>
          </a:p>
          <a:p>
            <a:pPr indent="0" marL="0">
              <a:buNone/>
            </a:pPr>
            <a:r>
              <a:rPr lang="en-US" sz="1500" dirty="0">
                <a:solidFill>
                  <a:srgbClr val="0B5C80"/>
                </a:solidFill>
                <a:latin typeface="Quattrocento Sans" pitchFamily="34" charset="0"/>
                <a:ea typeface="Quattrocento Sans" pitchFamily="34" charset="-122"/>
                <a:cs typeface="Quattrocento Sans" pitchFamily="34" charset="-120"/>
              </a:rPr>
              <a:t>github.com/oswaldoaqm/Alejandros-Team, en deliveries/week10</a:t>
            </a:r>
            <a:endParaRPr lang="en-US" sz="1500" dirty="0"/>
          </a:p>
        </p:txBody>
      </p:sp>
      <p:sp>
        <p:nvSpPr>
          <p:cNvPr id="5" name="panel del QR del cierre"/>
          <p:cNvSpPr/>
          <p:nvPr/>
        </p:nvSpPr>
        <p:spPr>
          <a:xfrm>
            <a:off x="8092440" y="1417320"/>
            <a:ext cx="3383280" cy="3840480"/>
          </a:xfrm>
          <a:prstGeom prst="roundRect">
            <a:avLst>
              <a:gd name="adj" fmla="val 3243"/>
            </a:avLst>
          </a:prstGeom>
          <a:solidFill>
            <a:srgbClr val="F5F5F4"/>
          </a:solidFill>
          <a:ln w="12700">
            <a:solidFill>
              <a:srgbClr val="E7E5E4"/>
            </a:solidFill>
            <a:prstDash val="solid"/>
          </a:ln>
        </p:spPr>
      </p:sp>
      <p:pic>
        <p:nvPicPr>
          <p:cNvPr id="6" name="qr_app.png" descr="Código QR de la app publicada">    </p:cNvPr>
          <p:cNvPicPr>
            <a:picLocks noChangeAspect="1"/>
          </p:cNvPicPr>
          <p:nvPr/>
        </p:nvPicPr>
        <p:blipFill>
          <a:blip r:embed="rId1"/>
          <a:stretch>
            <a:fillRect/>
          </a:stretch>
        </p:blipFill>
        <p:spPr>
          <a:xfrm>
            <a:off x="8503920" y="1737360"/>
            <a:ext cx="2560320" cy="2560320"/>
          </a:xfrm>
          <a:prstGeom prst="rect">
            <a:avLst/>
          </a:prstGeom>
        </p:spPr>
      </p:pic>
      <p:sp>
        <p:nvSpPr>
          <p:cNvPr id="7" name="Text 4"/>
          <p:cNvSpPr txBox="1"/>
          <p:nvPr/>
        </p:nvSpPr>
        <p:spPr>
          <a:xfrm>
            <a:off x="8275320" y="4526280"/>
            <a:ext cx="3017520" cy="411480"/>
          </a:xfrm>
          <a:prstGeom prst="rect">
            <a:avLst/>
          </a:prstGeom>
          <a:noFill/>
          <a:ln/>
        </p:spPr>
        <p:txBody>
          <a:bodyPr wrap="square" lIns="0" tIns="0" rIns="0" bIns="0" rtlCol="0" anchor="t"/>
          <a:lstStyle/>
          <a:p>
            <a:pPr algn="ctr" indent="0" marL="0">
              <a:buNone/>
            </a:pPr>
            <a:r>
              <a:rPr lang="en-US" sz="1700" b="1" dirty="0">
                <a:solidFill>
                  <a:srgbClr val="1C1917"/>
                </a:solidFill>
                <a:latin typeface="Lexend" pitchFamily="34" charset="0"/>
                <a:ea typeface="Lexend" pitchFamily="34" charset="-122"/>
                <a:cs typeface="Lexend" pitchFamily="34" charset="-120"/>
              </a:rPr>
              <a:t>Pruébalo en tu celular</a:t>
            </a:r>
            <a:endParaRPr lang="en-US" sz="1700" dirty="0"/>
          </a:p>
        </p:txBody>
      </p:sp>
      <p:sp>
        <p:nvSpPr>
          <p:cNvPr id="8" name="Text 5"/>
          <p:cNvSpPr txBox="1"/>
          <p:nvPr/>
        </p:nvSpPr>
        <p:spPr>
          <a:xfrm>
            <a:off x="731520" y="6263640"/>
            <a:ext cx="7315200" cy="274320"/>
          </a:xfrm>
          <a:prstGeom prst="rect">
            <a:avLst/>
          </a:prstGeom>
          <a:noFill/>
          <a:ln/>
        </p:spPr>
        <p:txBody>
          <a:bodyPr wrap="square" lIns="0" tIns="0" rIns="0" bIns="0" rtlCol="0" anchor="t"/>
          <a:lstStyle/>
          <a:p>
            <a:pPr indent="0" marL="0">
              <a:buNone/>
            </a:pPr>
            <a:r>
              <a:rPr lang="en-US" sz="1000" dirty="0">
                <a:solidFill>
                  <a:srgbClr val="78716C"/>
                </a:solidFill>
                <a:latin typeface="Quattrocento Sans" pitchFamily="34" charset="0"/>
                <a:ea typeface="Quattrocento Sans" pitchFamily="34" charset="-122"/>
                <a:cs typeface="Quattrocento Sans" pitchFamily="34" charset="-120"/>
              </a:rPr>
              <a:t>DreemGO · Miguel · Alejandro · Diego · Christopher</a:t>
            </a:r>
            <a:endParaRPr lang="en-US" sz="1000" dirty="0"/>
          </a:p>
        </p:txBody>
      </p:sp>
    </p:spTree>
  </p:cSld>
  <p:clrMapOvr>
    <a:masterClrMapping/>
  </p:clrMapOvr>
</p:sld>
</file>

<file path=ppt/theme/theme1.xml><?xml version="1.0" encoding="utf-8"?>
<a:theme xmlns:a="http://schemas.openxmlformats.org/drawingml/2006/main" name="DreemGO semana 10">
  <a:themeElements>
    <a:clrScheme name="DreemGO semana 10">
      <a:dk1>
        <a:srgbClr val="1C1917"/>
      </a:dk1>
      <a:lt1>
        <a:srgbClr val="FFFFFF"/>
      </a:lt1>
      <a:dk2>
        <a:srgbClr val="57534E"/>
      </a:dk2>
      <a:lt2>
        <a:srgbClr val="FAFAF9"/>
      </a:lt2>
      <a:accent1>
        <a:srgbClr val="C2410C"/>
      </a:accent1>
      <a:accent2>
        <a:srgbClr val="0D9488"/>
      </a:accent2>
      <a:accent3>
        <a:srgbClr val="7C3AED"/>
      </a:accent3>
      <a:accent4>
        <a:srgbClr val="0B5C80"/>
      </a:accent4>
      <a:accent5>
        <a:srgbClr val="B98000"/>
      </a:accent5>
      <a:accent6>
        <a:srgbClr val="78716C"/>
      </a:accent6>
      <a:hlink>
        <a:srgbClr val="0B5C80"/>
      </a:hlink>
      <a:folHlink>
        <a:srgbClr val="7C3AED"/>
      </a:folHlink>
    </a:clrScheme>
    <a:fontScheme name="DreemGO semana 10">
      <a:majorFont>
        <a:latin typeface="Lexen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Quattrocen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UTEC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DreemGO · Semana 10 · Prototipo funcional</dc:title>
  <dc:subject>DS3022 Desarrollo de Producto de Datos</dc:subject>
  <dc:creator>Miguel, Alejandro, Diego y Christopher</dc:creator>
  <cp:lastModifiedBy>Miguel, Alejandro, Diego y Christopher</cp:lastModifiedBy>
  <cp:revision>1</cp:revision>
  <dcterms:created xsi:type="dcterms:W3CDTF">2026-10-26T00:59:12Z</dcterms:created>
  <dcterms:modified xsi:type="dcterms:W3CDTF">2026-10-26T00:59:12Z</dcterms:modified>
</cp:coreProperties>
</file>