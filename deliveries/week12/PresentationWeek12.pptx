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4.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4b2eeffb-9fd0-dda1-8eb9-c4eb6da76882}">
          <p14:sldIdLst>
            <p14:sldId id="256"/>
            <p14:sldId id="257"/>
          </p14:sldIdLst>
        </p14:section>
        <p14:section name="Prototipo" id="{75a3725d-2cca-1308-431a-92609a17a0a7}">
          <p14:sldIdLst>
            <p14:sldId id="258"/>
            <p14:sldId id="259"/>
            <p14:sldId id="260"/>
            <p14:sldId id="261"/>
            <p14:sldId id="262"/>
          </p14:sldIdLst>
        </p14:section>
        <p14:section name="Arquitectura" id="{af2cc157-0c21-6af3-7b34-e4ddcab9e7aa}">
          <p14:sldIdLst>
            <p14:sldId id="263"/>
            <p14:sldId id="264"/>
            <p14:sldId id="265"/>
          </p14:sldIdLst>
        </p14:section>
        <p14:section name="Evaluación" id="{dff3a630-0c09-ac00-2574-f41d4e5dd336}">
          <p14:sldIdLst>
            <p14:sldId id="266"/>
            <p14:sldId id="267"/>
            <p14:sldId id="268"/>
            <p14:sldId id="269"/>
            <p14:sldId id="270"/>
          </p14:sldIdLst>
        </p14:section>
        <p14:section name="El plan" id="{7d5fda4a-7c01-6857-7232-6830aefe69cd}">
          <p14:sldIdLst>
            <p14:sldId id="271"/>
            <p14:sldId id="272"/>
            <p14:sldId id="273"/>
            <p14:sldId id="274"/>
          </p14:sldIdLst>
        </p14:section>
        <p14:section name="Casos" id="{1c50d6d8-3928-4784-3747-3cd90569cf5f}">
          <p14:sldIdLst>
            <p14:sldId id="275"/>
            <p14:sldId id="276"/>
          </p14:sldIdLst>
        </p14:section>
        <p14:section name="Cierre" id="{811d154e-b251-162a-f810-a90a0d0fa9fb}">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1917"/>
                </a:solidFill>
                <a:latin typeface="+mj-lt"/>
              </a:defRPr>
            </a:pPr>
            <a:r>
              <a:rPr sz="1300" b="0" i="0" u="none" strike="noStrike">
                <a:solidFill>
                  <a:srgbClr val="1C1917"/>
                </a:solidFill>
                <a:latin typeface="+mj-lt"/>
              </a:rPr>
              <a:t>Los 222 grupos de la v2, según cuánto miden de punta a punta por la red</a:t>
            </a:r>
          </a:p>
        </c:rich>
      </c:tx>
      <c:layout/>
      <c:overlay val="0"/>
    </c:title>
    <c:autoTitleDeleted val="0"/>
    <c:plotArea>
      <c:layout/>
      <c:barChart>
        <c:barDir val="col"/>
        <c:grouping val="clustered"/>
        <c:varyColors val="0"/>
        <c:ser>
          <c:idx val="0"/>
          <c:order val="0"/>
          <c:tx>
            <c:strRef>
              <c:f>Sheet1!$B$1</c:f>
              <c:strCache>
                <c:ptCount val="1"/>
                <c:pt idx="0">
                  <c:v>Hasta 4 horas</c:v>
                </c:pt>
              </c:strCache>
            </c:strRef>
          </c:tx>
          <c:spPr>
            <a:solidFill>
              <a:srgbClr val="0D9488"/>
            </a:solidFill>
            <a:effectLst/>
          </c:spPr>
          <c:invertIfNegative val="0"/>
          <c:dLbls>
            <c:numFmt formatCode="0;;;" sourceLinked="0"/>
            <c:txPr>
              <a:bodyPr/>
              <a:lstStyle/>
              <a:p>
                <a:pPr>
                  <a:defRPr b="0" i="0" strike="noStrike" sz="1200" u="none">
                    <a:solidFill>
                      <a:srgbClr val="1C1917"/>
                    </a:solidFill>
                    <a:latin typeface="+mn-lt"/>
                  </a:defRPr>
                </a:pPr>
              </a:p>
            </c:txPr>
            <c:showLegendKey val="0"/>
            <c:showVal val="1"/>
            <c:showCatName val="0"/>
            <c:showSerName val="0"/>
            <c:showPercent val="0"/>
            <c:showBubbleSize val="0"/>
            <c:showLeaderLines val="0"/>
          </c:dLbls>
          <c:cat>
            <c:multiLvlStrRef>
              <c:f>Sheet1!$A$2:$A$7</c:f>
              <c:multiLvlStrCache>
                <c:ptCount val="6"/>
                <c:lvl>
                  <c:pt idx="0">
                    <c:v>Hasta 3 h</c:v>
                  </c:pt>
                  <c:pt idx="1">
                    <c:v>3 a 4 h</c:v>
                  </c:pt>
                  <c:pt idx="2">
                    <c:v>4 a 5 h</c:v>
                  </c:pt>
                  <c:pt idx="3">
                    <c:v>5 a 6 h</c:v>
                  </c:pt>
                  <c:pt idx="4">
                    <c:v>6 a 8 h</c:v>
                  </c:pt>
                  <c:pt idx="5">
                    <c:v>Más de 8 h</c:v>
                  </c:pt>
                </c:lvl>
              </c:multiLvlStrCache>
            </c:multiLvlStrRef>
          </c:cat>
          <c:val>
            <c:numRef>
              <c:f>Sheet1!$B$2:$B$7</c:f>
              <c:numCache>
                <c:formatCode>General</c:formatCode>
                <c:ptCount val="6"/>
                <c:pt idx="0">
                  <c:v>93</c:v>
                </c:pt>
                <c:pt idx="1">
                  <c:v>47</c:v>
                </c:pt>
                <c:pt idx="2">
                  <c:v>0</c:v>
                </c:pt>
                <c:pt idx="3">
                  <c:v>0</c:v>
                </c:pt>
                <c:pt idx="4">
                  <c:v>0</c:v>
                </c:pt>
                <c:pt idx="5">
                  <c:v>0</c:v>
                </c:pt>
              </c:numCache>
            </c:numRef>
          </c:val>
        </c:ser>
        <c:ser>
          <c:idx val="1"/>
          <c:order val="1"/>
          <c:tx>
            <c:strRef>
              <c:f>Sheet1!$C$1</c:f>
              <c:strCache>
                <c:ptCount val="1"/>
                <c:pt idx="0">
                  <c:v>Más de 4 horas</c:v>
                </c:pt>
              </c:strCache>
            </c:strRef>
          </c:tx>
          <c:spPr>
            <a:solidFill>
              <a:srgbClr val="C2410C"/>
            </a:solidFill>
            <a:effectLst/>
          </c:spPr>
          <c:invertIfNegative val="0"/>
          <c:dLbls>
            <c:numFmt formatCode="0;;;" sourceLinked="0"/>
            <c:txPr>
              <a:bodyPr/>
              <a:lstStyle/>
              <a:p>
                <a:pPr>
                  <a:defRPr b="0" i="0" strike="noStrike" sz="1200" u="none">
                    <a:solidFill>
                      <a:srgbClr val="1C1917"/>
                    </a:solidFill>
                    <a:latin typeface="+mn-lt"/>
                  </a:defRPr>
                </a:pPr>
              </a:p>
            </c:txPr>
            <c:showLegendKey val="0"/>
            <c:showVal val="1"/>
            <c:showCatName val="0"/>
            <c:showSerName val="0"/>
            <c:showPercent val="0"/>
            <c:showBubbleSize val="0"/>
            <c:showLeaderLines val="0"/>
          </c:dLbls>
          <c:cat>
            <c:multiLvlStrRef>
              <c:f>Sheet1!$A$2:$A$7</c:f>
              <c:multiLvlStrCache>
                <c:ptCount val="6"/>
                <c:lvl>
                  <c:pt idx="0">
                    <c:v>Hasta 3 h</c:v>
                  </c:pt>
                  <c:pt idx="1">
                    <c:v>3 a 4 h</c:v>
                  </c:pt>
                  <c:pt idx="2">
                    <c:v>4 a 5 h</c:v>
                  </c:pt>
                  <c:pt idx="3">
                    <c:v>5 a 6 h</c:v>
                  </c:pt>
                  <c:pt idx="4">
                    <c:v>6 a 8 h</c:v>
                  </c:pt>
                  <c:pt idx="5">
                    <c:v>Más de 8 h</c:v>
                  </c:pt>
                </c:lvl>
              </c:multiLvlStrCache>
            </c:multiLvlStrRef>
          </c:cat>
          <c:val>
            <c:numRef>
              <c:f>Sheet1!$C$2:$C$7</c:f>
              <c:numCache>
                <c:formatCode>General</c:formatCode>
                <c:ptCount val="6"/>
                <c:pt idx="0">
                  <c:v>0</c:v>
                </c:pt>
                <c:pt idx="1">
                  <c:v>0</c:v>
                </c:pt>
                <c:pt idx="2">
                  <c:v>34</c:v>
                </c:pt>
                <c:pt idx="3">
                  <c:v>19</c:v>
                </c:pt>
                <c:pt idx="4">
                  <c:v>24</c:v>
                </c:pt>
                <c:pt idx="5">
                  <c:v>5</c:v>
                </c:pt>
              </c:numCache>
            </c:numRef>
          </c:val>
        </c:ser>
        <c:dLbls>
          <c:numFmt formatCode="0;;;" sourceLinked="0"/>
          <c:txPr>
            <a:bodyPr/>
            <a:lstStyle/>
            <a:p>
              <a:pPr>
                <a:defRPr b="0" i="0" strike="noStrike" sz="1200" u="none">
                  <a:solidFill>
                    <a:srgbClr val="1C1917"/>
                  </a:solidFill>
                  <a:latin typeface="+mn-lt"/>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7534E"/>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7E5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8716C"/>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57534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1917"/>
                </a:solidFill>
                <a:latin typeface="+mj-lt"/>
              </a:defRPr>
            </a:pPr>
            <a:r>
              <a:rPr sz="1400" b="0" i="0" u="none" strike="noStrike">
                <a:solidFill>
                  <a:srgbClr val="1C1917"/>
                </a:solidFill>
                <a:latin typeface="+mj-lt"/>
              </a:rPr>
              <a:t>Viajes de 120, según lo que logra la heurística</a:t>
            </a:r>
          </a:p>
        </c:rich>
      </c:tx>
      <c:layout/>
      <c:overlay val="0"/>
    </c:title>
    <c:autoTitleDeleted val="0"/>
    <c:plotArea>
      <c:layout/>
      <c:barChart>
        <c:barDir val="col"/>
        <c:grouping val="stacked"/>
        <c:varyColors val="0"/>
        <c:ser>
          <c:idx val="0"/>
          <c:order val="0"/>
          <c:tx>
            <c:strRef>
              <c:f>Sheet1!$B$1</c:f>
              <c:strCache>
                <c:ptCount val="1"/>
                <c:pt idx="0">
                  <c:v>Visita todas las candidatas</c:v>
                </c:pt>
              </c:strCache>
            </c:strRef>
          </c:tx>
          <c:spPr>
            <a:solidFill>
              <a:srgbClr val="78716C"/>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10 lugares</c:v>
                  </c:pt>
                  <c:pt idx="1">
                    <c:v>12 lugares</c:v>
                  </c:pt>
                  <c:pt idx="2">
                    <c:v>15 lugares</c:v>
                  </c:pt>
                </c:lvl>
              </c:multiLvlStrCache>
            </c:multiLvlStrRef>
          </c:cat>
          <c:val>
            <c:numRef>
              <c:f>Sheet1!$B$2:$B$4</c:f>
              <c:numCache>
                <c:formatCode>General</c:formatCode>
                <c:ptCount val="3"/>
                <c:pt idx="0">
                  <c:v>80</c:v>
                </c:pt>
                <c:pt idx="1">
                  <c:v>70</c:v>
                </c:pt>
                <c:pt idx="2">
                  <c:v>46</c:v>
                </c:pt>
              </c:numCache>
            </c:numRef>
          </c:val>
        </c:ser>
        <c:ser>
          <c:idx val="1"/>
          <c:order val="1"/>
          <c:tx>
            <c:strRef>
              <c:f>Sheet1!$C$1</c:f>
              <c:strCache>
                <c:ptCount val="1"/>
                <c:pt idx="0">
                  <c:v>Da el óptimo</c:v>
                </c:pt>
              </c:strCache>
            </c:strRef>
          </c:tx>
          <c:spPr>
            <a:solidFill>
              <a:srgbClr val="0D948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10 lugares</c:v>
                  </c:pt>
                  <c:pt idx="1">
                    <c:v>12 lugares</c:v>
                  </c:pt>
                  <c:pt idx="2">
                    <c:v>15 lugares</c:v>
                  </c:pt>
                </c:lvl>
              </c:multiLvlStrCache>
            </c:multiLvlStrRef>
          </c:cat>
          <c:val>
            <c:numRef>
              <c:f>Sheet1!$C$2:$C$4</c:f>
              <c:numCache>
                <c:formatCode>General</c:formatCode>
                <c:ptCount val="3"/>
                <c:pt idx="0">
                  <c:v>30</c:v>
                </c:pt>
                <c:pt idx="1">
                  <c:v>24</c:v>
                </c:pt>
                <c:pt idx="2">
                  <c:v>27</c:v>
                </c:pt>
              </c:numCache>
            </c:numRef>
          </c:val>
        </c:ser>
        <c:ser>
          <c:idx val="2"/>
          <c:order val="2"/>
          <c:tx>
            <c:strRef>
              <c:f>Sheet1!$D$1</c:f>
              <c:strCache>
                <c:ptCount val="1"/>
                <c:pt idx="0">
                  <c:v>Le falta algo</c:v>
                </c:pt>
              </c:strCache>
            </c:strRef>
          </c:tx>
          <c:spPr>
            <a:solidFill>
              <a:srgbClr val="C2410C"/>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10 lugares</c:v>
                  </c:pt>
                  <c:pt idx="1">
                    <c:v>12 lugares</c:v>
                  </c:pt>
                  <c:pt idx="2">
                    <c:v>15 lugares</c:v>
                  </c:pt>
                </c:lvl>
              </c:multiLvlStrCache>
            </c:multiLvlStrRef>
          </c:cat>
          <c:val>
            <c:numRef>
              <c:f>Sheet1!$D$2:$D$4</c:f>
              <c:numCache>
                <c:formatCode>General</c:formatCode>
                <c:ptCount val="3"/>
                <c:pt idx="0">
                  <c:v>10</c:v>
                </c:pt>
                <c:pt idx="1">
                  <c:v>26</c:v>
                </c:pt>
                <c:pt idx="2">
                  <c:v>47</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7534E"/>
                </a:solidFill>
                <a:latin typeface="+mn-lt"/>
              </a:defRPr>
            </a:pPr>
            <a:endParaRPr lang="en-US"/>
          </a:p>
        </c:txPr>
        <c:crossAx val="2094734552"/>
        <c:crosses val="autoZero"/>
        <c:auto val="1"/>
        <c:lblAlgn val="ctr"/>
        <c:noMultiLvlLbl val="1"/>
      </c:catAx>
      <c:valAx>
        <c:axId val="2094734552"/>
        <c:scaling>
          <c:orientation val="minMax"/>
          <c:max val="120"/>
        </c:scaling>
        <c:delete val="0"/>
        <c:axPos val="l"/>
        <c:majorGridlines>
          <c:spPr>
            <a:ln w="9525" cap="flat">
              <a:solidFill>
                <a:srgbClr val="E7E5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8716C"/>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57534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Más rápido que el bus más rápido</c:v>
                </c:pt>
              </c:strCache>
            </c:strRef>
          </c:tx>
          <c:spPr>
            <a:solidFill>
              <a:srgbClr val="C2410C"/>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Sheet1!$A$2:$A$30</c:f>
              <c:multiLvlStrCache>
                <c:ptCount val="29"/>
                <c:lvl>
                  <c:pt idx="0">
                    <c:v>Lima–La Merced</c:v>
                  </c:pt>
                  <c:pt idx="1">
                    <c:v>Lima–Oxapampa</c:v>
                  </c:pt>
                  <c:pt idx="2">
                    <c:v>Lima–Huancayo</c:v>
                  </c:pt>
                  <c:pt idx="3">
                    <c:v>Huancayo–Lima</c:v>
                  </c:pt>
                  <c:pt idx="4">
                    <c:v>Lima–Jauja</c:v>
                  </c:pt>
                  <c:pt idx="5">
                    <c:v>Arequipa–Cusco</c:v>
                  </c:pt>
                  <c:pt idx="6">
                    <c:v>Huaraz–Lima</c:v>
                  </c:pt>
                  <c:pt idx="7">
                    <c:v>Ayacucho–Lima</c:v>
                  </c:pt>
                  <c:pt idx="8">
                    <c:v>Lima–Cusco</c:v>
                  </c:pt>
                  <c:pt idx="9">
                    <c:v>Lima–Chiclayo</c:v>
                  </c:pt>
                  <c:pt idx="10">
                    <c:v>Lima–Arequipa</c:v>
                  </c:pt>
                  <c:pt idx="11">
                    <c:v>Lima–Huaraz</c:v>
                  </c:pt>
                  <c:pt idx="12">
                    <c:v>Lima–Piura</c:v>
                  </c:pt>
                  <c:pt idx="13">
                    <c:v>Chiclayo–Lima</c:v>
                  </c:pt>
                  <c:pt idx="14">
                    <c:v>Piura–Lima</c:v>
                  </c:pt>
                  <c:pt idx="15">
                    <c:v>Lima–Ayacucho</c:v>
                  </c:pt>
                  <c:pt idx="16">
                    <c:v>Trujillo–Lima</c:v>
                  </c:pt>
                  <c:pt idx="17">
                    <c:v>Cusco–Lima</c:v>
                  </c:pt>
                  <c:pt idx="18">
                    <c:v>Lima–Abancay</c:v>
                  </c:pt>
                  <c:pt idx="19">
                    <c:v>Lima–Nasca</c:v>
                  </c:pt>
                  <c:pt idx="20">
                    <c:v>Lima–Trujillo</c:v>
                  </c:pt>
                  <c:pt idx="21">
                    <c:v>Arequipa–Lima</c:v>
                  </c:pt>
                  <c:pt idx="22">
                    <c:v>Lima–Marcona</c:v>
                  </c:pt>
                  <c:pt idx="23">
                    <c:v>Lima–Pacasmayo</c:v>
                  </c:pt>
                  <c:pt idx="24">
                    <c:v>Lima–Chimbote</c:v>
                  </c:pt>
                  <c:pt idx="25">
                    <c:v>Abancay–Lima</c:v>
                  </c:pt>
                  <c:pt idx="26">
                    <c:v>Lima–Ica</c:v>
                  </c:pt>
                  <c:pt idx="27">
                    <c:v>Lima–Paracas</c:v>
                  </c:pt>
                  <c:pt idx="28">
                    <c:v>Ica–Lima</c:v>
                  </c:pt>
                </c:lvl>
              </c:multiLvlStrCache>
            </c:multiLvlStrRef>
          </c:cat>
          <c:val>
            <c:numRef>
              <c:f>Sheet1!$B$2:$B$30</c:f>
              <c:numCache>
                <c:formatCode>General</c:formatCode>
                <c:ptCount val="29"/>
                <c:pt idx="0">
                  <c:v>0.677</c:v>
                </c:pt>
                <c:pt idx="1">
                  <c:v>0.714</c:v>
                </c:pt>
                <c:pt idx="2">
                  <c:v>0.737</c:v>
                </c:pt>
                <c:pt idx="3">
                  <c:v>0.743</c:v>
                </c:pt>
                <c:pt idx="4">
                  <c:v>0.755</c:v>
                </c:pt>
                <c:pt idx="5">
                  <c:v>0.94</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numCache>
            </c:numRef>
          </c:val>
        </c:ser>
        <c:ser>
          <c:idx val="1"/>
          <c:order val="1"/>
          <c:tx>
            <c:strRef>
              <c:f>Sheet1!$C$1</c:f>
              <c:strCache>
                <c:ptCount val="1"/>
                <c:pt idx="0">
                  <c:v>Dentro del rango de la empresa</c:v>
                </c:pt>
              </c:strCache>
            </c:strRef>
          </c:tx>
          <c:spPr>
            <a:solidFill>
              <a:srgbClr val="D6D3D1"/>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Sheet1!$A$2:$A$30</c:f>
              <c:multiLvlStrCache>
                <c:ptCount val="29"/>
                <c:lvl>
                  <c:pt idx="0">
                    <c:v>Lima–La Merced</c:v>
                  </c:pt>
                  <c:pt idx="1">
                    <c:v>Lima–Oxapampa</c:v>
                  </c:pt>
                  <c:pt idx="2">
                    <c:v>Lima–Huancayo</c:v>
                  </c:pt>
                  <c:pt idx="3">
                    <c:v>Huancayo–Lima</c:v>
                  </c:pt>
                  <c:pt idx="4">
                    <c:v>Lima–Jauja</c:v>
                  </c:pt>
                  <c:pt idx="5">
                    <c:v>Arequipa–Cusco</c:v>
                  </c:pt>
                  <c:pt idx="6">
                    <c:v>Huaraz–Lima</c:v>
                  </c:pt>
                  <c:pt idx="7">
                    <c:v>Ayacucho–Lima</c:v>
                  </c:pt>
                  <c:pt idx="8">
                    <c:v>Lima–Cusco</c:v>
                  </c:pt>
                  <c:pt idx="9">
                    <c:v>Lima–Chiclayo</c:v>
                  </c:pt>
                  <c:pt idx="10">
                    <c:v>Lima–Arequipa</c:v>
                  </c:pt>
                  <c:pt idx="11">
                    <c:v>Lima–Huaraz</c:v>
                  </c:pt>
                  <c:pt idx="12">
                    <c:v>Lima–Piura</c:v>
                  </c:pt>
                  <c:pt idx="13">
                    <c:v>Chiclayo–Lima</c:v>
                  </c:pt>
                  <c:pt idx="14">
                    <c:v>Piura–Lima</c:v>
                  </c:pt>
                  <c:pt idx="15">
                    <c:v>Lima–Ayacucho</c:v>
                  </c:pt>
                  <c:pt idx="16">
                    <c:v>Trujillo–Lima</c:v>
                  </c:pt>
                  <c:pt idx="17">
                    <c:v>Cusco–Lima</c:v>
                  </c:pt>
                  <c:pt idx="18">
                    <c:v>Lima–Abancay</c:v>
                  </c:pt>
                  <c:pt idx="19">
                    <c:v>Lima–Nasca</c:v>
                  </c:pt>
                  <c:pt idx="20">
                    <c:v>Lima–Trujillo</c:v>
                  </c:pt>
                  <c:pt idx="21">
                    <c:v>Arequipa–Lima</c:v>
                  </c:pt>
                  <c:pt idx="22">
                    <c:v>Lima–Marcona</c:v>
                  </c:pt>
                  <c:pt idx="23">
                    <c:v>Lima–Pacasmayo</c:v>
                  </c:pt>
                  <c:pt idx="24">
                    <c:v>Lima–Chimbote</c:v>
                  </c:pt>
                  <c:pt idx="25">
                    <c:v>Abancay–Lima</c:v>
                  </c:pt>
                  <c:pt idx="26">
                    <c:v>Lima–Ica</c:v>
                  </c:pt>
                  <c:pt idx="27">
                    <c:v>Lima–Paracas</c:v>
                  </c:pt>
                  <c:pt idx="28">
                    <c:v>Ica–Lima</c:v>
                  </c:pt>
                </c:lvl>
              </c:multiLvlStrCache>
            </c:multiLvlStrRef>
          </c:cat>
          <c:val>
            <c:numRef>
              <c:f>Sheet1!$C$2:$C$30</c:f>
              <c:numCache>
                <c:formatCode>General</c:formatCode>
                <c:ptCount val="29"/>
                <c:pt idx="0">
                  <c:v>0</c:v>
                </c:pt>
                <c:pt idx="1">
                  <c:v>0</c:v>
                </c:pt>
                <c:pt idx="2">
                  <c:v>0</c:v>
                </c:pt>
                <c:pt idx="3">
                  <c:v>0</c:v>
                </c:pt>
                <c:pt idx="4">
                  <c:v>0</c:v>
                </c:pt>
                <c:pt idx="5">
                  <c:v>0</c:v>
                </c:pt>
                <c:pt idx="6">
                  <c:v>0.946</c:v>
                </c:pt>
                <c:pt idx="7">
                  <c:v>0.983</c:v>
                </c:pt>
                <c:pt idx="8">
                  <c:v>0.993</c:v>
                </c:pt>
                <c:pt idx="9">
                  <c:v>0.998</c:v>
                </c:pt>
                <c:pt idx="10">
                  <c:v>1.019</c:v>
                </c:pt>
                <c:pt idx="11">
                  <c:v>1.021</c:v>
                </c:pt>
                <c:pt idx="12">
                  <c:v>1.023</c:v>
                </c:pt>
                <c:pt idx="13">
                  <c:v>1.024</c:v>
                </c:pt>
                <c:pt idx="14">
                  <c:v>1.028</c:v>
                </c:pt>
                <c:pt idx="15">
                  <c:v>1.03</c:v>
                </c:pt>
                <c:pt idx="16">
                  <c:v>1.03</c:v>
                </c:pt>
                <c:pt idx="17">
                  <c:v>0</c:v>
                </c:pt>
                <c:pt idx="18">
                  <c:v>1.053</c:v>
                </c:pt>
                <c:pt idx="19">
                  <c:v>1.067</c:v>
                </c:pt>
                <c:pt idx="20">
                  <c:v>1.068</c:v>
                </c:pt>
                <c:pt idx="21">
                  <c:v>0</c:v>
                </c:pt>
                <c:pt idx="22">
                  <c:v>0</c:v>
                </c:pt>
                <c:pt idx="23">
                  <c:v>1.091</c:v>
                </c:pt>
                <c:pt idx="24">
                  <c:v>0</c:v>
                </c:pt>
                <c:pt idx="25">
                  <c:v>0</c:v>
                </c:pt>
                <c:pt idx="26">
                  <c:v>1.214</c:v>
                </c:pt>
                <c:pt idx="27">
                  <c:v>0</c:v>
                </c:pt>
                <c:pt idx="28">
                  <c:v>0</c:v>
                </c:pt>
              </c:numCache>
            </c:numRef>
          </c:val>
        </c:ser>
        <c:ser>
          <c:idx val="2"/>
          <c:order val="2"/>
          <c:tx>
            <c:strRef>
              <c:f>Sheet1!$D$1</c:f>
              <c:strCache>
                <c:ptCount val="1"/>
                <c:pt idx="0">
                  <c:v>Más lento que el más lento</c:v>
                </c:pt>
              </c:strCache>
            </c:strRef>
          </c:tx>
          <c:spPr>
            <a:solidFill>
              <a:srgbClr val="0B5C80"/>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Sheet1!$A$2:$A$30</c:f>
              <c:multiLvlStrCache>
                <c:ptCount val="29"/>
                <c:lvl>
                  <c:pt idx="0">
                    <c:v>Lima–La Merced</c:v>
                  </c:pt>
                  <c:pt idx="1">
                    <c:v>Lima–Oxapampa</c:v>
                  </c:pt>
                  <c:pt idx="2">
                    <c:v>Lima–Huancayo</c:v>
                  </c:pt>
                  <c:pt idx="3">
                    <c:v>Huancayo–Lima</c:v>
                  </c:pt>
                  <c:pt idx="4">
                    <c:v>Lima–Jauja</c:v>
                  </c:pt>
                  <c:pt idx="5">
                    <c:v>Arequipa–Cusco</c:v>
                  </c:pt>
                  <c:pt idx="6">
                    <c:v>Huaraz–Lima</c:v>
                  </c:pt>
                  <c:pt idx="7">
                    <c:v>Ayacucho–Lima</c:v>
                  </c:pt>
                  <c:pt idx="8">
                    <c:v>Lima–Cusco</c:v>
                  </c:pt>
                  <c:pt idx="9">
                    <c:v>Lima–Chiclayo</c:v>
                  </c:pt>
                  <c:pt idx="10">
                    <c:v>Lima–Arequipa</c:v>
                  </c:pt>
                  <c:pt idx="11">
                    <c:v>Lima–Huaraz</c:v>
                  </c:pt>
                  <c:pt idx="12">
                    <c:v>Lima–Piura</c:v>
                  </c:pt>
                  <c:pt idx="13">
                    <c:v>Chiclayo–Lima</c:v>
                  </c:pt>
                  <c:pt idx="14">
                    <c:v>Piura–Lima</c:v>
                  </c:pt>
                  <c:pt idx="15">
                    <c:v>Lima–Ayacucho</c:v>
                  </c:pt>
                  <c:pt idx="16">
                    <c:v>Trujillo–Lima</c:v>
                  </c:pt>
                  <c:pt idx="17">
                    <c:v>Cusco–Lima</c:v>
                  </c:pt>
                  <c:pt idx="18">
                    <c:v>Lima–Abancay</c:v>
                  </c:pt>
                  <c:pt idx="19">
                    <c:v>Lima–Nasca</c:v>
                  </c:pt>
                  <c:pt idx="20">
                    <c:v>Lima–Trujillo</c:v>
                  </c:pt>
                  <c:pt idx="21">
                    <c:v>Arequipa–Lima</c:v>
                  </c:pt>
                  <c:pt idx="22">
                    <c:v>Lima–Marcona</c:v>
                  </c:pt>
                  <c:pt idx="23">
                    <c:v>Lima–Pacasmayo</c:v>
                  </c:pt>
                  <c:pt idx="24">
                    <c:v>Lima–Chimbote</c:v>
                  </c:pt>
                  <c:pt idx="25">
                    <c:v>Abancay–Lima</c:v>
                  </c:pt>
                  <c:pt idx="26">
                    <c:v>Lima–Ica</c:v>
                  </c:pt>
                  <c:pt idx="27">
                    <c:v>Lima–Paracas</c:v>
                  </c:pt>
                  <c:pt idx="28">
                    <c:v>Ica–Lima</c:v>
                  </c:pt>
                </c:lvl>
              </c:multiLvlStrCache>
            </c:multiLvlStrRef>
          </c:cat>
          <c:val>
            <c:numRef>
              <c:f>Sheet1!$D$2:$D$30</c:f>
              <c:numCache>
                <c:formatCode>General</c:formatCode>
                <c:ptCount val="2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1.043</c:v>
                </c:pt>
                <c:pt idx="18">
                  <c:v>0</c:v>
                </c:pt>
                <c:pt idx="19">
                  <c:v>0</c:v>
                </c:pt>
                <c:pt idx="20">
                  <c:v>0</c:v>
                </c:pt>
                <c:pt idx="21">
                  <c:v>1.072</c:v>
                </c:pt>
                <c:pt idx="22">
                  <c:v>1.089</c:v>
                </c:pt>
                <c:pt idx="23">
                  <c:v>0</c:v>
                </c:pt>
                <c:pt idx="24">
                  <c:v>1.109</c:v>
                </c:pt>
                <c:pt idx="25">
                  <c:v>1.112</c:v>
                </c:pt>
                <c:pt idx="26">
                  <c:v>0</c:v>
                </c:pt>
                <c:pt idx="27">
                  <c:v>1.278</c:v>
                </c:pt>
                <c:pt idx="28">
                  <c:v>1.283</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3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7534E"/>
                </a:solidFill>
                <a:latin typeface="+mn-lt"/>
              </a:defRPr>
            </a:pPr>
            <a:endParaRPr lang="en-US"/>
          </a:p>
        </c:txPr>
        <c:crossAx val="2094734552"/>
        <c:crosses val="autoZero"/>
        <c:auto val="1"/>
        <c:lblAlgn val="ctr"/>
        <c:noMultiLvlLbl val="1"/>
      </c:catAx>
      <c:valAx>
        <c:axId val="2094734552"/>
        <c:scaling>
          <c:orientation val="minMax"/>
          <c:max val="1.4"/>
          <c:min val="0"/>
        </c:scaling>
        <c:delete val="0"/>
        <c:axPos val="b"/>
        <c:majorGridlines>
          <c:spPr>
            <a:ln w="9525" cap="flat">
              <a:solidFill>
                <a:srgbClr val="E7E5E4"/>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78716C"/>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100">
              <a:solidFill>
                <a:srgbClr val="57534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1917"/>
                </a:solidFill>
                <a:latin typeface="+mj-lt"/>
              </a:defRPr>
            </a:pPr>
            <a:r>
              <a:rPr sz="1300" b="0" i="0" u="none" strike="noStrike">
                <a:solidFill>
                  <a:srgbClr val="1C1917"/>
                </a:solidFill>
                <a:latin typeface="+mj-lt"/>
              </a:rPr>
              <a:t>Consultas de 40 que se quedarían sin ningún viaje, según el presupuesto por persona</a:t>
            </a:r>
          </a:p>
        </c:rich>
      </c:tx>
      <c:layout/>
      <c:overlay val="0"/>
    </c:title>
    <c:autoTitleDeleted val="0"/>
    <c:plotArea>
      <c:layout/>
      <c:barChart>
        <c:barDir val="col"/>
        <c:grouping val="clustered"/>
        <c:varyColors val="0"/>
        <c:ser>
          <c:idx val="0"/>
          <c:order val="0"/>
          <c:tx>
            <c:strRef>
              <c:f>Sheet1!$B$1</c:f>
              <c:strCache>
                <c:ptCount val="1"/>
                <c:pt idx="0">
                  <c:v>Filtro con el P50</c:v>
                </c:pt>
              </c:strCache>
            </c:strRef>
          </c:tx>
          <c:spPr>
            <a:solidFill>
              <a:srgbClr val="D6D3D1"/>
            </a:solidFill>
            <a:effectLst/>
          </c:spPr>
          <c:invertIfNegative val="0"/>
          <c:dLbls>
            <c:numFmt formatCode="#,##0" sourceLinked="0"/>
            <c:txPr>
              <a:bodyPr/>
              <a:lstStyle/>
              <a:p>
                <a:pPr>
                  <a:defRPr b="0" i="0" strike="noStrike" sz="1300" u="none">
                    <a:solidFill>
                      <a:srgbClr val="1C1917"/>
                    </a:solidFill>
                    <a:latin typeface="+mn-lt"/>
                  </a:defRPr>
                </a:pPr>
              </a:p>
            </c:txPr>
            <c:showLegendKey val="0"/>
            <c:showVal val="1"/>
            <c:showCatName val="0"/>
            <c:showSerName val="0"/>
            <c:showPercent val="0"/>
            <c:showBubbleSize val="0"/>
            <c:showLeaderLines val="0"/>
          </c:dLbls>
          <c:cat>
            <c:multiLvlStrRef>
              <c:f>Sheet1!$A$2:$A$5</c:f>
              <c:multiLvlStrCache>
                <c:ptCount val="4"/>
                <c:lvl>
                  <c:pt idx="0">
                    <c:v>S/ 500</c:v>
                  </c:pt>
                  <c:pt idx="1">
                    <c:v>S/ 800</c:v>
                  </c:pt>
                  <c:pt idx="2">
                    <c:v>S/ 1 200</c:v>
                  </c:pt>
                  <c:pt idx="3">
                    <c:v>S/ 2 000</c:v>
                  </c:pt>
                </c:lvl>
              </c:multiLvlStrCache>
            </c:multiLvlStrRef>
          </c:cat>
          <c:val>
            <c:numRef>
              <c:f>Sheet1!$B$2:$B$5</c:f>
              <c:numCache>
                <c:formatCode>General</c:formatCode>
                <c:ptCount val="4"/>
                <c:pt idx="0">
                  <c:v>27</c:v>
                </c:pt>
                <c:pt idx="1">
                  <c:v>13</c:v>
                </c:pt>
                <c:pt idx="2">
                  <c:v>3</c:v>
                </c:pt>
                <c:pt idx="3">
                  <c:v>0</c:v>
                </c:pt>
              </c:numCache>
            </c:numRef>
          </c:val>
        </c:ser>
        <c:ser>
          <c:idx val="1"/>
          <c:order val="1"/>
          <c:tx>
            <c:strRef>
              <c:f>Sheet1!$C$1</c:f>
              <c:strCache>
                <c:ptCount val="1"/>
                <c:pt idx="0">
                  <c:v>Filtro con el P80</c:v>
                </c:pt>
              </c:strCache>
            </c:strRef>
          </c:tx>
          <c:spPr>
            <a:solidFill>
              <a:srgbClr val="C2410C"/>
            </a:solidFill>
            <a:effectLst/>
          </c:spPr>
          <c:invertIfNegative val="0"/>
          <c:dLbls>
            <c:numFmt formatCode="#,##0" sourceLinked="0"/>
            <c:txPr>
              <a:bodyPr/>
              <a:lstStyle/>
              <a:p>
                <a:pPr>
                  <a:defRPr b="0" i="0" strike="noStrike" sz="1300" u="none">
                    <a:solidFill>
                      <a:srgbClr val="1C1917"/>
                    </a:solidFill>
                    <a:latin typeface="+mn-lt"/>
                  </a:defRPr>
                </a:pPr>
              </a:p>
            </c:txPr>
            <c:showLegendKey val="0"/>
            <c:showVal val="1"/>
            <c:showCatName val="0"/>
            <c:showSerName val="0"/>
            <c:showPercent val="0"/>
            <c:showBubbleSize val="0"/>
            <c:showLeaderLines val="0"/>
          </c:dLbls>
          <c:cat>
            <c:multiLvlStrRef>
              <c:f>Sheet1!$A$2:$A$5</c:f>
              <c:multiLvlStrCache>
                <c:ptCount val="4"/>
                <c:lvl>
                  <c:pt idx="0">
                    <c:v>S/ 500</c:v>
                  </c:pt>
                  <c:pt idx="1">
                    <c:v>S/ 800</c:v>
                  </c:pt>
                  <c:pt idx="2">
                    <c:v>S/ 1 200</c:v>
                  </c:pt>
                  <c:pt idx="3">
                    <c:v>S/ 2 000</c:v>
                  </c:pt>
                </c:lvl>
              </c:multiLvlStrCache>
            </c:multiLvlStrRef>
          </c:cat>
          <c:val>
            <c:numRef>
              <c:f>Sheet1!$C$2:$C$5</c:f>
              <c:numCache>
                <c:formatCode>General</c:formatCode>
                <c:ptCount val="4"/>
                <c:pt idx="0">
                  <c:v>34</c:v>
                </c:pt>
                <c:pt idx="1">
                  <c:v>18</c:v>
                </c:pt>
                <c:pt idx="2">
                  <c:v>6</c:v>
                </c:pt>
                <c:pt idx="3">
                  <c:v>1</c:v>
                </c:pt>
              </c:numCache>
            </c:numRef>
          </c:val>
        </c:ser>
        <c:dLbls>
          <c:numFmt formatCode="#,##0" sourceLinked="0"/>
          <c:txPr>
            <a:bodyPr/>
            <a:lstStyle/>
            <a:p>
              <a:pPr>
                <a:defRPr b="0" i="0" strike="noStrike" sz="1300" u="none">
                  <a:solidFill>
                    <a:srgbClr val="1C191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7534E"/>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9525" cap="flat">
              <a:solidFill>
                <a:srgbClr val="E7E5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8716C"/>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57534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abre. En la semana 10 mostramos que el prototipo funciona de punta a punta. Hoy la pregunta es otra: cuánto se aleja lo que propone de lo mejor posible y de la realidad, y qué falla. Lo medimos contra una guía de viajes, con una búsqueda exacta, con los tiempos de una empresa de buses, con las horas de la red vial y con las garantías del contrato. Y cerramos con el plan de las tres semanas que quedan.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Cada uno defiende su parte, como en el plan del proyecto. Las cifras de esta presentación salen de scripts del repositorio, y el informe dice el comando de cada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Christopher. El frontend nuevo es del 25 de octubre: el carrusel del inicio, los estilos y el botón del tema. El 26 corregimos lo que encontró la revisión: el carrusel tapaba el formulario en un celular, el rojo de la marca era el mismo de los avisos críticos y en oscuro no tenía contraste, y la tarjeta de Huaraz decía 8 h 06 mientras la nota del día decía 8 h 07. Las nueve pantallas pasan ahora el analizador de accesibilidad en claro y en oscuro.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Christopher. Es la consulta 2 de la evaluación, una de las 40. Dos amigas de Lima, tres días de agosto contando la ida y la vuelta, quieren caminar en la sierra y pueden gastar 900 soles cada una. La app propone Huaraz, Huacho y Oxapampa. Huaraz va primero: 622 soles, bus de noche de 8 horas y 8 minutos, buen clima en agosto y hasta 4 453 metros. Por qué les va a gustar: el Parque Nacional Huascarán, las quebradas Quilcayhuanca y Ulta y el museo de Áncash; y en esas fechas cae la fiesta de San Roque en Mancos.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Christopher. El bus llega a las 5:55 y el día 1 empieza a las 9:07: medio día de visitas, sin subir más de 500 metros sobre Huaraz, como recomienda el CDC. El día 2 es el de caminar, con el almuerzo a la 1:35 y el aviso de llevarlo, porque no hay dónde comer registrado cerca. El costo central es 622 soles, en una banda de 538 a 704, y entra en los 900. Para mandárselo a su amiga, comparten el enlace: el enlace es el viaje.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Christopher. El caso también sirve para ver lo que falla. El día 3 mete un rocódromo y una piscigranja de la Dirección Regional de Producción: están en el inventario de MINCETUR con jerarquía 2, y el motor les da valor. La visita a la quebrada es la que dice su ficha, una hora y media; una caminata de verdad toma más. Y la tercera opción, Oxapampa, promete llegar a las 5:50 de la mañana. Diego va a mostrar por qué eso no es así.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Miguel. Lo nuevo desde la semana 10 es la caja de la evaluación: corre sobre el mismo motor y los mismos artefactos que responden al API, así que lo que medimos es lo que está desplegado. Lo demás sigue: el pipeline arma los artefactos con versión, 2,0 MB, que el motor carga al arrancar; la app le pregunta al API; y un municipio publica eventos con su clave. El documento completo está en docs/ARQUITECTURA.md.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Miguel. Los cinco pasos son los de la función resolver: cada zona que cabe, las que se planifican, el puntaje, los tres viajes y cómo se arma cada uno. A la derecha, el flujo del equipo: nada entra a main sin pasar la CI, y al fusionar la app y el API se publican solos. El despliegue en AWS sigue en el plan, para la semana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Seis preguntas, y cada una tiene su vara: la guía es la línea de base para lo que se propone, el óptimo exacto para el plan, Cruz del Sur para los tiempos, la red vial para los grupos, el contrato para cada respuesta y la decisión del P80 para el presupuesto. Las dos primeras las presento yo; Diego presenta el óptimo, los buses y el presupuesto.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Cada métrica responde una de las seis preguntas. Las dos primeras dicen a dónde lleva el motor comparado con una guía; la brecha y la razón contra los buses dicen si el plan es bueno y creíble; el diámetro en horas dice si una zona se puede recorrer desde su base; y las garantías, si cada respuesta cumple lo que promete.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La guía es lo que haría alguien con una guía de viajes: lo más conocido de lo que se pidió. Si el motor propusiera lo mismo, no aportaría. Coinciden en la mitad de las propuestas, y en solo 2 de 40 consultas proponen las mismas tres zonas. El motor reparte menos zonas distintas, pero tres de cada cuatro viajes suyos salen del circuito de Lima y el Cusco, contra poco más de la mitad de la guía. Esto dice a dónde lleva cada uno, no cuál le conviene más a quien pidió el viaje.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TA-01 es el agrupamiento de la semana 6: decide qué lugares van juntos, y los grupos que duermen en el mismo pueblo forman cada zona. La v2 promete que ningún grupo pasa de 3,9 horas de punta a punta, pero lo calculaba con una fórmula de línea recta, porque la red vial llegó después. Con la red, 82 de los 222 grupos pasan de cuatro horas. El motor no se equivoca por eso, porque arma cada día con los tiempos de la red, pero un grupo de nueve horas tiene lugares que no se alcanzan a visitar desde su base. La v3 agrupa con esas horas y con el mismo tope de altura de la v2: ningún grupo pasa de cuatro horas, con el 93 % de las paradas. Cambia las zonas, sus bases y su clima, así que la medimos esta semana y la ponemos en el producto en la semana 14, con una versión nueva de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El planificador usa una heurística: inserción voraz, 2-opt y tres arranques. Para saber cuánto pierde, resolvimos de forma exacta los mismos viajes, con búsqueda exhaustiva y podas que solo cortan lo imposible, usando la misma función de horario del motor; la probamos contra fuerza bruta en instancias chicas. Cuando caben todas las candidatas, no hay nada que mejorar. Donde hay que elegir, la heurística da el óptimo en 27 de 74 y le falta poco en las demás: junta el 99,1 % del valor. Casi siempre lo que pierde es una parada que sí cabía reordenando el día. Eso tiene arreglo: una búsqueda local, en el plan de la semana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La red vial se calibró con 1 780 recorridos de las fichas, pero esos son cortos. Para los largos tomamos las 29 rutas de Cruz del Sur que unen un origen nuestro con una base, con lo que dice la página de cada ruta: entre cuánto y cuánto toma, del servicio más rápido al más lento. Los kilómetros coinciden: la red sigue la carretera. Los tiempos caen en el rango de la empresa en 16 de las 29. En la Carretera Central el motor es demasiado rápido, y eso le cambia la hora de llegada al bus de noche a Oxapampa en más de dos horas. En la costa pasa al revés: a Paracas y de Ica a Lima tarda más que el bus más lento. Corregirlo cambia el motor y los datos: va en el plan de la semana 13, con estas 29 rutas como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En la revisión del 20 de octubre, el profesor armó una copia que deja fuera lo que no cabe, con el P50 o con el P80, y nos preguntó cuál conviene. Lo medimos con el mismo motor en las 40 consultas con cuatro montos por persona. Con 800 soles, un filtro con el P80 deja a 18 de 40 consultas sin nada que mostrar. Decidimos no filtrar y avisar: si el costo central entra pero el escenario caro no, el viaje sale con este aviso. No cambia qué zonas se proponen ni en qué orden, así que todo lo demás que medimos vale igual con él.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La de la playa muestra el supuesto más débil del motor, la escala de valor: un imperdible que no es de lo pedido le gana a lo que sí se pidió. La variante lo corrige en este caso, y en general cambia poco: una zona en 10 de las 40 consultas. La del montañista muestra un hueco del producto: no sirve a quien quiere caminar cerca de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Lo decimos nosotros antes de que nos lo pregunten. Ninguno de estos límites invalida las cifras, pero cada uno dice hasta dónde llegan.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Lo que salió de esta evaluación entra al plan: que la heurística meta la parada que le falta, calibrar los tiempos con los buses, los grupos de la v3 en el producto y el costo con el camino real. Los viajes de varios polos, que pusimos para esta semana, pasan a la semana 14: cambian el motor y el contrato, y esta semana dejamos el motor quieto para medir lo mismo que entregamos.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 todos. Las preguntas de cada parte las responde quien la presentó.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C2410C"/>
          </a:solidFill>
          <a:ln w="12700">
            <a:solidFill>
              <a:srgbClr val="C2410C"/>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64008" cy="420624"/>
          </a:xfrm>
          <a:prstGeom prst="rect">
            <a:avLst/>
          </a:prstGeom>
          <a:solidFill>
            <a:srgbClr val="C2410C"/>
          </a:solidFill>
          <a:ln w="12700">
            <a:solidFill>
              <a:srgbClr val="C2410C"/>
            </a:solidFill>
            <a:prstDash val="solid"/>
          </a:ln>
        </p:spPr>
      </p:sp>
      <p:sp>
        <p:nvSpPr>
          <p:cNvPr id="3" name="Text 1"/>
          <p:cNvSpPr/>
          <p:nvPr>
            <p:ph idx="101" type="title" hasCustomPrompt="1"/>
          </p:nvPr>
        </p:nvSpPr>
        <p:spPr>
          <a:xfrm>
            <a:off x="749808" y="310896"/>
            <a:ext cx="10881360" cy="658368"/>
          </a:xfrm>
          <a:prstGeom prst="rect">
            <a:avLst/>
          </a:prstGeom>
          <a:noFill/>
          <a:ln/>
        </p:spPr>
        <p:txBody>
          <a:bodyPr wrap="square" rtlCol="0"/>
          <a:lstStyle>
            <a:lvl1pPr algn="l" indent="0" marL="0">
              <a:buNone/>
              <a:defRPr lang="en-US" sz="2600" b="1" dirty="0">
                <a:solidFill>
                  <a:srgbClr val="1C1917"/>
                </a:solidFill>
                <a:latin typeface="Lexend" pitchFamily="34" charset="0"/>
                <a:ea typeface="Lexend" pitchFamily="34" charset="-122"/>
                <a:cs typeface="Lexend" pitchFamily="34" charset="-120"/>
              </a:defRPr>
            </a:lvl1pPr>
          </a:lstStyle>
          <a:p>
            <a:pPr algn="l" indent="0" marL="0">
              <a:buNone/>
            </a:pPr>
            <a:endParaRPr lang="en-US" sz="2600" dirty="0"/>
          </a:p>
        </p:txBody>
      </p:sp>
      <p:sp>
        <p:nvSpPr>
          <p:cNvPr id="4" name="Text 1"/>
          <p:cNvSpPr/>
          <p:nvPr>
            <p:ph idx="102" type="body" hasCustomPrompt="1"/>
          </p:nvPr>
        </p:nvSpPr>
        <p:spPr>
          <a:xfrm>
            <a:off x="749808" y="932688"/>
            <a:ext cx="10881360" cy="384048"/>
          </a:xfrm>
          <a:prstGeom prst="rect">
            <a:avLst/>
          </a:prstGeom>
          <a:noFill/>
          <a:ln/>
        </p:spPr>
        <p:txBody>
          <a:bodyPr wrap="square" rtlCol="0"/>
          <a:lstStyle>
            <a:lvl1pPr algn="l" indent="0" marL="0">
              <a:buNone/>
              <a:defRPr lang="en-US" sz="1400" dirty="0">
                <a:solidFill>
                  <a:srgbClr val="57534E"/>
                </a:solidFill>
                <a:latin typeface="Quattrocento Sans" pitchFamily="34" charset="0"/>
                <a:ea typeface="Quattrocento Sans" pitchFamily="34" charset="-122"/>
                <a:cs typeface="Quattrocento Sans" pitchFamily="34" charset="-120"/>
              </a:defRPr>
            </a:lvl1pPr>
          </a:lstStyle>
          <a:p>
            <a:pPr algn="l" indent="0" marL="0">
              <a:buNone/>
            </a:pPr>
            <a:endParaRPr lang="en-US" sz="1400" dirty="0"/>
          </a:p>
        </p:txBody>
      </p:sp>
      <p:sp>
        <p:nvSpPr>
          <p:cNvPr id="5" name="Text 1"/>
          <p:cNvSpPr/>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78716C"/>
                </a:solidFill>
                <a:latin typeface="Quattrocento Sans" pitchFamily="34" charset="0"/>
                <a:ea typeface="Quattrocento Sans" pitchFamily="34" charset="-122"/>
                <a:cs typeface="Quattrocento Sans" pitchFamily="34" charset="-120"/>
              </a:rPr>
              <a:t>DreemGO · Semana 12 · Prototipo refinado, evaluación y casos de estudio · DS3022 UTEC</a:t>
            </a:r>
            <a:endParaRPr lang="en-US" sz="9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CION">
    <p:bg>
      <p:bgPr>
        <a:solidFill>
          <a:srgbClr val="1C191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554480"/>
            <a:ext cx="2743200" cy="914400"/>
          </a:xfrm>
          <a:prstGeom prst="rect">
            <a:avLst/>
          </a:prstGeom>
          <a:noFill/>
          <a:ln/>
        </p:spPr>
        <p:txBody>
          <a:bodyPr wrap="square" rtlCol="0"/>
          <a:lstStyle>
            <a:lvl1pPr algn="l" indent="0" marL="0">
              <a:buNone/>
              <a:defRPr lang="en-US" sz="5400" b="1" dirty="0">
                <a:solidFill>
                  <a:srgbClr val="FB923C"/>
                </a:solidFill>
                <a:latin typeface="Lexend" pitchFamily="34" charset="0"/>
                <a:ea typeface="Lexend" pitchFamily="34" charset="-122"/>
                <a:cs typeface="Lexend" pitchFamily="34" charset="-120"/>
              </a:defRPr>
            </a:lvl1pPr>
          </a:lstStyle>
          <a:p>
            <a:pPr algn="l" indent="0" marL="0">
              <a:buNone/>
            </a:pPr>
            <a:endParaRPr lang="en-US" sz="5400" dirty="0"/>
          </a:p>
        </p:txBody>
      </p:sp>
      <p:sp>
        <p:nvSpPr>
          <p:cNvPr id="3" name="Text 0"/>
          <p:cNvSpPr/>
          <p:nvPr>
            <p:ph idx="101" type="title" hasCustomPrompt="1"/>
          </p:nvPr>
        </p:nvSpPr>
        <p:spPr>
          <a:xfrm>
            <a:off x="822960" y="2514600"/>
            <a:ext cx="10515600" cy="1097280"/>
          </a:xfrm>
          <a:prstGeom prst="rect">
            <a:avLst/>
          </a:prstGeom>
          <a:noFill/>
          <a:ln/>
        </p:spPr>
        <p:txBody>
          <a:bodyPr wrap="square" rtlCol="0"/>
          <a:lstStyle>
            <a:lvl1pPr algn="l" indent="0" marL="0">
              <a:buNone/>
              <a:defRPr lang="en-US" sz="4400" b="1" dirty="0">
                <a:solidFill>
                  <a:srgbClr val="FFFFFF"/>
                </a:solidFill>
                <a:latin typeface="Lexend" pitchFamily="34" charset="0"/>
                <a:ea typeface="Lexend" pitchFamily="34" charset="-122"/>
                <a:cs typeface="Lexend" pitchFamily="34" charset="-120"/>
              </a:defRPr>
            </a:lvl1pPr>
          </a:lstStyle>
          <a:p>
            <a:pPr algn="l" indent="0" marL="0">
              <a:buNone/>
            </a:pPr>
            <a:endParaRPr lang="en-US" sz="4400" dirty="0"/>
          </a:p>
        </p:txBody>
      </p:sp>
      <p:sp>
        <p:nvSpPr>
          <p:cNvPr id="4" name="Text 0"/>
          <p:cNvSpPr/>
          <p:nvPr>
            <p:ph idx="102" type="body" hasCustomPrompt="1"/>
          </p:nvPr>
        </p:nvSpPr>
        <p:spPr>
          <a:xfrm>
            <a:off x="822960" y="3703320"/>
            <a:ext cx="10515600" cy="457200"/>
          </a:xfrm>
          <a:prstGeom prst="rect">
            <a:avLst/>
          </a:prstGeom>
          <a:noFill/>
          <a:ln/>
        </p:spPr>
        <p:txBody>
          <a:bodyPr wrap="square" rtlCol="0"/>
          <a:lstStyle>
            <a:lvl1pPr algn="l" indent="0" marL="0">
              <a:buNone/>
              <a:defRPr lang="en-US" sz="2000" dirty="0">
                <a:solidFill>
                  <a:srgbClr val="E7E5E4"/>
                </a:solidFill>
                <a:latin typeface="Lexend" pitchFamily="34" charset="0"/>
                <a:ea typeface="Lexend" pitchFamily="34" charset="-122"/>
                <a:cs typeface="Lexend" pitchFamily="34" charset="-120"/>
              </a:defRPr>
            </a:lvl1pPr>
          </a:lstStyle>
          <a:p>
            <a:pPr algn="l" indent="0" marL="0">
              <a:buNone/>
            </a:pPr>
            <a:endParaRPr lang="en-US" sz="2000" dirty="0"/>
          </a:p>
        </p:txBody>
      </p:sp>
      <p:sp>
        <p:nvSpPr>
          <p:cNvPr id="5" name="Text 0"/>
          <p:cNvSpPr/>
          <p:nvPr>
            <p:ph idx="103" type="body" hasCustomPrompt="1"/>
          </p:nvPr>
        </p:nvSpPr>
        <p:spPr>
          <a:xfrm>
            <a:off x="822960" y="4206240"/>
            <a:ext cx="10058400" cy="457200"/>
          </a:xfrm>
          <a:prstGeom prst="rect">
            <a:avLst/>
          </a:prstGeom>
          <a:noFill/>
          <a:ln/>
        </p:spPr>
        <p:txBody>
          <a:bodyPr wrap="square" rtlCol="0"/>
          <a:lstStyle>
            <a:lvl1pPr algn="l" indent="0" marL="0">
              <a:buNone/>
              <a:defRPr lang="en-US" sz="1600" dirty="0">
                <a:solidFill>
                  <a:srgbClr val="A8A29E"/>
                </a:solidFill>
                <a:latin typeface="Quattrocento Sans" pitchFamily="34" charset="0"/>
                <a:ea typeface="Quattrocento Sans" pitchFamily="34" charset="-122"/>
                <a:cs typeface="Quattrocento Sans" pitchFamily="34" charset="-120"/>
              </a:defRPr>
            </a:lvl1pPr>
          </a:lstStyle>
          <a:p>
            <a:pPr algn="l" indent="0" marL="0">
              <a:buNone/>
            </a:pPr>
            <a:endParaRPr lang="en-US" sz="1600" dirty="0"/>
          </a:p>
        </p:txBody>
      </p:sp>
      <p:sp>
        <p:nvSpPr>
          <p:cNvPr id="6"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900" dirty="0">
                <a:solidFill>
                  <a:srgbClr val="78716C"/>
                </a:solidFill>
                <a:latin typeface="Quattrocento Sans" pitchFamily="34" charset="0"/>
                <a:ea typeface="Quattrocento Sans" pitchFamily="34" charset="-122"/>
                <a:cs typeface="Quattrocento Sans" pitchFamily="34" charset="-120"/>
              </a:rPr>
              <a:t>DreemGO · Semana 12 · Prototipo refinado, evaluación y casos de estudio · DS3022 UTEC</a:t>
            </a:r>
            <a:endParaRPr lang="en-US" sz="9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188720"/>
            <a:ext cx="5486400" cy="320040"/>
          </a:xfrm>
          <a:prstGeom prst="rect">
            <a:avLst/>
          </a:prstGeom>
          <a:noFill/>
          <a:ln/>
        </p:spPr>
        <p:txBody>
          <a:bodyPr wrap="square" lIns="0" tIns="0" rIns="0" bIns="0" rtlCol="0" anchor="t"/>
          <a:lstStyle/>
          <a:p>
            <a:pPr indent="0" marL="0">
              <a:buNone/>
            </a:pPr>
            <a:r>
              <a:rPr lang="en-US" sz="1200" b="1" spc="100" kern="0" dirty="0">
                <a:solidFill>
                  <a:srgbClr val="C2410C"/>
                </a:solidFill>
                <a:latin typeface="Quattrocento Sans" pitchFamily="34" charset="0"/>
                <a:ea typeface="Quattrocento Sans" pitchFamily="34" charset="-122"/>
                <a:cs typeface="Quattrocento Sans" pitchFamily="34" charset="-120"/>
              </a:rPr>
              <a:t>DS3022 · DESARROLLO DE PRODUCTO DE DATOS</a:t>
            </a:r>
            <a:endParaRPr lang="en-US" sz="1200" dirty="0"/>
          </a:p>
        </p:txBody>
      </p:sp>
      <p:sp>
        <p:nvSpPr>
          <p:cNvPr id="3" name="Text 1"/>
          <p:cNvSpPr txBox="1"/>
          <p:nvPr/>
        </p:nvSpPr>
        <p:spPr>
          <a:xfrm>
            <a:off x="731520" y="1600200"/>
            <a:ext cx="5669280" cy="1143000"/>
          </a:xfrm>
          <a:prstGeom prst="rect">
            <a:avLst/>
          </a:prstGeom>
          <a:noFill/>
          <a:ln/>
        </p:spPr>
        <p:txBody>
          <a:bodyPr wrap="square" lIns="0" tIns="0" rIns="0" bIns="0" rtlCol="0" anchor="ctr"/>
          <a:lstStyle/>
          <a:p>
            <a:pPr indent="0" marL="0">
              <a:buNone/>
            </a:pPr>
            <a:r>
              <a:rPr lang="en-US" sz="6600" b="1" dirty="0">
                <a:solidFill>
                  <a:srgbClr val="1C1917"/>
                </a:solidFill>
                <a:latin typeface="Lexend" pitchFamily="34" charset="0"/>
                <a:ea typeface="Lexend" pitchFamily="34" charset="-122"/>
                <a:cs typeface="Lexend" pitchFamily="34" charset="-120"/>
              </a:rPr>
              <a:t>DreemGO</a:t>
            </a:r>
            <a:endParaRPr lang="en-US" sz="6600" dirty="0"/>
          </a:p>
        </p:txBody>
      </p:sp>
      <p:sp>
        <p:nvSpPr>
          <p:cNvPr id="4" name="Text 2"/>
          <p:cNvSpPr txBox="1"/>
          <p:nvPr/>
        </p:nvSpPr>
        <p:spPr>
          <a:xfrm>
            <a:off x="731520" y="2743200"/>
            <a:ext cx="5669280" cy="548640"/>
          </a:xfrm>
          <a:prstGeom prst="rect">
            <a:avLst/>
          </a:prstGeom>
          <a:noFill/>
          <a:ln/>
        </p:spPr>
        <p:txBody>
          <a:bodyPr wrap="square" lIns="0" tIns="0" rIns="0" bIns="0" rtlCol="0" anchor="t"/>
          <a:lstStyle/>
          <a:p>
            <a:pPr indent="0" marL="0">
              <a:buNone/>
            </a:pPr>
            <a:r>
              <a:rPr lang="en-US" sz="2600" dirty="0">
                <a:solidFill>
                  <a:srgbClr val="0D9488"/>
                </a:solidFill>
                <a:latin typeface="Lexend" pitchFamily="34" charset="0"/>
                <a:ea typeface="Lexend" pitchFamily="34" charset="-122"/>
                <a:cs typeface="Lexend" pitchFamily="34" charset="-120"/>
              </a:rPr>
              <a:t>Medido contra lo mejor posible</a:t>
            </a:r>
            <a:endParaRPr lang="en-US" sz="2600" dirty="0"/>
          </a:p>
        </p:txBody>
      </p:sp>
      <p:sp>
        <p:nvSpPr>
          <p:cNvPr id="5" name="Text 3"/>
          <p:cNvSpPr txBox="1"/>
          <p:nvPr/>
        </p:nvSpPr>
        <p:spPr>
          <a:xfrm>
            <a:off x="731520" y="3611880"/>
            <a:ext cx="5669280" cy="1188720"/>
          </a:xfrm>
          <a:prstGeom prst="rect">
            <a:avLst/>
          </a:prstGeom>
          <a:noFill/>
          <a:ln/>
        </p:spPr>
        <p:txBody>
          <a:bodyPr wrap="square" lIns="0" tIns="0" rIns="0" bIns="0" rtlCol="0" anchor="t"/>
          <a:lstStyle/>
          <a:p>
            <a:pPr indent="0" marL="0">
              <a:spcAft>
                <a:spcPts val="600"/>
              </a:spcAft>
              <a:buNone/>
            </a:pPr>
            <a:r>
              <a:rPr lang="en-US" sz="1700" b="1" dirty="0">
                <a:solidFill>
                  <a:srgbClr val="1C1917"/>
                </a:solidFill>
                <a:latin typeface="Quattrocento Sans" pitchFamily="34" charset="0"/>
                <a:ea typeface="Quattrocento Sans" pitchFamily="34" charset="-122"/>
                <a:cs typeface="Quattrocento Sans" pitchFamily="34" charset="-120"/>
              </a:rPr>
              <a:t>Semana 12 · Prototipo refinado, evaluación y casos de estudio</a:t>
            </a:r>
            <a:endParaRPr lang="en-US" sz="1500" dirty="0"/>
          </a:p>
          <a:p>
            <a:pPr indent="0" marL="0">
              <a:spcAft>
                <a:spcPts val="200"/>
              </a:spcAft>
              <a:buNone/>
            </a:pPr>
            <a:r>
              <a:rPr lang="en-US" sz="1500" dirty="0">
                <a:solidFill>
                  <a:srgbClr val="57534E"/>
                </a:solidFill>
                <a:latin typeface="Quattrocento Sans" pitchFamily="34" charset="0"/>
                <a:ea typeface="Quattrocento Sans" pitchFamily="34" charset="-122"/>
                <a:cs typeface="Quattrocento Sans" pitchFamily="34" charset="-120"/>
              </a:rPr>
              <a:t>Universidad de Ingeniería y Tecnología · UTEC</a:t>
            </a:r>
            <a:endParaRPr lang="en-US" sz="1500" dirty="0"/>
          </a:p>
          <a:p>
            <a:pPr indent="0" marL="0">
              <a:buNone/>
            </a:pPr>
            <a:r>
              <a:rPr lang="en-US" sz="1500" dirty="0">
                <a:solidFill>
                  <a:srgbClr val="57534E"/>
                </a:solidFill>
                <a:latin typeface="Quattrocento Sans" pitchFamily="34" charset="0"/>
                <a:ea typeface="Quattrocento Sans" pitchFamily="34" charset="-122"/>
                <a:cs typeface="Quattrocento Sans" pitchFamily="34" charset="-120"/>
              </a:rPr>
              <a:t>Prof. Carlos Abel Dominguez Bautista · Ciclo 2026-2</a:t>
            </a:r>
            <a:endParaRPr lang="en-US" sz="1500" dirty="0"/>
          </a:p>
        </p:txBody>
      </p:sp>
      <p:sp>
        <p:nvSpPr>
          <p:cNvPr id="6" name="Text 4"/>
          <p:cNvSpPr txBox="1"/>
          <p:nvPr/>
        </p:nvSpPr>
        <p:spPr>
          <a:xfrm>
            <a:off x="731520" y="5120640"/>
            <a:ext cx="5669280" cy="731520"/>
          </a:xfrm>
          <a:prstGeom prst="rect">
            <a:avLst/>
          </a:prstGeom>
          <a:noFill/>
          <a:ln/>
        </p:spPr>
        <p:txBody>
          <a:bodyPr wrap="square" lIns="0" tIns="0" rIns="0" bIns="0" rtlCol="0" anchor="t"/>
          <a:lstStyle/>
          <a:p>
            <a:pPr indent="0" marL="0">
              <a:spcAft>
                <a:spcPts val="400"/>
              </a:spcAft>
              <a:buNone/>
            </a:pPr>
            <a:r>
              <a:rPr lang="en-US" sz="1600" b="1" dirty="0">
                <a:solidFill>
                  <a:srgbClr val="1C1917"/>
                </a:solidFill>
                <a:latin typeface="Quattrocento Sans" pitchFamily="34" charset="0"/>
                <a:ea typeface="Quattrocento Sans" pitchFamily="34" charset="-122"/>
                <a:cs typeface="Quattrocento Sans" pitchFamily="34" charset="-120"/>
              </a:rPr>
              <a:t>Miguel · Alejandro · Diego · Christopher</a:t>
            </a:r>
            <a:endParaRPr lang="en-US" sz="1600" dirty="0"/>
          </a:p>
          <a:p>
            <a:pPr indent="0" marL="0">
              <a:buNone/>
            </a:pPr>
            <a:r>
              <a:rPr lang="en-US" sz="1400" dirty="0">
                <a:solidFill>
                  <a:srgbClr val="78716C"/>
                </a:solidFill>
                <a:latin typeface="Quattrocento Sans" pitchFamily="34" charset="0"/>
                <a:ea typeface="Quattrocento Sans" pitchFamily="34" charset="-122"/>
                <a:cs typeface="Quattrocento Sans" pitchFamily="34" charset="-120"/>
              </a:rPr>
              <a:t>28 de octubre de 2026</a:t>
            </a:r>
            <a:endParaRPr lang="en-US" sz="1600" dirty="0"/>
          </a:p>
        </p:txBody>
      </p:sp>
      <p:sp>
        <p:nvSpPr>
          <p:cNvPr id="7" name="fondo de las capturas"/>
          <p:cNvSpPr/>
          <p:nvPr/>
        </p:nvSpPr>
        <p:spPr>
          <a:xfrm>
            <a:off x="6720840" y="128016"/>
            <a:ext cx="5470855" cy="6729984"/>
          </a:xfrm>
          <a:prstGeom prst="rect">
            <a:avLst/>
          </a:prstGeom>
          <a:solidFill>
            <a:srgbClr val="F5F5F4"/>
          </a:solidFill>
          <a:ln w="12700">
            <a:solidFill>
              <a:srgbClr val="F5F5F4"/>
            </a:solidFill>
            <a:prstDash val="solid"/>
          </a:ln>
        </p:spPr>
      </p:sp>
      <p:pic>
        <p:nvPicPr>
          <p:cNvPr id="8" name="caso_3_huaraz.png" descr="El viaje a Huaraz de la consulta 2, en el celular">    </p:cNvPr>
          <p:cNvPicPr>
            <a:picLocks noChangeAspect="1"/>
          </p:cNvPicPr>
          <p:nvPr/>
        </p:nvPicPr>
        <p:blipFill>
          <a:blip r:embed="rId1"/>
          <a:stretch>
            <a:fillRect/>
          </a:stretch>
        </p:blipFill>
        <p:spPr>
          <a:xfrm>
            <a:off x="9281160" y="960120"/>
            <a:ext cx="2345046" cy="5074920"/>
          </a:xfrm>
          <a:prstGeom prst="rect">
            <a:avLst/>
          </a:prstGeom>
        </p:spPr>
      </p:pic>
      <p:pic>
        <p:nvPicPr>
          <p:cNvPr id="9" name="caso_2_tres_viajes.png" descr="Tres viajes para dos amigas de Lima que quieren caminar en agosto">    </p:cNvPr>
          <p:cNvPicPr>
            <a:picLocks noChangeAspect="1"/>
          </p:cNvPicPr>
          <p:nvPr/>
        </p:nvPicPr>
        <p:blipFill>
          <a:blip r:embed="rId2"/>
          <a:stretch>
            <a:fillRect/>
          </a:stretch>
        </p:blipFill>
        <p:spPr>
          <a:xfrm>
            <a:off x="7086600" y="548640"/>
            <a:ext cx="2556311" cy="5532120"/>
          </a:xfrm>
          <a:prstGeom prst="rect">
            <a:avLst/>
          </a:prstGeom>
        </p:spPr>
      </p:pic>
      <p:sp>
        <p:nvSpPr>
          <p:cNvPr id="10" name="Text 6"/>
          <p:cNvSpPr txBox="1"/>
          <p:nvPr/>
        </p:nvSpPr>
        <p:spPr>
          <a:xfrm>
            <a:off x="7086600" y="6263640"/>
            <a:ext cx="4754880" cy="274320"/>
          </a:xfrm>
          <a:prstGeom prst="rect">
            <a:avLst/>
          </a:prstGeom>
          <a:noFill/>
          <a:ln/>
        </p:spPr>
        <p:txBody>
          <a:bodyPr wrap="square" lIns="0" tIns="0" rIns="0" bIns="0" rtlCol="0" anchor="t"/>
          <a:lstStyle/>
          <a:p>
            <a:pPr indent="0" marL="0">
              <a:buNone/>
            </a:pPr>
            <a:r>
              <a:rPr lang="en-US" sz="1100" dirty="0">
                <a:solidFill>
                  <a:srgbClr val="78716C"/>
                </a:solidFill>
                <a:latin typeface="Quattrocento Sans" pitchFamily="34" charset="0"/>
                <a:ea typeface="Quattrocento Sans" pitchFamily="34" charset="-122"/>
                <a:cs typeface="Quattrocento Sans" pitchFamily="34" charset="-120"/>
              </a:rPr>
              <a:t>La app con el código de esta entrega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Lo que traemos hoy</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Cuatro partes, y quién las presenta</a:t>
            </a:r>
            <a:endParaRPr lang="en-US" sz="1400" dirty="0"/>
          </a:p>
        </p:txBody>
      </p:sp>
      <p:sp>
        <p:nvSpPr>
          <p:cNvPr id="4" name="parte 1"/>
          <p:cNvSpPr/>
          <p:nvPr/>
        </p:nvSpPr>
        <p:spPr>
          <a:xfrm>
            <a:off x="548640" y="1600200"/>
            <a:ext cx="2551176" cy="3749040"/>
          </a:xfrm>
          <a:prstGeom prst="roundRect">
            <a:avLst>
              <a:gd name="adj" fmla="val 4301"/>
            </a:avLst>
          </a:prstGeom>
          <a:solidFill>
            <a:srgbClr val="FAFAF9"/>
          </a:solidFill>
          <a:ln w="12700">
            <a:solidFill>
              <a:srgbClr val="E7E5E4"/>
            </a:solidFill>
            <a:prstDash val="solid"/>
          </a:ln>
        </p:spPr>
      </p:sp>
      <p:sp>
        <p:nvSpPr>
          <p:cNvPr id="5" name="Text 3"/>
          <p:cNvSpPr txBox="1"/>
          <p:nvPr/>
        </p:nvSpPr>
        <p:spPr>
          <a:xfrm>
            <a:off x="822960" y="1828800"/>
            <a:ext cx="914400" cy="685800"/>
          </a:xfrm>
          <a:prstGeom prst="rect">
            <a:avLst/>
          </a:prstGeom>
          <a:noFill/>
          <a:ln/>
        </p:spPr>
        <p:txBody>
          <a:bodyPr wrap="square" lIns="0" tIns="0" rIns="0" bIns="0" rtlCol="0" anchor="t"/>
          <a:lstStyle/>
          <a:p>
            <a:pPr indent="0" marL="0">
              <a:buNone/>
            </a:pPr>
            <a:r>
              <a:rPr lang="en-US" sz="3600" b="1" dirty="0">
                <a:solidFill>
                  <a:srgbClr val="C2410C"/>
                </a:solidFill>
                <a:latin typeface="Lexend" pitchFamily="34" charset="0"/>
                <a:ea typeface="Lexend" pitchFamily="34" charset="-122"/>
                <a:cs typeface="Lexend" pitchFamily="34" charset="-120"/>
              </a:rPr>
              <a:t>1</a:t>
            </a:r>
            <a:endParaRPr lang="en-US" sz="3600" dirty="0"/>
          </a:p>
        </p:txBody>
      </p:sp>
      <p:sp>
        <p:nvSpPr>
          <p:cNvPr id="6" name="Text 4"/>
          <p:cNvSpPr txBox="1"/>
          <p:nvPr/>
        </p:nvSpPr>
        <p:spPr>
          <a:xfrm>
            <a:off x="822960" y="2606040"/>
            <a:ext cx="2057400" cy="822960"/>
          </a:xfrm>
          <a:prstGeom prst="rect">
            <a:avLst/>
          </a:prstGeom>
          <a:noFill/>
          <a:ln/>
        </p:spPr>
        <p:txBody>
          <a:bodyPr wrap="square" lIns="0" tIns="0" rIns="0" bIns="0" rtlCol="0" anchor="t"/>
          <a:lstStyle/>
          <a:p>
            <a:pPr indent="0" marL="0">
              <a:buNone/>
            </a:pPr>
            <a:r>
              <a:rPr lang="en-US" sz="1900" b="1" dirty="0">
                <a:solidFill>
                  <a:srgbClr val="1C1917"/>
                </a:solidFill>
                <a:latin typeface="Lexend" pitchFamily="34" charset="0"/>
                <a:ea typeface="Lexend" pitchFamily="34" charset="-122"/>
                <a:cs typeface="Lexend" pitchFamily="34" charset="-120"/>
              </a:rPr>
              <a:t>El prototipo refinado</a:t>
            </a:r>
            <a:endParaRPr lang="en-US" sz="1900" dirty="0"/>
          </a:p>
        </p:txBody>
      </p:sp>
      <p:sp>
        <p:nvSpPr>
          <p:cNvPr id="7" name="Text 5"/>
          <p:cNvSpPr txBox="1"/>
          <p:nvPr/>
        </p:nvSpPr>
        <p:spPr>
          <a:xfrm>
            <a:off x="822960" y="3520440"/>
            <a:ext cx="2057400" cy="1234440"/>
          </a:xfrm>
          <a:prstGeom prst="rect">
            <a:avLst/>
          </a:prstGeom>
          <a:noFill/>
          <a:ln/>
        </p:spPr>
        <p:txBody>
          <a:bodyPr wrap="square" lIns="0" tIns="0" rIns="0" bIns="0" rtlCol="0" anchor="t"/>
          <a:lstStyle/>
          <a:p>
            <a:pPr indent="0" marL="0">
              <a:buNone/>
            </a:pPr>
            <a:r>
              <a:rPr lang="en-US" sz="1350" dirty="0">
                <a:solidFill>
                  <a:srgbClr val="57534E"/>
                </a:solidFill>
                <a:latin typeface="Quattrocento Sans" pitchFamily="34" charset="0"/>
                <a:ea typeface="Quattrocento Sans" pitchFamily="34" charset="-122"/>
                <a:cs typeface="Quattrocento Sans" pitchFamily="34" charset="-120"/>
              </a:rPr>
              <a:t>El frontend nuevo, lo que se corrigió y el caso de las dos amigas que quieren caminar en la sierra</a:t>
            </a:r>
            <a:endParaRPr lang="en-US" sz="1350" dirty="0"/>
          </a:p>
        </p:txBody>
      </p:sp>
      <p:sp>
        <p:nvSpPr>
          <p:cNvPr id="8" name="Text 6"/>
          <p:cNvSpPr txBox="1"/>
          <p:nvPr/>
        </p:nvSpPr>
        <p:spPr>
          <a:xfrm>
            <a:off x="822960" y="4846320"/>
            <a:ext cx="2057400" cy="365760"/>
          </a:xfrm>
          <a:prstGeom prst="rect">
            <a:avLst/>
          </a:prstGeom>
          <a:noFill/>
          <a:ln/>
        </p:spPr>
        <p:txBody>
          <a:bodyPr wrap="square" lIns="0" tIns="0" rIns="0" bIns="0" rtlCol="0" anchor="t"/>
          <a:lstStyle/>
          <a:p>
            <a:pPr indent="0" marL="0">
              <a:buNone/>
            </a:pPr>
            <a:r>
              <a:rPr lang="en-US" sz="1500" dirty="0">
                <a:solidFill>
                  <a:srgbClr val="0D9488"/>
                </a:solidFill>
                <a:latin typeface="Lexend" pitchFamily="34" charset="0"/>
                <a:ea typeface="Lexend" pitchFamily="34" charset="-122"/>
                <a:cs typeface="Lexend" pitchFamily="34" charset="-120"/>
              </a:rPr>
              <a:t>Christopher</a:t>
            </a:r>
            <a:endParaRPr lang="en-US" sz="1500" dirty="0"/>
          </a:p>
        </p:txBody>
      </p:sp>
      <p:sp>
        <p:nvSpPr>
          <p:cNvPr id="9" name="parte 2"/>
          <p:cNvSpPr/>
          <p:nvPr/>
        </p:nvSpPr>
        <p:spPr>
          <a:xfrm>
            <a:off x="3328416" y="1600200"/>
            <a:ext cx="2551176" cy="3749040"/>
          </a:xfrm>
          <a:prstGeom prst="roundRect">
            <a:avLst>
              <a:gd name="adj" fmla="val 4301"/>
            </a:avLst>
          </a:prstGeom>
          <a:solidFill>
            <a:srgbClr val="FAFAF9"/>
          </a:solidFill>
          <a:ln w="12700">
            <a:solidFill>
              <a:srgbClr val="E7E5E4"/>
            </a:solidFill>
            <a:prstDash val="solid"/>
          </a:ln>
        </p:spPr>
      </p:sp>
      <p:sp>
        <p:nvSpPr>
          <p:cNvPr id="10" name="Text 8"/>
          <p:cNvSpPr txBox="1"/>
          <p:nvPr/>
        </p:nvSpPr>
        <p:spPr>
          <a:xfrm>
            <a:off x="3602736" y="1828800"/>
            <a:ext cx="914400" cy="685800"/>
          </a:xfrm>
          <a:prstGeom prst="rect">
            <a:avLst/>
          </a:prstGeom>
          <a:noFill/>
          <a:ln/>
        </p:spPr>
        <p:txBody>
          <a:bodyPr wrap="square" lIns="0" tIns="0" rIns="0" bIns="0" rtlCol="0" anchor="t"/>
          <a:lstStyle/>
          <a:p>
            <a:pPr indent="0" marL="0">
              <a:buNone/>
            </a:pPr>
            <a:r>
              <a:rPr lang="en-US" sz="3600" b="1" dirty="0">
                <a:solidFill>
                  <a:srgbClr val="C2410C"/>
                </a:solidFill>
                <a:latin typeface="Lexend" pitchFamily="34" charset="0"/>
                <a:ea typeface="Lexend" pitchFamily="34" charset="-122"/>
                <a:cs typeface="Lexend" pitchFamily="34" charset="-120"/>
              </a:rPr>
              <a:t>2</a:t>
            </a:r>
            <a:endParaRPr lang="en-US" sz="3600" dirty="0"/>
          </a:p>
        </p:txBody>
      </p:sp>
      <p:sp>
        <p:nvSpPr>
          <p:cNvPr id="11" name="Text 9"/>
          <p:cNvSpPr txBox="1"/>
          <p:nvPr/>
        </p:nvSpPr>
        <p:spPr>
          <a:xfrm>
            <a:off x="3602736" y="2606040"/>
            <a:ext cx="2057400" cy="822960"/>
          </a:xfrm>
          <a:prstGeom prst="rect">
            <a:avLst/>
          </a:prstGeom>
          <a:noFill/>
          <a:ln/>
        </p:spPr>
        <p:txBody>
          <a:bodyPr wrap="square" lIns="0" tIns="0" rIns="0" bIns="0" rtlCol="0" anchor="t"/>
          <a:lstStyle/>
          <a:p>
            <a:pPr indent="0" marL="0">
              <a:buNone/>
            </a:pPr>
            <a:r>
              <a:rPr lang="en-US" sz="1900" b="1" dirty="0">
                <a:solidFill>
                  <a:srgbClr val="1C1917"/>
                </a:solidFill>
                <a:latin typeface="Lexend" pitchFamily="34" charset="0"/>
                <a:ea typeface="Lexend" pitchFamily="34" charset="-122"/>
                <a:cs typeface="Lexend" pitchFamily="34" charset="-120"/>
              </a:rPr>
              <a:t>Arquitectura y flujo</a:t>
            </a:r>
            <a:endParaRPr lang="en-US" sz="1900" dirty="0"/>
          </a:p>
        </p:txBody>
      </p:sp>
      <p:sp>
        <p:nvSpPr>
          <p:cNvPr id="12" name="Text 10"/>
          <p:cNvSpPr txBox="1"/>
          <p:nvPr/>
        </p:nvSpPr>
        <p:spPr>
          <a:xfrm>
            <a:off x="3602736" y="3520440"/>
            <a:ext cx="2057400" cy="1234440"/>
          </a:xfrm>
          <a:prstGeom prst="rect">
            <a:avLst/>
          </a:prstGeom>
          <a:noFill/>
          <a:ln/>
        </p:spPr>
        <p:txBody>
          <a:bodyPr wrap="square" lIns="0" tIns="0" rIns="0" bIns="0" rtlCol="0" anchor="t"/>
          <a:lstStyle/>
          <a:p>
            <a:pPr indent="0" marL="0">
              <a:buNone/>
            </a:pPr>
            <a:r>
              <a:rPr lang="en-US" sz="1350" dirty="0">
                <a:solidFill>
                  <a:srgbClr val="57534E"/>
                </a:solidFill>
                <a:latin typeface="Quattrocento Sans" pitchFamily="34" charset="0"/>
                <a:ea typeface="Quattrocento Sans" pitchFamily="34" charset="-122"/>
                <a:cs typeface="Quattrocento Sans" pitchFamily="34" charset="-120"/>
              </a:rPr>
              <a:t>Qué pieza corre dónde, cómo viaja una consulta y cómo trabaja el equipo</a:t>
            </a:r>
            <a:endParaRPr lang="en-US" sz="1350" dirty="0"/>
          </a:p>
        </p:txBody>
      </p:sp>
      <p:sp>
        <p:nvSpPr>
          <p:cNvPr id="13" name="Text 11"/>
          <p:cNvSpPr txBox="1"/>
          <p:nvPr/>
        </p:nvSpPr>
        <p:spPr>
          <a:xfrm>
            <a:off x="3602736" y="4846320"/>
            <a:ext cx="2057400" cy="365760"/>
          </a:xfrm>
          <a:prstGeom prst="rect">
            <a:avLst/>
          </a:prstGeom>
          <a:noFill/>
          <a:ln/>
        </p:spPr>
        <p:txBody>
          <a:bodyPr wrap="square" lIns="0" tIns="0" rIns="0" bIns="0" rtlCol="0" anchor="t"/>
          <a:lstStyle/>
          <a:p>
            <a:pPr indent="0" marL="0">
              <a:buNone/>
            </a:pPr>
            <a:r>
              <a:rPr lang="en-US" sz="1500" dirty="0">
                <a:solidFill>
                  <a:srgbClr val="0D9488"/>
                </a:solidFill>
                <a:latin typeface="Lexend" pitchFamily="34" charset="0"/>
                <a:ea typeface="Lexend" pitchFamily="34" charset="-122"/>
                <a:cs typeface="Lexend" pitchFamily="34" charset="-120"/>
              </a:rPr>
              <a:t>Miguel</a:t>
            </a:r>
            <a:endParaRPr lang="en-US" sz="1500" dirty="0"/>
          </a:p>
        </p:txBody>
      </p:sp>
      <p:sp>
        <p:nvSpPr>
          <p:cNvPr id="14" name="parte 3"/>
          <p:cNvSpPr/>
          <p:nvPr/>
        </p:nvSpPr>
        <p:spPr>
          <a:xfrm>
            <a:off x="6108192" y="1600200"/>
            <a:ext cx="2551176" cy="3749040"/>
          </a:xfrm>
          <a:prstGeom prst="roundRect">
            <a:avLst>
              <a:gd name="adj" fmla="val 4301"/>
            </a:avLst>
          </a:prstGeom>
          <a:solidFill>
            <a:srgbClr val="FAFAF9"/>
          </a:solidFill>
          <a:ln w="12700">
            <a:solidFill>
              <a:srgbClr val="E7E5E4"/>
            </a:solidFill>
            <a:prstDash val="solid"/>
          </a:ln>
        </p:spPr>
      </p:sp>
      <p:sp>
        <p:nvSpPr>
          <p:cNvPr id="15" name="Text 13"/>
          <p:cNvSpPr txBox="1"/>
          <p:nvPr/>
        </p:nvSpPr>
        <p:spPr>
          <a:xfrm>
            <a:off x="6382512" y="1828800"/>
            <a:ext cx="914400" cy="685800"/>
          </a:xfrm>
          <a:prstGeom prst="rect">
            <a:avLst/>
          </a:prstGeom>
          <a:noFill/>
          <a:ln/>
        </p:spPr>
        <p:txBody>
          <a:bodyPr wrap="square" lIns="0" tIns="0" rIns="0" bIns="0" rtlCol="0" anchor="t"/>
          <a:lstStyle/>
          <a:p>
            <a:pPr indent="0" marL="0">
              <a:buNone/>
            </a:pPr>
            <a:r>
              <a:rPr lang="en-US" sz="3600" b="1" dirty="0">
                <a:solidFill>
                  <a:srgbClr val="C2410C"/>
                </a:solidFill>
                <a:latin typeface="Lexend" pitchFamily="34" charset="0"/>
                <a:ea typeface="Lexend" pitchFamily="34" charset="-122"/>
                <a:cs typeface="Lexend" pitchFamily="34" charset="-120"/>
              </a:rPr>
              <a:t>3</a:t>
            </a:r>
            <a:endParaRPr lang="en-US" sz="3600" dirty="0"/>
          </a:p>
        </p:txBody>
      </p:sp>
      <p:sp>
        <p:nvSpPr>
          <p:cNvPr id="16" name="Text 14"/>
          <p:cNvSpPr txBox="1"/>
          <p:nvPr/>
        </p:nvSpPr>
        <p:spPr>
          <a:xfrm>
            <a:off x="6382512" y="2606040"/>
            <a:ext cx="2057400" cy="822960"/>
          </a:xfrm>
          <a:prstGeom prst="rect">
            <a:avLst/>
          </a:prstGeom>
          <a:noFill/>
          <a:ln/>
        </p:spPr>
        <p:txBody>
          <a:bodyPr wrap="square" lIns="0" tIns="0" rIns="0" bIns="0" rtlCol="0" anchor="t"/>
          <a:lstStyle/>
          <a:p>
            <a:pPr indent="0" marL="0">
              <a:buNone/>
            </a:pPr>
            <a:r>
              <a:rPr lang="en-US" sz="1900" b="1" dirty="0">
                <a:solidFill>
                  <a:srgbClr val="1C1917"/>
                </a:solidFill>
                <a:latin typeface="Lexend" pitchFamily="34" charset="0"/>
                <a:ea typeface="Lexend" pitchFamily="34" charset="-122"/>
                <a:cs typeface="Lexend" pitchFamily="34" charset="-120"/>
              </a:rPr>
              <a:t>Cómo evaluamos y qué salió</a:t>
            </a:r>
            <a:endParaRPr lang="en-US" sz="1900" dirty="0"/>
          </a:p>
        </p:txBody>
      </p:sp>
      <p:sp>
        <p:nvSpPr>
          <p:cNvPr id="17" name="Text 15"/>
          <p:cNvSpPr txBox="1"/>
          <p:nvPr/>
        </p:nvSpPr>
        <p:spPr>
          <a:xfrm>
            <a:off x="6382512" y="3520440"/>
            <a:ext cx="2057400" cy="1234440"/>
          </a:xfrm>
          <a:prstGeom prst="rect">
            <a:avLst/>
          </a:prstGeom>
          <a:noFill/>
          <a:ln/>
        </p:spPr>
        <p:txBody>
          <a:bodyPr wrap="square" lIns="0" tIns="0" rIns="0" bIns="0" rtlCol="0" anchor="t"/>
          <a:lstStyle/>
          <a:p>
            <a:pPr indent="0" marL="0">
              <a:buNone/>
            </a:pPr>
            <a:r>
              <a:rPr lang="en-US" sz="1350" dirty="0">
                <a:solidFill>
                  <a:srgbClr val="57534E"/>
                </a:solidFill>
                <a:latin typeface="Quattrocento Sans" pitchFamily="34" charset="0"/>
                <a:ea typeface="Quattrocento Sans" pitchFamily="34" charset="-122"/>
                <a:cs typeface="Quattrocento Sans" pitchFamily="34" charset="-120"/>
              </a:rPr>
              <a:t>Seis preguntas, el motor frente a una guía y los grupos con las horas de la red</a:t>
            </a:r>
            <a:endParaRPr lang="en-US" sz="1350" dirty="0"/>
          </a:p>
        </p:txBody>
      </p:sp>
      <p:sp>
        <p:nvSpPr>
          <p:cNvPr id="18" name="Text 16"/>
          <p:cNvSpPr txBox="1"/>
          <p:nvPr/>
        </p:nvSpPr>
        <p:spPr>
          <a:xfrm>
            <a:off x="6382512" y="4846320"/>
            <a:ext cx="2057400" cy="365760"/>
          </a:xfrm>
          <a:prstGeom prst="rect">
            <a:avLst/>
          </a:prstGeom>
          <a:noFill/>
          <a:ln/>
        </p:spPr>
        <p:txBody>
          <a:bodyPr wrap="square" lIns="0" tIns="0" rIns="0" bIns="0" rtlCol="0" anchor="t"/>
          <a:lstStyle/>
          <a:p>
            <a:pPr indent="0" marL="0">
              <a:buNone/>
            </a:pPr>
            <a:r>
              <a:rPr lang="en-US" sz="1500" dirty="0">
                <a:solidFill>
                  <a:srgbClr val="0D9488"/>
                </a:solidFill>
                <a:latin typeface="Lexend" pitchFamily="34" charset="0"/>
                <a:ea typeface="Lexend" pitchFamily="34" charset="-122"/>
                <a:cs typeface="Lexend" pitchFamily="34" charset="-120"/>
              </a:rPr>
              <a:t>Alejandro</a:t>
            </a:r>
            <a:endParaRPr lang="en-US" sz="1500" dirty="0"/>
          </a:p>
        </p:txBody>
      </p:sp>
      <p:sp>
        <p:nvSpPr>
          <p:cNvPr id="19" name="parte 4"/>
          <p:cNvSpPr/>
          <p:nvPr/>
        </p:nvSpPr>
        <p:spPr>
          <a:xfrm>
            <a:off x="8887968" y="1600200"/>
            <a:ext cx="2551176" cy="3749040"/>
          </a:xfrm>
          <a:prstGeom prst="roundRect">
            <a:avLst>
              <a:gd name="adj" fmla="val 4301"/>
            </a:avLst>
          </a:prstGeom>
          <a:solidFill>
            <a:srgbClr val="FAFAF9"/>
          </a:solidFill>
          <a:ln w="12700">
            <a:solidFill>
              <a:srgbClr val="E7E5E4"/>
            </a:solidFill>
            <a:prstDash val="solid"/>
          </a:ln>
        </p:spPr>
      </p:sp>
      <p:sp>
        <p:nvSpPr>
          <p:cNvPr id="20" name="Text 18"/>
          <p:cNvSpPr txBox="1"/>
          <p:nvPr/>
        </p:nvSpPr>
        <p:spPr>
          <a:xfrm>
            <a:off x="9162288" y="1828800"/>
            <a:ext cx="914400" cy="685800"/>
          </a:xfrm>
          <a:prstGeom prst="rect">
            <a:avLst/>
          </a:prstGeom>
          <a:noFill/>
          <a:ln/>
        </p:spPr>
        <p:txBody>
          <a:bodyPr wrap="square" lIns="0" tIns="0" rIns="0" bIns="0" rtlCol="0" anchor="t"/>
          <a:lstStyle/>
          <a:p>
            <a:pPr indent="0" marL="0">
              <a:buNone/>
            </a:pPr>
            <a:r>
              <a:rPr lang="en-US" sz="3600" b="1" dirty="0">
                <a:solidFill>
                  <a:srgbClr val="C2410C"/>
                </a:solidFill>
                <a:latin typeface="Lexend" pitchFamily="34" charset="0"/>
                <a:ea typeface="Lexend" pitchFamily="34" charset="-122"/>
                <a:cs typeface="Lexend" pitchFamily="34" charset="-120"/>
              </a:rPr>
              <a:t>4</a:t>
            </a:r>
            <a:endParaRPr lang="en-US" sz="3600" dirty="0"/>
          </a:p>
        </p:txBody>
      </p:sp>
      <p:sp>
        <p:nvSpPr>
          <p:cNvPr id="21" name="Text 19"/>
          <p:cNvSpPr txBox="1"/>
          <p:nvPr/>
        </p:nvSpPr>
        <p:spPr>
          <a:xfrm>
            <a:off x="9162288" y="2606040"/>
            <a:ext cx="2057400" cy="822960"/>
          </a:xfrm>
          <a:prstGeom prst="rect">
            <a:avLst/>
          </a:prstGeom>
          <a:noFill/>
          <a:ln/>
        </p:spPr>
        <p:txBody>
          <a:bodyPr wrap="square" lIns="0" tIns="0" rIns="0" bIns="0" rtlCol="0" anchor="t"/>
          <a:lstStyle/>
          <a:p>
            <a:pPr indent="0" marL="0">
              <a:buNone/>
            </a:pPr>
            <a:r>
              <a:rPr lang="en-US" sz="1900" b="1" dirty="0">
                <a:solidFill>
                  <a:srgbClr val="1C1917"/>
                </a:solidFill>
                <a:latin typeface="Lexend" pitchFamily="34" charset="0"/>
                <a:ea typeface="Lexend" pitchFamily="34" charset="-122"/>
                <a:cs typeface="Lexend" pitchFamily="34" charset="-120"/>
              </a:rPr>
              <a:t>El plan contra lo mejor posible</a:t>
            </a:r>
            <a:endParaRPr lang="en-US" sz="1900" dirty="0"/>
          </a:p>
        </p:txBody>
      </p:sp>
      <p:sp>
        <p:nvSpPr>
          <p:cNvPr id="22" name="Text 20"/>
          <p:cNvSpPr txBox="1"/>
          <p:nvPr/>
        </p:nvSpPr>
        <p:spPr>
          <a:xfrm>
            <a:off x="9162288" y="3520440"/>
            <a:ext cx="2057400" cy="1234440"/>
          </a:xfrm>
          <a:prstGeom prst="rect">
            <a:avLst/>
          </a:prstGeom>
          <a:noFill/>
          <a:ln/>
        </p:spPr>
        <p:txBody>
          <a:bodyPr wrap="square" lIns="0" tIns="0" rIns="0" bIns="0" rtlCol="0" anchor="t"/>
          <a:lstStyle/>
          <a:p>
            <a:pPr indent="0" marL="0">
              <a:buNone/>
            </a:pPr>
            <a:r>
              <a:rPr lang="en-US" sz="1350" dirty="0">
                <a:solidFill>
                  <a:srgbClr val="57534E"/>
                </a:solidFill>
                <a:latin typeface="Quattrocento Sans" pitchFamily="34" charset="0"/>
                <a:ea typeface="Quattrocento Sans" pitchFamily="34" charset="-122"/>
                <a:cs typeface="Quattrocento Sans" pitchFamily="34" charset="-120"/>
              </a:rPr>
              <a:t>El itinerario contra el óptimo exacto, los buses de verdad y el presupuesto</a:t>
            </a:r>
            <a:endParaRPr lang="en-US" sz="1350" dirty="0"/>
          </a:p>
        </p:txBody>
      </p:sp>
      <p:sp>
        <p:nvSpPr>
          <p:cNvPr id="23" name="Text 21"/>
          <p:cNvSpPr txBox="1"/>
          <p:nvPr/>
        </p:nvSpPr>
        <p:spPr>
          <a:xfrm>
            <a:off x="9162288" y="4846320"/>
            <a:ext cx="2057400" cy="365760"/>
          </a:xfrm>
          <a:prstGeom prst="rect">
            <a:avLst/>
          </a:prstGeom>
          <a:noFill/>
          <a:ln/>
        </p:spPr>
        <p:txBody>
          <a:bodyPr wrap="square" lIns="0" tIns="0" rIns="0" bIns="0" rtlCol="0" anchor="t"/>
          <a:lstStyle/>
          <a:p>
            <a:pPr indent="0" marL="0">
              <a:buNone/>
            </a:pPr>
            <a:r>
              <a:rPr lang="en-US" sz="1500" dirty="0">
                <a:solidFill>
                  <a:srgbClr val="0D9488"/>
                </a:solidFill>
                <a:latin typeface="Lexend" pitchFamily="34" charset="0"/>
                <a:ea typeface="Lexend" pitchFamily="34" charset="-122"/>
                <a:cs typeface="Lexend" pitchFamily="34" charset="-120"/>
              </a:rPr>
              <a:t>Diego</a:t>
            </a:r>
            <a:endParaRPr lang="en-US" sz="1500" dirty="0"/>
          </a:p>
        </p:txBody>
      </p:sp>
      <p:sp>
        <p:nvSpPr>
          <p:cNvPr id="24" name="Text 22"/>
          <p:cNvSpPr txBox="1"/>
          <p:nvPr/>
        </p:nvSpPr>
        <p:spPr>
          <a:xfrm>
            <a:off x="548640" y="5669280"/>
            <a:ext cx="10972800" cy="365760"/>
          </a:xfrm>
          <a:prstGeom prst="rect">
            <a:avLst/>
          </a:prstGeom>
          <a:noFill/>
          <a:ln/>
        </p:spPr>
        <p:txBody>
          <a:bodyPr wrap="square" lIns="0" tIns="0" rIns="0" bIns="0" rtlCol="0" anchor="t"/>
          <a:lstStyle/>
          <a:p>
            <a:pPr indent="0" marL="0">
              <a:buNone/>
            </a:pPr>
            <a:r>
              <a:rPr lang="en-US" sz="1500" dirty="0">
                <a:solidFill>
                  <a:srgbClr val="57534E"/>
                </a:solidFill>
                <a:latin typeface="Quattrocento Sans" pitchFamily="34" charset="0"/>
                <a:ea typeface="Quattrocento Sans" pitchFamily="34" charset="-122"/>
                <a:cs typeface="Quattrocento Sans" pitchFamily="34" charset="-120"/>
              </a:rPr>
              <a:t>Al final, entre todos: los límites, el plan de las tres semanas que quedan y las preguntas.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22960" y="1554480"/>
            <a:ext cx="2743200" cy="914400"/>
          </a:xfrm>
          <a:prstGeom prst="rect">
            <a:avLst/>
          </a:prstGeom>
          <a:noFill/>
          <a:ln/>
        </p:spPr>
        <p:txBody>
          <a:bodyPr wrap="square" lIns="0" tIns="0" rIns="0" bIns="0" rtlCol="0" anchor="b"/>
          <a:lstStyle/>
          <a:p>
            <a:pPr algn="l" indent="0" marL="0">
              <a:buNone/>
            </a:pPr>
            <a:r>
              <a:rPr lang="en-US" sz="5400" b="1" dirty="0">
                <a:solidFill>
                  <a:srgbClr val="FB923C"/>
                </a:solidFill>
                <a:latin typeface="Lexend" pitchFamily="34" charset="0"/>
                <a:ea typeface="Lexend" pitchFamily="34" charset="-122"/>
                <a:cs typeface="Lexend" pitchFamily="34" charset="-120"/>
              </a:rPr>
              <a:t>1</a:t>
            </a:r>
            <a:endParaRPr lang="en-US" sz="5400" dirty="0"/>
          </a:p>
        </p:txBody>
      </p:sp>
      <p:sp>
        <p:nvSpPr>
          <p:cNvPr id="3" name="Text 0"/>
          <p:cNvSpPr/>
          <p:nvPr>
            <p:ph idx="101" type="title" hasCustomPrompt="1"/>
          </p:nvPr>
        </p:nvSpPr>
        <p:spPr>
          <a:xfrm>
            <a:off x="822960" y="2514600"/>
            <a:ext cx="10515600" cy="1097280"/>
          </a:xfrm>
          <a:prstGeom prst="rect">
            <a:avLst/>
          </a:prstGeom>
          <a:noFill/>
          <a:ln/>
        </p:spPr>
        <p:txBody>
          <a:bodyPr wrap="square" lIns="0" tIns="0" rIns="0" bIns="0" rtlCol="0" anchor="t"/>
          <a:lstStyle/>
          <a:p>
            <a:pPr algn="l" indent="0" marL="0">
              <a:buNone/>
            </a:pPr>
            <a:r>
              <a:rPr lang="en-US" sz="4400" b="1" dirty="0">
                <a:solidFill>
                  <a:srgbClr val="FFFFFF"/>
                </a:solidFill>
                <a:latin typeface="Lexend" pitchFamily="34" charset="0"/>
                <a:ea typeface="Lexend" pitchFamily="34" charset="-122"/>
                <a:cs typeface="Lexend" pitchFamily="34" charset="-120"/>
              </a:rPr>
              <a:t>El prototipo refinado</a:t>
            </a:r>
            <a:endParaRPr lang="en-US" sz="4400" dirty="0"/>
          </a:p>
        </p:txBody>
      </p:sp>
      <p:sp>
        <p:nvSpPr>
          <p:cNvPr id="4" name="Text 0"/>
          <p:cNvSpPr/>
          <p:nvPr>
            <p:ph idx="102" type="body" hasCustomPrompt="1"/>
          </p:nvPr>
        </p:nvSpPr>
        <p:spPr>
          <a:xfrm>
            <a:off x="822960" y="3703320"/>
            <a:ext cx="10515600" cy="457200"/>
          </a:xfrm>
          <a:prstGeom prst="rect">
            <a:avLst/>
          </a:prstGeom>
          <a:noFill/>
          <a:ln/>
        </p:spPr>
        <p:txBody>
          <a:bodyPr wrap="square" lIns="0" tIns="0" rIns="0" bIns="0" rtlCol="0"/>
          <a:lstStyle/>
          <a:p>
            <a:pPr algn="l" indent="0" marL="0">
              <a:buNone/>
            </a:pPr>
            <a:r>
              <a:rPr lang="en-US" sz="2000" dirty="0">
                <a:solidFill>
                  <a:srgbClr val="E7E5E4"/>
                </a:solidFill>
                <a:latin typeface="Lexend" pitchFamily="34" charset="0"/>
                <a:ea typeface="Lexend" pitchFamily="34" charset="-122"/>
                <a:cs typeface="Lexend" pitchFamily="34" charset="-120"/>
              </a:rPr>
              <a:t>Christopher</a:t>
            </a:r>
            <a:endParaRPr lang="en-US" sz="2000" dirty="0"/>
          </a:p>
        </p:txBody>
      </p:sp>
      <p:sp>
        <p:nvSpPr>
          <p:cNvPr id="5" name="Text 0"/>
          <p:cNvSpPr/>
          <p:nvPr>
            <p:ph idx="103" type="body" hasCustomPrompt="1"/>
          </p:nvPr>
        </p:nvSpPr>
        <p:spPr>
          <a:xfrm>
            <a:off x="822960" y="4206240"/>
            <a:ext cx="10058400" cy="457200"/>
          </a:xfrm>
          <a:prstGeom prst="rect">
            <a:avLst/>
          </a:prstGeom>
          <a:noFill/>
          <a:ln/>
        </p:spPr>
        <p:txBody>
          <a:bodyPr wrap="square" lIns="0" tIns="0" rIns="0" bIns="0" rtlCol="0"/>
          <a:lstStyle/>
          <a:p>
            <a:pPr algn="l" indent="0" marL="0">
              <a:buNone/>
            </a:pPr>
            <a:r>
              <a:rPr lang="en-US" sz="1600" dirty="0">
                <a:solidFill>
                  <a:srgbClr val="A8A29E"/>
                </a:solidFill>
                <a:latin typeface="Quattrocento Sans" pitchFamily="34" charset="0"/>
                <a:ea typeface="Quattrocento Sans" pitchFamily="34" charset="-122"/>
                <a:cs typeface="Quattrocento Sans" pitchFamily="34" charset="-120"/>
              </a:rPr>
              <a:t>Lo que cambió desde la semana 10, y un caso de uso de punta a punta</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Lo que cambió desde la semana 10</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El frontend lo rehízo el equipo, y después se corrigió lo que la revisión encontró</a:t>
            </a:r>
            <a:endParaRPr lang="en-US" sz="1400" dirty="0"/>
          </a:p>
        </p:txBody>
      </p:sp>
      <p:pic>
        <p:nvPicPr>
          <p:cNvPr id="4" name="inicio_celular.png" descr="El inicio, con el carrusel más bajo: en un celular se ve el formulario.">    </p:cNvPr>
          <p:cNvPicPr>
            <a:picLocks noChangeAspect="1"/>
          </p:cNvPicPr>
          <p:nvPr/>
        </p:nvPicPr>
        <p:blipFill>
          <a:blip r:embed="rId1"/>
          <a:stretch>
            <a:fillRect/>
          </a:stretch>
        </p:blipFill>
        <p:spPr>
          <a:xfrm>
            <a:off x="1488392" y="1417320"/>
            <a:ext cx="1732376" cy="3749040"/>
          </a:xfrm>
          <a:prstGeom prst="rect">
            <a:avLst/>
          </a:prstGeom>
        </p:spPr>
      </p:pic>
      <p:sp>
        <p:nvSpPr>
          <p:cNvPr id="5" name="Text 2"/>
          <p:cNvSpPr txBox="1"/>
          <p:nvPr/>
        </p:nvSpPr>
        <p:spPr>
          <a:xfrm>
            <a:off x="548640" y="5257800"/>
            <a:ext cx="3611880" cy="68580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El inicio, con el carrusel más bajo: en un celular se ve el formulario.</a:t>
            </a:r>
            <a:endParaRPr lang="en-US" sz="1300" dirty="0"/>
          </a:p>
        </p:txBody>
      </p:sp>
      <p:pic>
        <p:nvPicPr>
          <p:cNvPr id="6" name="tema_oscuro.png" descr="Sigue el tema del sistema, y el oscuro pasa la revisión de contraste.">    </p:cNvPr>
          <p:cNvPicPr>
            <a:picLocks noChangeAspect="1"/>
          </p:cNvPicPr>
          <p:nvPr/>
        </p:nvPicPr>
        <p:blipFill>
          <a:blip r:embed="rId2"/>
          <a:stretch>
            <a:fillRect/>
          </a:stretch>
        </p:blipFill>
        <p:spPr>
          <a:xfrm>
            <a:off x="5310584" y="1417320"/>
            <a:ext cx="1732376" cy="3749040"/>
          </a:xfrm>
          <a:prstGeom prst="rect">
            <a:avLst/>
          </a:prstGeom>
        </p:spPr>
      </p:pic>
      <p:sp>
        <p:nvSpPr>
          <p:cNvPr id="7" name="Text 3"/>
          <p:cNvSpPr txBox="1"/>
          <p:nvPr/>
        </p:nvSpPr>
        <p:spPr>
          <a:xfrm>
            <a:off x="4370832" y="5257800"/>
            <a:ext cx="3611880" cy="68580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Sigue el tema del sistema, y el oscuro pasa la revisión de contraste.</a:t>
            </a:r>
            <a:endParaRPr lang="en-US" sz="1300" dirty="0"/>
          </a:p>
        </p:txBody>
      </p:sp>
      <p:pic>
        <p:nvPicPr>
          <p:cNvPr id="8" name="caso_4_antes_de_ir.png" descr="Antes de ir: la altura, el día tranquilo y el bus de noche.">    </p:cNvPr>
          <p:cNvPicPr>
            <a:picLocks noChangeAspect="1"/>
          </p:cNvPicPr>
          <p:nvPr/>
        </p:nvPicPr>
        <p:blipFill>
          <a:blip r:embed="rId3"/>
          <a:stretch>
            <a:fillRect/>
          </a:stretch>
        </p:blipFill>
        <p:spPr>
          <a:xfrm>
            <a:off x="9132776" y="1417320"/>
            <a:ext cx="1732376" cy="3749040"/>
          </a:xfrm>
          <a:prstGeom prst="rect">
            <a:avLst/>
          </a:prstGeom>
        </p:spPr>
      </p:pic>
      <p:sp>
        <p:nvSpPr>
          <p:cNvPr id="9" name="Text 4"/>
          <p:cNvSpPr txBox="1"/>
          <p:nvPr/>
        </p:nvSpPr>
        <p:spPr>
          <a:xfrm>
            <a:off x="8193024" y="5257800"/>
            <a:ext cx="3611880" cy="68580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Antes de ir: la altura, el día tranquilo y el bus de noche.</a:t>
            </a:r>
            <a:endParaRPr lang="en-US" sz="1300" dirty="0"/>
          </a:p>
        </p:txBody>
      </p:sp>
      <p:sp>
        <p:nvSpPr>
          <p:cNvPr id="10" name="Text 5"/>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350" b="1" dirty="0">
                <a:solidFill>
                  <a:srgbClr val="1C1917"/>
                </a:solidFill>
                <a:latin typeface="Quattrocento Sans" pitchFamily="34" charset="0"/>
                <a:ea typeface="Quattrocento Sans" pitchFamily="34" charset="-122"/>
                <a:cs typeface="Quattrocento Sans" pitchFamily="34" charset="-120"/>
              </a:rPr>
              <a:t>Y en el motor: </a:t>
            </a:r>
            <a:pPr indent="0" marL="0">
              <a:spcAft>
                <a:spcPts val="1000"/>
              </a:spcAft>
              <a:buNone/>
            </a:pPr>
            <a:r>
              <a:rPr lang="en-US" sz="1350" dirty="0">
                <a:solidFill>
                  <a:srgbClr val="57534E"/>
                </a:solidFill>
                <a:latin typeface="Quattrocento Sans" pitchFamily="34" charset="0"/>
                <a:ea typeface="Quattrocento Sans" pitchFamily="34" charset="-122"/>
                <a:cs typeface="Quattrocento Sans" pitchFamily="34" charset="-120"/>
              </a:rPr>
              <a:t>la tarjeta y la nota del día dicen la misma duración, y el presupuesto avisa cuando el escenario caro lo pasa (decisión 0022).</a:t>
            </a:r>
            <a:endParaRPr lang="en-US"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Caso de estudio: dos amigas que quieren caminar</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Desde Lima, un fin de semana largo de agosto, naturaleza y caminatas, hasta S/ 900 cada una</a:t>
            </a:r>
            <a:endParaRPr lang="en-US" sz="1400" dirty="0"/>
          </a:p>
        </p:txBody>
      </p:sp>
      <p:pic>
        <p:nvPicPr>
          <p:cNvPr id="4" name="caso_1_formulario.png" descr="Llenan el formulario sin cambiar de pantalla.">    </p:cNvPr>
          <p:cNvPicPr>
            <a:picLocks noChangeAspect="1"/>
          </p:cNvPicPr>
          <p:nvPr/>
        </p:nvPicPr>
        <p:blipFill>
          <a:blip r:embed="rId1"/>
          <a:stretch>
            <a:fillRect/>
          </a:stretch>
        </p:blipFill>
        <p:spPr>
          <a:xfrm>
            <a:off x="1382759" y="1417320"/>
            <a:ext cx="1943642" cy="4206240"/>
          </a:xfrm>
          <a:prstGeom prst="rect">
            <a:avLst/>
          </a:prstGeom>
        </p:spPr>
      </p:pic>
      <p:sp>
        <p:nvSpPr>
          <p:cNvPr id="5" name="Text 2"/>
          <p:cNvSpPr txBox="1"/>
          <p:nvPr/>
        </p:nvSpPr>
        <p:spPr>
          <a:xfrm>
            <a:off x="548640" y="5715000"/>
            <a:ext cx="3611880" cy="68580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Llenan el formulario sin cambiar de pantalla.</a:t>
            </a:r>
            <a:endParaRPr lang="en-US" sz="1300" dirty="0"/>
          </a:p>
        </p:txBody>
      </p:sp>
      <p:pic>
        <p:nvPicPr>
          <p:cNvPr id="6" name="caso_2_tres_viajes.png" descr="Huaraz, S/ 622, en bus de noche; Huacho, S/ 584; Oxapampa, S/ 597.">    </p:cNvPr>
          <p:cNvPicPr>
            <a:picLocks noChangeAspect="1"/>
          </p:cNvPicPr>
          <p:nvPr/>
        </p:nvPicPr>
        <p:blipFill>
          <a:blip r:embed="rId2"/>
          <a:stretch>
            <a:fillRect/>
          </a:stretch>
        </p:blipFill>
        <p:spPr>
          <a:xfrm>
            <a:off x="5204951" y="1417320"/>
            <a:ext cx="1943642" cy="4206240"/>
          </a:xfrm>
          <a:prstGeom prst="rect">
            <a:avLst/>
          </a:prstGeom>
        </p:spPr>
      </p:pic>
      <p:sp>
        <p:nvSpPr>
          <p:cNvPr id="7" name="Text 3"/>
          <p:cNvSpPr txBox="1"/>
          <p:nvPr/>
        </p:nvSpPr>
        <p:spPr>
          <a:xfrm>
            <a:off x="4370832" y="5715000"/>
            <a:ext cx="3611880" cy="68580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Huaraz, S/ 622, en bus de noche; Huacho, S/ 584; Oxapampa, S/ 597.</a:t>
            </a:r>
            <a:endParaRPr lang="en-US" sz="1300" dirty="0"/>
          </a:p>
        </p:txBody>
      </p:sp>
      <p:pic>
        <p:nvPicPr>
          <p:cNvPr id="8" name="caso_3_huaraz.png" descr="Abren Huaraz: cuatro imperdibles y 8 de 10 paradas de lo que pidieron.">    </p:cNvPr>
          <p:cNvPicPr>
            <a:picLocks noChangeAspect="1"/>
          </p:cNvPicPr>
          <p:nvPr/>
        </p:nvPicPr>
        <p:blipFill>
          <a:blip r:embed="rId3"/>
          <a:stretch>
            <a:fillRect/>
          </a:stretch>
        </p:blipFill>
        <p:spPr>
          <a:xfrm>
            <a:off x="9027143" y="1417320"/>
            <a:ext cx="1943642" cy="4206240"/>
          </a:xfrm>
          <a:prstGeom prst="rect">
            <a:avLst/>
          </a:prstGeom>
        </p:spPr>
      </p:pic>
      <p:sp>
        <p:nvSpPr>
          <p:cNvPr id="9" name="Text 4"/>
          <p:cNvSpPr txBox="1"/>
          <p:nvPr/>
        </p:nvSpPr>
        <p:spPr>
          <a:xfrm>
            <a:off x="8193024" y="5715000"/>
            <a:ext cx="3611880" cy="68580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Abren Huaraz: cuatro imperdibles y 8 de 10 paradas de lo que pidieron.</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Un plan que pueden seguir</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El día 1 es tranquilo por la altura; el día 2 es el de caminar; el costo entra en su presupuesto</a:t>
            </a:r>
            <a:endParaRPr lang="en-US" sz="1400" dirty="0"/>
          </a:p>
        </p:txBody>
      </p:sp>
      <p:pic>
        <p:nvPicPr>
          <p:cNvPr id="4" name="caso_5_dia_1.png" descr="Llegan a las 5:55 y visitan desde las 9:07: medio día, por la altura.">    </p:cNvPr>
          <p:cNvPicPr>
            <a:picLocks noChangeAspect="1"/>
          </p:cNvPicPr>
          <p:nvPr/>
        </p:nvPicPr>
        <p:blipFill>
          <a:blip r:embed="rId1"/>
          <a:stretch>
            <a:fillRect/>
          </a:stretch>
        </p:blipFill>
        <p:spPr>
          <a:xfrm>
            <a:off x="1382759" y="1417320"/>
            <a:ext cx="1943642" cy="4206240"/>
          </a:xfrm>
          <a:prstGeom prst="rect">
            <a:avLst/>
          </a:prstGeom>
        </p:spPr>
      </p:pic>
      <p:sp>
        <p:nvSpPr>
          <p:cNvPr id="5" name="Text 2"/>
          <p:cNvSpPr txBox="1"/>
          <p:nvPr/>
        </p:nvSpPr>
        <p:spPr>
          <a:xfrm>
            <a:off x="548640" y="5715000"/>
            <a:ext cx="3611880" cy="68580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Llegan a las 5:55 y visitan desde las 9:07: medio día, por la altura.</a:t>
            </a:r>
            <a:endParaRPr lang="en-US" sz="1300" dirty="0"/>
          </a:p>
        </p:txBody>
      </p:sp>
      <p:pic>
        <p:nvPicPr>
          <p:cNvPr id="6" name="caso_6_dia_2.png" descr="Quilcayhuanca y el Huascarán, con el aviso de llevar el almuerzo.">    </p:cNvPr>
          <p:cNvPicPr>
            <a:picLocks noChangeAspect="1"/>
          </p:cNvPicPr>
          <p:nvPr/>
        </p:nvPicPr>
        <p:blipFill>
          <a:blip r:embed="rId2"/>
          <a:stretch>
            <a:fillRect/>
          </a:stretch>
        </p:blipFill>
        <p:spPr>
          <a:xfrm>
            <a:off x="5204951" y="1417320"/>
            <a:ext cx="1943642" cy="4206240"/>
          </a:xfrm>
          <a:prstGeom prst="rect">
            <a:avLst/>
          </a:prstGeom>
        </p:spPr>
      </p:pic>
      <p:sp>
        <p:nvSpPr>
          <p:cNvPr id="7" name="Text 3"/>
          <p:cNvSpPr txBox="1"/>
          <p:nvPr/>
        </p:nvSpPr>
        <p:spPr>
          <a:xfrm>
            <a:off x="4370832" y="5715000"/>
            <a:ext cx="3611880" cy="68580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Quilcayhuanca y el Huascarán, con el aviso de llevar el almuerzo.</a:t>
            </a:r>
            <a:endParaRPr lang="en-US" sz="1300" dirty="0"/>
          </a:p>
        </p:txBody>
      </p:sp>
      <p:pic>
        <p:nvPicPr>
          <p:cNvPr id="8" name="caso_8_costo_y_clima.png" descr="S/ 538 a S/ 704, y agosto es buen mes allá.">    </p:cNvPr>
          <p:cNvPicPr>
            <a:picLocks noChangeAspect="1"/>
          </p:cNvPicPr>
          <p:nvPr/>
        </p:nvPicPr>
        <p:blipFill>
          <a:blip r:embed="rId3"/>
          <a:stretch>
            <a:fillRect/>
          </a:stretch>
        </p:blipFill>
        <p:spPr>
          <a:xfrm>
            <a:off x="9027143" y="1417320"/>
            <a:ext cx="1943642" cy="4206240"/>
          </a:xfrm>
          <a:prstGeom prst="rect">
            <a:avLst/>
          </a:prstGeom>
        </p:spPr>
      </p:pic>
      <p:sp>
        <p:nvSpPr>
          <p:cNvPr id="9" name="Text 4"/>
          <p:cNvSpPr txBox="1"/>
          <p:nvPr/>
        </p:nvSpPr>
        <p:spPr>
          <a:xfrm>
            <a:off x="8193024" y="5715000"/>
            <a:ext cx="3611880" cy="68580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S/ 538 a S/ 704, y agosto es buen mes allá.</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Lo que el caso deja ver que falta</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Tres cosas que una persona que va a caminar notaría</a:t>
            </a:r>
            <a:endParaRPr lang="en-US" sz="1400" dirty="0"/>
          </a:p>
        </p:txBody>
      </p:sp>
      <p:sp>
        <p:nvSpPr>
          <p:cNvPr id="4" name="falla 1"/>
          <p:cNvSpPr/>
          <p:nvPr/>
        </p:nvSpPr>
        <p:spPr>
          <a:xfrm>
            <a:off x="548640" y="1627632"/>
            <a:ext cx="457200" cy="457200"/>
          </a:xfrm>
          <a:prstGeom prst="ellipse">
            <a:avLst/>
          </a:prstGeom>
          <a:solidFill>
            <a:srgbClr val="C2410C"/>
          </a:solidFill>
          <a:ln w="12700">
            <a:solidFill>
              <a:srgbClr val="C2410C"/>
            </a:solidFill>
            <a:prstDash val="solid"/>
          </a:ln>
        </p:spPr>
      </p:sp>
      <p:sp>
        <p:nvSpPr>
          <p:cNvPr id="5" name="Text 3"/>
          <p:cNvSpPr txBox="1"/>
          <p:nvPr/>
        </p:nvSpPr>
        <p:spPr>
          <a:xfrm>
            <a:off x="548640" y="162763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1</a:t>
            </a:r>
            <a:endParaRPr lang="en-US" sz="1200" dirty="0"/>
          </a:p>
        </p:txBody>
      </p:sp>
      <p:sp>
        <p:nvSpPr>
          <p:cNvPr id="6" name="Text 4"/>
          <p:cNvSpPr txBox="1"/>
          <p:nvPr/>
        </p:nvSpPr>
        <p:spPr>
          <a:xfrm>
            <a:off x="1234440" y="1600200"/>
            <a:ext cx="6309360" cy="1143000"/>
          </a:xfrm>
          <a:prstGeom prst="rect">
            <a:avLst/>
          </a:prstGeom>
          <a:noFill/>
          <a:ln/>
        </p:spPr>
        <p:txBody>
          <a:bodyPr wrap="square" lIns="0" tIns="0" rIns="0" bIns="0" rtlCol="0" anchor="t"/>
          <a:lstStyle/>
          <a:p>
            <a:pPr indent="0" marL="0">
              <a:buNone/>
            </a:pPr>
            <a:r>
              <a:rPr lang="en-US" sz="1550" b="1" dirty="0">
                <a:solidFill>
                  <a:srgbClr val="1C1917"/>
                </a:solidFill>
                <a:latin typeface="Quattrocento Sans" pitchFamily="34" charset="0"/>
                <a:ea typeface="Quattrocento Sans" pitchFamily="34" charset="-122"/>
                <a:cs typeface="Quattrocento Sans" pitchFamily="34" charset="-120"/>
              </a:rPr>
              <a:t>Un rocódromo y una piscigranja el día 3.</a:t>
            </a:r>
            <a:pPr indent="0" marL="0">
              <a:spcAft>
                <a:spcPts val="1000"/>
              </a:spcAft>
              <a:buNone/>
            </a:pPr>
            <a:r>
              <a:rPr lang="en-US" sz="1550" dirty="0">
                <a:solidFill>
                  <a:srgbClr val="57534E"/>
                </a:solidFill>
                <a:latin typeface="Quattrocento Sans" pitchFamily="34" charset="0"/>
                <a:ea typeface="Quattrocento Sans" pitchFamily="34" charset="-122"/>
                <a:cs typeface="Quattrocento Sans" pitchFamily="34" charset="-120"/>
              </a:rPr>
              <a:t> Están en el inventario con jerarquía 2, y el motor no distingue un atractivo de un lugar que solo figura en la lista.</a:t>
            </a:r>
            <a:endParaRPr lang="en-US" sz="1550" dirty="0"/>
          </a:p>
        </p:txBody>
      </p:sp>
      <p:sp>
        <p:nvSpPr>
          <p:cNvPr id="7" name="falla 2"/>
          <p:cNvSpPr/>
          <p:nvPr/>
        </p:nvSpPr>
        <p:spPr>
          <a:xfrm>
            <a:off x="548640" y="2953512"/>
            <a:ext cx="457200" cy="457200"/>
          </a:xfrm>
          <a:prstGeom prst="ellipse">
            <a:avLst/>
          </a:prstGeom>
          <a:solidFill>
            <a:srgbClr val="C2410C"/>
          </a:solidFill>
          <a:ln w="12700">
            <a:solidFill>
              <a:srgbClr val="C2410C"/>
            </a:solidFill>
            <a:prstDash val="solid"/>
          </a:ln>
        </p:spPr>
      </p:sp>
      <p:sp>
        <p:nvSpPr>
          <p:cNvPr id="8" name="Text 6"/>
          <p:cNvSpPr txBox="1"/>
          <p:nvPr/>
        </p:nvSpPr>
        <p:spPr>
          <a:xfrm>
            <a:off x="548640" y="295351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2</a:t>
            </a:r>
            <a:endParaRPr lang="en-US" sz="1200" dirty="0"/>
          </a:p>
        </p:txBody>
      </p:sp>
      <p:sp>
        <p:nvSpPr>
          <p:cNvPr id="9" name="Text 7"/>
          <p:cNvSpPr txBox="1"/>
          <p:nvPr/>
        </p:nvSpPr>
        <p:spPr>
          <a:xfrm>
            <a:off x="1234440" y="2926080"/>
            <a:ext cx="6309360" cy="1143000"/>
          </a:xfrm>
          <a:prstGeom prst="rect">
            <a:avLst/>
          </a:prstGeom>
          <a:noFill/>
          <a:ln/>
        </p:spPr>
        <p:txBody>
          <a:bodyPr wrap="square" lIns="0" tIns="0" rIns="0" bIns="0" rtlCol="0" anchor="t"/>
          <a:lstStyle/>
          <a:p>
            <a:pPr indent="0" marL="0">
              <a:buNone/>
            </a:pPr>
            <a:r>
              <a:rPr lang="en-US" sz="1550" b="1" dirty="0">
                <a:solidFill>
                  <a:srgbClr val="1C1917"/>
                </a:solidFill>
                <a:latin typeface="Quattrocento Sans" pitchFamily="34" charset="0"/>
                <a:ea typeface="Quattrocento Sans" pitchFamily="34" charset="-122"/>
                <a:cs typeface="Quattrocento Sans" pitchFamily="34" charset="-120"/>
              </a:rPr>
              <a:t>La quebrada, en 1 h 30.</a:t>
            </a:r>
            <a:pPr indent="0" marL="0">
              <a:spcAft>
                <a:spcPts val="1000"/>
              </a:spcAft>
              <a:buNone/>
            </a:pPr>
            <a:r>
              <a:rPr lang="en-US" sz="1550" dirty="0">
                <a:solidFill>
                  <a:srgbClr val="57534E"/>
                </a:solidFill>
                <a:latin typeface="Quattrocento Sans" pitchFamily="34" charset="0"/>
                <a:ea typeface="Quattrocento Sans" pitchFamily="34" charset="-122"/>
                <a:cs typeface="Quattrocento Sans" pitchFamily="34" charset="-120"/>
              </a:rPr>
              <a:t> Es la visita que trae su ficha. Una caminata por la Quebrada Quilcayhuanca toma más, y el plan no lo sabe.</a:t>
            </a:r>
            <a:endParaRPr lang="en-US" sz="1550" dirty="0"/>
          </a:p>
        </p:txBody>
      </p:sp>
      <p:sp>
        <p:nvSpPr>
          <p:cNvPr id="10" name="falla 3"/>
          <p:cNvSpPr/>
          <p:nvPr/>
        </p:nvSpPr>
        <p:spPr>
          <a:xfrm>
            <a:off x="548640" y="4279392"/>
            <a:ext cx="457200" cy="457200"/>
          </a:xfrm>
          <a:prstGeom prst="ellipse">
            <a:avLst/>
          </a:prstGeom>
          <a:solidFill>
            <a:srgbClr val="C2410C"/>
          </a:solidFill>
          <a:ln w="12700">
            <a:solidFill>
              <a:srgbClr val="C2410C"/>
            </a:solidFill>
            <a:prstDash val="solid"/>
          </a:ln>
        </p:spPr>
      </p:sp>
      <p:sp>
        <p:nvSpPr>
          <p:cNvPr id="11" name="Text 9"/>
          <p:cNvSpPr txBox="1"/>
          <p:nvPr/>
        </p:nvSpPr>
        <p:spPr>
          <a:xfrm>
            <a:off x="548640" y="427939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3</a:t>
            </a:r>
            <a:endParaRPr lang="en-US" sz="1200" dirty="0"/>
          </a:p>
        </p:txBody>
      </p:sp>
      <p:sp>
        <p:nvSpPr>
          <p:cNvPr id="12" name="Text 10"/>
          <p:cNvSpPr txBox="1"/>
          <p:nvPr/>
        </p:nvSpPr>
        <p:spPr>
          <a:xfrm>
            <a:off x="1234440" y="4251960"/>
            <a:ext cx="6309360" cy="1143000"/>
          </a:xfrm>
          <a:prstGeom prst="rect">
            <a:avLst/>
          </a:prstGeom>
          <a:noFill/>
          <a:ln/>
        </p:spPr>
        <p:txBody>
          <a:bodyPr wrap="square" lIns="0" tIns="0" rIns="0" bIns="0" rtlCol="0" anchor="t"/>
          <a:lstStyle/>
          <a:p>
            <a:pPr indent="0" marL="0">
              <a:buNone/>
            </a:pPr>
            <a:r>
              <a:rPr lang="en-US" sz="1550" b="1" dirty="0">
                <a:solidFill>
                  <a:srgbClr val="1C1917"/>
                </a:solidFill>
                <a:latin typeface="Quattrocento Sans" pitchFamily="34" charset="0"/>
                <a:ea typeface="Quattrocento Sans" pitchFamily="34" charset="-122"/>
                <a:cs typeface="Quattrocento Sans" pitchFamily="34" charset="-120"/>
              </a:rPr>
              <a:t>Oxapampa llega a las 5:50 según la app.</a:t>
            </a:r>
            <a:pPr indent="0" marL="0">
              <a:spcAft>
                <a:spcPts val="1000"/>
              </a:spcAft>
              <a:buNone/>
            </a:pPr>
            <a:r>
              <a:rPr lang="en-US" sz="1550" dirty="0">
                <a:solidFill>
                  <a:srgbClr val="57534E"/>
                </a:solidFill>
                <a:latin typeface="Quattrocento Sans" pitchFamily="34" charset="0"/>
                <a:ea typeface="Quattrocento Sans" pitchFamily="34" charset="-122"/>
                <a:cs typeface="Quattrocento Sans" pitchFamily="34" charset="-120"/>
              </a:rPr>
              <a:t> Con los tiempos de Cruz del Sur, el bus llegaría entre las 8:15 y las 9:45: lo mostramos en la parte de Diego.</a:t>
            </a:r>
            <a:endParaRPr lang="en-US" sz="1550" dirty="0"/>
          </a:p>
        </p:txBody>
      </p:sp>
      <p:pic>
        <p:nvPicPr>
          <p:cNvPr id="13" name="caso_7_mapa_dia_2.png" descr="El mapa del día 2: un pétalo desde la base de Huaraz">    </p:cNvPr>
          <p:cNvPicPr>
            <a:picLocks noChangeAspect="1"/>
          </p:cNvPicPr>
          <p:nvPr/>
        </p:nvPicPr>
        <p:blipFill>
          <a:blip r:embed="rId1"/>
          <a:stretch>
            <a:fillRect/>
          </a:stretch>
        </p:blipFill>
        <p:spPr>
          <a:xfrm>
            <a:off x="8366760" y="1325880"/>
            <a:ext cx="2154907" cy="4663440"/>
          </a:xfrm>
          <a:prstGeom prst="rect">
            <a:avLst/>
          </a:prstGeom>
        </p:spPr>
      </p:pic>
      <p:sp>
        <p:nvSpPr>
          <p:cNvPr id="14" name="Text 11"/>
          <p:cNvSpPr txBox="1"/>
          <p:nvPr/>
        </p:nvSpPr>
        <p:spPr>
          <a:xfrm>
            <a:off x="7818120" y="6035040"/>
            <a:ext cx="3840480" cy="320040"/>
          </a:xfrm>
          <a:prstGeom prst="rect">
            <a:avLst/>
          </a:prstGeom>
          <a:noFill/>
          <a:ln/>
        </p:spPr>
        <p:txBody>
          <a:bodyPr wrap="square" lIns="0" tIns="0" rIns="0" bIns="0" rtlCol="0" anchor="t"/>
          <a:lstStyle/>
          <a:p>
            <a:pPr algn="ctr" indent="0" marL="0">
              <a:buNone/>
            </a:pPr>
            <a:r>
              <a:rPr lang="en-US" sz="1200" dirty="0">
                <a:solidFill>
                  <a:srgbClr val="78716C"/>
                </a:solidFill>
                <a:latin typeface="Quattrocento Sans" pitchFamily="34" charset="0"/>
                <a:ea typeface="Quattrocento Sans" pitchFamily="34" charset="-122"/>
                <a:cs typeface="Quattrocento Sans" pitchFamily="34" charset="-120"/>
              </a:rPr>
              <a:t>El día 2 en el mapa: un pétalo que sale y vuelve a la base</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22960" y="1554480"/>
            <a:ext cx="2743200" cy="914400"/>
          </a:xfrm>
          <a:prstGeom prst="rect">
            <a:avLst/>
          </a:prstGeom>
          <a:noFill/>
          <a:ln/>
        </p:spPr>
        <p:txBody>
          <a:bodyPr wrap="square" lIns="0" tIns="0" rIns="0" bIns="0" rtlCol="0" anchor="b"/>
          <a:lstStyle/>
          <a:p>
            <a:pPr algn="l" indent="0" marL="0">
              <a:buNone/>
            </a:pPr>
            <a:r>
              <a:rPr lang="en-US" sz="5400" b="1" dirty="0">
                <a:solidFill>
                  <a:srgbClr val="FB923C"/>
                </a:solidFill>
                <a:latin typeface="Lexend" pitchFamily="34" charset="0"/>
                <a:ea typeface="Lexend" pitchFamily="34" charset="-122"/>
                <a:cs typeface="Lexend" pitchFamily="34" charset="-120"/>
              </a:rPr>
              <a:t>2</a:t>
            </a:r>
            <a:endParaRPr lang="en-US" sz="5400" dirty="0"/>
          </a:p>
        </p:txBody>
      </p:sp>
      <p:sp>
        <p:nvSpPr>
          <p:cNvPr id="3" name="Text 0"/>
          <p:cNvSpPr/>
          <p:nvPr>
            <p:ph idx="101" type="title" hasCustomPrompt="1"/>
          </p:nvPr>
        </p:nvSpPr>
        <p:spPr>
          <a:xfrm>
            <a:off x="822960" y="2514600"/>
            <a:ext cx="10515600" cy="1097280"/>
          </a:xfrm>
          <a:prstGeom prst="rect">
            <a:avLst/>
          </a:prstGeom>
          <a:noFill/>
          <a:ln/>
        </p:spPr>
        <p:txBody>
          <a:bodyPr wrap="square" lIns="0" tIns="0" rIns="0" bIns="0" rtlCol="0" anchor="t"/>
          <a:lstStyle/>
          <a:p>
            <a:pPr algn="l" indent="0" marL="0">
              <a:buNone/>
            </a:pPr>
            <a:r>
              <a:rPr lang="en-US" sz="4400" b="1" dirty="0">
                <a:solidFill>
                  <a:srgbClr val="FFFFFF"/>
                </a:solidFill>
                <a:latin typeface="Lexend" pitchFamily="34" charset="0"/>
                <a:ea typeface="Lexend" pitchFamily="34" charset="-122"/>
                <a:cs typeface="Lexend" pitchFamily="34" charset="-120"/>
              </a:rPr>
              <a:t>Arquitectura y flujo</a:t>
            </a:r>
            <a:endParaRPr lang="en-US" sz="4400" dirty="0"/>
          </a:p>
        </p:txBody>
      </p:sp>
      <p:sp>
        <p:nvSpPr>
          <p:cNvPr id="4" name="Text 0"/>
          <p:cNvSpPr/>
          <p:nvPr>
            <p:ph idx="102" type="body" hasCustomPrompt="1"/>
          </p:nvPr>
        </p:nvSpPr>
        <p:spPr>
          <a:xfrm>
            <a:off x="822960" y="3703320"/>
            <a:ext cx="10515600" cy="457200"/>
          </a:xfrm>
          <a:prstGeom prst="rect">
            <a:avLst/>
          </a:prstGeom>
          <a:noFill/>
          <a:ln/>
        </p:spPr>
        <p:txBody>
          <a:bodyPr wrap="square" lIns="0" tIns="0" rIns="0" bIns="0" rtlCol="0"/>
          <a:lstStyle/>
          <a:p>
            <a:pPr algn="l" indent="0" marL="0">
              <a:buNone/>
            </a:pPr>
            <a:r>
              <a:rPr lang="en-US" sz="2000" dirty="0">
                <a:solidFill>
                  <a:srgbClr val="E7E5E4"/>
                </a:solidFill>
                <a:latin typeface="Lexend" pitchFamily="34" charset="0"/>
                <a:ea typeface="Lexend" pitchFamily="34" charset="-122"/>
                <a:cs typeface="Lexend" pitchFamily="34" charset="-120"/>
              </a:rPr>
              <a:t>Miguel</a:t>
            </a:r>
            <a:endParaRPr lang="en-US" sz="2000" dirty="0"/>
          </a:p>
        </p:txBody>
      </p:sp>
      <p:sp>
        <p:nvSpPr>
          <p:cNvPr id="5" name="Text 0"/>
          <p:cNvSpPr/>
          <p:nvPr>
            <p:ph idx="103" type="body" hasCustomPrompt="1"/>
          </p:nvPr>
        </p:nvSpPr>
        <p:spPr>
          <a:xfrm>
            <a:off x="822960" y="4206240"/>
            <a:ext cx="10058400" cy="457200"/>
          </a:xfrm>
          <a:prstGeom prst="rect">
            <a:avLst/>
          </a:prstGeom>
          <a:noFill/>
          <a:ln/>
        </p:spPr>
        <p:txBody>
          <a:bodyPr wrap="square" lIns="0" tIns="0" rIns="0" bIns="0" rtlCol="0"/>
          <a:lstStyle/>
          <a:p>
            <a:pPr algn="l" indent="0" marL="0">
              <a:buNone/>
            </a:pPr>
            <a:r>
              <a:rPr lang="en-US" sz="1600" dirty="0">
                <a:solidFill>
                  <a:srgbClr val="A8A29E"/>
                </a:solidFill>
                <a:latin typeface="Quattrocento Sans" pitchFamily="34" charset="0"/>
                <a:ea typeface="Quattrocento Sans" pitchFamily="34" charset="-122"/>
                <a:cs typeface="Quattrocento Sans" pitchFamily="34" charset="-120"/>
              </a:rPr>
              <a:t>Qué pieza corre dónde, cómo viaja una consulta y cómo trabaja el equipo</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Arquitectura</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Fuentes abiertas, un pipeline con versión, un API que responde desde memoria y la evaluación sobre el mismo motor</a:t>
            </a:r>
            <a:endParaRPr lang="en-US" sz="1400" dirty="0"/>
          </a:p>
        </p:txBody>
      </p:sp>
      <p:pic>
        <p:nvPicPr>
          <p:cNvPr id="4" name="arquitectura.png" descr="Arquitectura: fuentes, pipeline, API, quién lo usa y la evaluación">    </p:cNvPr>
          <p:cNvPicPr>
            <a:picLocks noChangeAspect="1"/>
          </p:cNvPicPr>
          <p:nvPr/>
        </p:nvPicPr>
        <p:blipFill>
          <a:blip r:embed="rId1"/>
          <a:stretch>
            <a:fillRect/>
          </a:stretch>
        </p:blipFill>
        <p:spPr>
          <a:xfrm>
            <a:off x="685800" y="1463040"/>
            <a:ext cx="10835640" cy="4993246"/>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Cómo viaja una consulta</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Del formulario a tres viajes, en los cinco pasos del motor</a:t>
            </a:r>
            <a:endParaRPr lang="en-US" sz="1400" dirty="0"/>
          </a:p>
        </p:txBody>
      </p:sp>
      <p:pic>
        <p:nvPicPr>
          <p:cNvPr id="4" name="consulta.png" descr="La consulta: la app pide GET /v1/viajes y el motor resuelve en cinco pasos">    </p:cNvPr>
          <p:cNvPicPr>
            <a:picLocks noChangeAspect="1"/>
          </p:cNvPicPr>
          <p:nvPr/>
        </p:nvPicPr>
        <p:blipFill>
          <a:blip r:embed="rId1"/>
          <a:stretch>
            <a:fillRect/>
          </a:stretch>
        </p:blipFill>
        <p:spPr>
          <a:xfrm>
            <a:off x="548640" y="1417320"/>
            <a:ext cx="6949440" cy="4409098"/>
          </a:xfrm>
          <a:prstGeom prst="rect">
            <a:avLst/>
          </a:prstGeom>
        </p:spPr>
      </p:pic>
      <p:sp>
        <p:nvSpPr>
          <p:cNvPr id="5" name="cómo trabaja el equipo"/>
          <p:cNvSpPr/>
          <p:nvPr/>
        </p:nvSpPr>
        <p:spPr>
          <a:xfrm>
            <a:off x="7863840" y="1417320"/>
            <a:ext cx="3776472" cy="4526280"/>
          </a:xfrm>
          <a:prstGeom prst="roundRect">
            <a:avLst>
              <a:gd name="adj" fmla="val 2906"/>
            </a:avLst>
          </a:prstGeom>
          <a:solidFill>
            <a:srgbClr val="F5F5F4"/>
          </a:solidFill>
          <a:ln w="12700">
            <a:solidFill>
              <a:srgbClr val="E7E5E4"/>
            </a:solidFill>
            <a:prstDash val="solid"/>
          </a:ln>
        </p:spPr>
      </p:sp>
      <p:sp>
        <p:nvSpPr>
          <p:cNvPr id="6" name="Text 3"/>
          <p:cNvSpPr txBox="1"/>
          <p:nvPr/>
        </p:nvSpPr>
        <p:spPr>
          <a:xfrm>
            <a:off x="8138160" y="1645920"/>
            <a:ext cx="3291840" cy="411480"/>
          </a:xfrm>
          <a:prstGeom prst="rect">
            <a:avLst/>
          </a:prstGeom>
          <a:noFill/>
          <a:ln/>
        </p:spPr>
        <p:txBody>
          <a:bodyPr wrap="square" lIns="0" tIns="0" rIns="0" bIns="0" rtlCol="0" anchor="t"/>
          <a:lstStyle/>
          <a:p>
            <a:pPr indent="0" marL="0">
              <a:buNone/>
            </a:pPr>
            <a:r>
              <a:rPr lang="en-US" sz="1700" b="1" dirty="0">
                <a:solidFill>
                  <a:srgbClr val="1C1917"/>
                </a:solidFill>
                <a:latin typeface="Lexend" pitchFamily="34" charset="0"/>
                <a:ea typeface="Lexend" pitchFamily="34" charset="-122"/>
                <a:cs typeface="Lexend" pitchFamily="34" charset="-120"/>
              </a:rPr>
              <a:t>Cómo trabaja el equipo</a:t>
            </a:r>
            <a:endParaRPr lang="en-US" sz="1700" dirty="0"/>
          </a:p>
        </p:txBody>
      </p:sp>
      <p:sp>
        <p:nvSpPr>
          <p:cNvPr id="7" name="Text 4"/>
          <p:cNvSpPr txBox="1"/>
          <p:nvPr/>
        </p:nvSpPr>
        <p:spPr>
          <a:xfrm>
            <a:off x="8138160" y="2148840"/>
            <a:ext cx="3291840" cy="365760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Cada uno en su rama, y a main por pull request.</a:t>
            </a:r>
            <a:endParaRPr lang="en-US" sz="1400" dirty="0"/>
          </a:p>
          <a:p>
            <a:pPr marL="203200" indent="-203200">
              <a:spcAft>
                <a:spcPts val="10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La CI corre en cada pull request: lint, 968 pruebas de Python, 243 de la app, las imágenes del API y una prueba de humo en un navegador contra el API.</a:t>
            </a:r>
            <a:endParaRPr lang="en-US" sz="1400" dirty="0"/>
          </a:p>
          <a:p>
            <a:pPr marL="203200" indent="-203200">
              <a:spcAft>
                <a:spcPts val="10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Al fusionar, Pages publica la app y Render despliega el API.</a:t>
            </a:r>
            <a:endParaRPr lang="en-US" sz="1400" dirty="0"/>
          </a:p>
          <a:p>
            <a:pPr marL="203200" indent="-203200">
              <a:spcAft>
                <a:spcPts val="10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Un cambio en lo que el API recibe o devuelve empieza en el contrato.</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822960" y="1554480"/>
            <a:ext cx="2743200" cy="914400"/>
          </a:xfrm>
          <a:prstGeom prst="rect">
            <a:avLst/>
          </a:prstGeom>
          <a:noFill/>
          <a:ln/>
        </p:spPr>
        <p:txBody>
          <a:bodyPr wrap="square" lIns="0" tIns="0" rIns="0" bIns="0" rtlCol="0" anchor="b"/>
          <a:lstStyle/>
          <a:p>
            <a:pPr algn="l" indent="0" marL="0">
              <a:buNone/>
            </a:pPr>
            <a:r>
              <a:rPr lang="en-US" sz="5400" b="1" dirty="0">
                <a:solidFill>
                  <a:srgbClr val="FB923C"/>
                </a:solidFill>
                <a:latin typeface="Lexend" pitchFamily="34" charset="0"/>
                <a:ea typeface="Lexend" pitchFamily="34" charset="-122"/>
                <a:cs typeface="Lexend" pitchFamily="34" charset="-120"/>
              </a:rPr>
              <a:t>3</a:t>
            </a:r>
            <a:endParaRPr lang="en-US" sz="5400" dirty="0"/>
          </a:p>
        </p:txBody>
      </p:sp>
      <p:sp>
        <p:nvSpPr>
          <p:cNvPr id="3" name="Text 0"/>
          <p:cNvSpPr/>
          <p:nvPr>
            <p:ph idx="101" type="title" hasCustomPrompt="1"/>
          </p:nvPr>
        </p:nvSpPr>
        <p:spPr>
          <a:xfrm>
            <a:off x="822960" y="2514600"/>
            <a:ext cx="10515600" cy="1097280"/>
          </a:xfrm>
          <a:prstGeom prst="rect">
            <a:avLst/>
          </a:prstGeom>
          <a:noFill/>
          <a:ln/>
        </p:spPr>
        <p:txBody>
          <a:bodyPr wrap="square" lIns="0" tIns="0" rIns="0" bIns="0" rtlCol="0" anchor="t"/>
          <a:lstStyle/>
          <a:p>
            <a:pPr algn="l" indent="0" marL="0">
              <a:buNone/>
            </a:pPr>
            <a:r>
              <a:rPr lang="en-US" sz="4400" b="1" dirty="0">
                <a:solidFill>
                  <a:srgbClr val="FFFFFF"/>
                </a:solidFill>
                <a:latin typeface="Lexend" pitchFamily="34" charset="0"/>
                <a:ea typeface="Lexend" pitchFamily="34" charset="-122"/>
                <a:cs typeface="Lexend" pitchFamily="34" charset="-120"/>
              </a:rPr>
              <a:t>Cómo evaluamos y qué salió</a:t>
            </a:r>
            <a:endParaRPr lang="en-US" sz="4400" dirty="0"/>
          </a:p>
        </p:txBody>
      </p:sp>
      <p:sp>
        <p:nvSpPr>
          <p:cNvPr id="4" name="Text 0"/>
          <p:cNvSpPr/>
          <p:nvPr>
            <p:ph idx="102" type="body" hasCustomPrompt="1"/>
          </p:nvPr>
        </p:nvSpPr>
        <p:spPr>
          <a:xfrm>
            <a:off x="822960" y="3703320"/>
            <a:ext cx="10515600" cy="457200"/>
          </a:xfrm>
          <a:prstGeom prst="rect">
            <a:avLst/>
          </a:prstGeom>
          <a:noFill/>
          <a:ln/>
        </p:spPr>
        <p:txBody>
          <a:bodyPr wrap="square" lIns="0" tIns="0" rIns="0" bIns="0" rtlCol="0"/>
          <a:lstStyle/>
          <a:p>
            <a:pPr algn="l" indent="0" marL="0">
              <a:buNone/>
            </a:pPr>
            <a:r>
              <a:rPr lang="en-US" sz="2000" dirty="0">
                <a:solidFill>
                  <a:srgbClr val="E7E5E4"/>
                </a:solidFill>
                <a:latin typeface="Lexend" pitchFamily="34" charset="0"/>
                <a:ea typeface="Lexend" pitchFamily="34" charset="-122"/>
                <a:cs typeface="Lexend" pitchFamily="34" charset="-120"/>
              </a:rPr>
              <a:t>Alejandro</a:t>
            </a:r>
            <a:endParaRPr lang="en-US" sz="2000" dirty="0"/>
          </a:p>
        </p:txBody>
      </p:sp>
      <p:sp>
        <p:nvSpPr>
          <p:cNvPr id="5" name="Text 0"/>
          <p:cNvSpPr/>
          <p:nvPr>
            <p:ph idx="103" type="body" hasCustomPrompt="1"/>
          </p:nvPr>
        </p:nvSpPr>
        <p:spPr>
          <a:xfrm>
            <a:off x="822960" y="4206240"/>
            <a:ext cx="10058400" cy="457200"/>
          </a:xfrm>
          <a:prstGeom prst="rect">
            <a:avLst/>
          </a:prstGeom>
          <a:noFill/>
          <a:ln/>
        </p:spPr>
        <p:txBody>
          <a:bodyPr wrap="square" lIns="0" tIns="0" rIns="0" bIns="0" rtlCol="0"/>
          <a:lstStyle/>
          <a:p>
            <a:pPr algn="l" indent="0" marL="0">
              <a:buNone/>
            </a:pPr>
            <a:r>
              <a:rPr lang="en-US" sz="1600" dirty="0">
                <a:solidFill>
                  <a:srgbClr val="A8A29E"/>
                </a:solidFill>
                <a:latin typeface="Quattrocento Sans" pitchFamily="34" charset="0"/>
                <a:ea typeface="Quattrocento Sans" pitchFamily="34" charset="-122"/>
                <a:cs typeface="Quattrocento Sans" pitchFamily="34" charset="-120"/>
              </a:rPr>
              <a:t>Seis preguntas, cada una medida contra algo que no es el motor</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Seis preguntas, seis referencias</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Cada una se mide contra algo que no es el motor: una línea de base, el óptimo, una fuente externa o una regla escrita antes</a:t>
            </a:r>
            <a:endParaRPr lang="en-US" sz="1400" dirty="0"/>
          </a:p>
        </p:txBody>
      </p:sp>
      <p:graphicFrame>
        <p:nvGraphicFramePr>
          <p:cNvPr id="13" name="las seis preguntas"/>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5120640"/>
                <a:gridCol w="5971032"/>
              </a:tblGrid>
              <a:tr h="548640">
                <a:tc>
                  <a:txBody>
                    <a:bodyPr/>
                    <a:lstStyle/>
                    <a:p>
                      <a:pPr indent="0" marL="0">
                        <a:buNone/>
                      </a:pPr>
                      <a:r>
                        <a:rPr lang="en-US" sz="1600" b="1" dirty="0">
                          <a:solidFill>
                            <a:srgbClr val="FFFFFF"/>
                          </a:solidFill>
                          <a:latin typeface="Quattrocento Sans" pitchFamily="34" charset="0"/>
                          <a:ea typeface="Quattrocento Sans" pitchFamily="34" charset="-122"/>
                          <a:cs typeface="Quattrocento Sans" pitchFamily="34" charset="-120"/>
                        </a:rPr>
                        <a:t>Pregunta</a:t>
                      </a:r>
                      <a:endParaRPr lang="en-US" sz="16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c>
                  <a:txBody>
                    <a:bodyPr/>
                    <a:lstStyle/>
                    <a:p>
                      <a:pPr indent="0" marL="0">
                        <a:buNone/>
                      </a:pPr>
                      <a:r>
                        <a:rPr lang="en-US" sz="1600" b="1" dirty="0">
                          <a:solidFill>
                            <a:srgbClr val="FFFFFF"/>
                          </a:solidFill>
                          <a:latin typeface="Quattrocento Sans" pitchFamily="34" charset="0"/>
                          <a:ea typeface="Quattrocento Sans" pitchFamily="34" charset="-122"/>
                          <a:cs typeface="Quattrocento Sans" pitchFamily="34" charset="-120"/>
                        </a:rPr>
                        <a:t>Contra qué se mide</a:t>
                      </a:r>
                      <a:endParaRPr lang="en-US" sz="16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r>
              <a:tr h="548640">
                <a:tc>
                  <a:txBody>
                    <a:bodyPr/>
                    <a:lstStyle/>
                    <a:p>
                      <a:pPr algn="l" indent="0" marL="0">
                        <a:buNone/>
                      </a:pPr>
                      <a:r>
                        <a:rPr lang="en-US" sz="1600" b="1" dirty="0">
                          <a:solidFill>
                            <a:srgbClr val="1C1917"/>
                          </a:solidFill>
                          <a:latin typeface="Quattrocento Sans" pitchFamily="34" charset="0"/>
                          <a:ea typeface="Quattrocento Sans" pitchFamily="34" charset="-122"/>
                          <a:cs typeface="Quattrocento Sans" pitchFamily="34" charset="-120"/>
                        </a:rPr>
                        <a:t>¿Propone algo distinto de lo que daría una guía de viajes?</a:t>
                      </a:r>
                      <a:endParaRPr lang="en-US" sz="16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l" indent="0" marL="0">
                        <a:buNone/>
                      </a:pPr>
                      <a:r>
                        <a:rPr lang="en-US" sz="1600" dirty="0">
                          <a:solidFill>
                            <a:srgbClr val="57534E"/>
                          </a:solidFill>
                          <a:latin typeface="Quattrocento Sans" pitchFamily="34" charset="0"/>
                          <a:ea typeface="Quattrocento Sans" pitchFamily="34" charset="-122"/>
                          <a:cs typeface="Quattrocento Sans" pitchFamily="34" charset="-120"/>
                        </a:rPr>
                        <a:t>Una guía por intereses, la línea de base, y una variante del motor, en 40 consultas</a:t>
                      </a:r>
                      <a:endParaRPr lang="en-US" sz="16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548640">
                <a:tc>
                  <a:txBody>
                    <a:bodyPr/>
                    <a:lstStyle/>
                    <a:p>
                      <a:pPr algn="l" indent="0" marL="0">
                        <a:buNone/>
                      </a:pPr>
                      <a:r>
                        <a:rPr lang="en-US" sz="1600" b="1" dirty="0">
                          <a:solidFill>
                            <a:srgbClr val="1C1917"/>
                          </a:solidFill>
                          <a:latin typeface="Quattrocento Sans" pitchFamily="34" charset="0"/>
                          <a:ea typeface="Quattrocento Sans" pitchFamily="34" charset="-122"/>
                          <a:cs typeface="Quattrocento Sans" pitchFamily="34" charset="-120"/>
                        </a:rPr>
                        <a:t>¿El plan de cada viaje junta lo mejor que cabe?</a:t>
                      </a:r>
                      <a:endParaRPr lang="en-US" sz="16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algn="l" indent="0" marL="0">
                        <a:buNone/>
                      </a:pPr>
                      <a:r>
                        <a:rPr lang="en-US" sz="1600" dirty="0">
                          <a:solidFill>
                            <a:srgbClr val="57534E"/>
                          </a:solidFill>
                          <a:latin typeface="Quattrocento Sans" pitchFamily="34" charset="0"/>
                          <a:ea typeface="Quattrocento Sans" pitchFamily="34" charset="-122"/>
                          <a:cs typeface="Quattrocento Sans" pitchFamily="34" charset="-120"/>
                        </a:rPr>
                        <a:t>El óptimo exacto del mismo problema</a:t>
                      </a:r>
                      <a:endParaRPr lang="en-US" sz="16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r h="548640">
                <a:tc>
                  <a:txBody>
                    <a:bodyPr/>
                    <a:lstStyle/>
                    <a:p>
                      <a:pPr algn="l" indent="0" marL="0">
                        <a:buNone/>
                      </a:pPr>
                      <a:r>
                        <a:rPr lang="en-US" sz="1600" b="1" dirty="0">
                          <a:solidFill>
                            <a:srgbClr val="1C1917"/>
                          </a:solidFill>
                          <a:latin typeface="Quattrocento Sans" pitchFamily="34" charset="0"/>
                          <a:ea typeface="Quattrocento Sans" pitchFamily="34" charset="-122"/>
                          <a:cs typeface="Quattrocento Sans" pitchFamily="34" charset="-120"/>
                        </a:rPr>
                        <a:t>¿Los tiempos del plan son creíbles?</a:t>
                      </a:r>
                      <a:endParaRPr lang="en-US" sz="16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l" indent="0" marL="0">
                        <a:buNone/>
                      </a:pPr>
                      <a:r>
                        <a:rPr lang="en-US" sz="1600" dirty="0">
                          <a:solidFill>
                            <a:srgbClr val="57534E"/>
                          </a:solidFill>
                          <a:latin typeface="Quattrocento Sans" pitchFamily="34" charset="0"/>
                          <a:ea typeface="Quattrocento Sans" pitchFamily="34" charset="-122"/>
                          <a:cs typeface="Quattrocento Sans" pitchFamily="34" charset="-120"/>
                        </a:rPr>
                        <a:t>Los tiempos y los kilómetros de Cruz del Sur, en 29 rutas</a:t>
                      </a:r>
                      <a:endParaRPr lang="en-US" sz="16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548640">
                <a:tc>
                  <a:txBody>
                    <a:bodyPr/>
                    <a:lstStyle/>
                    <a:p>
                      <a:pPr algn="l" indent="0" marL="0">
                        <a:buNone/>
                      </a:pPr>
                      <a:r>
                        <a:rPr lang="en-US" sz="1600" b="1" dirty="0">
                          <a:solidFill>
                            <a:srgbClr val="1C1917"/>
                          </a:solidFill>
                          <a:latin typeface="Quattrocento Sans" pitchFamily="34" charset="0"/>
                          <a:ea typeface="Quattrocento Sans" pitchFamily="34" charset="-122"/>
                          <a:cs typeface="Quattrocento Sans" pitchFamily="34" charset="-120"/>
                        </a:rPr>
                        <a:t>¿Los lugares de cada grupo quedan a un día de viaje?</a:t>
                      </a:r>
                      <a:endParaRPr lang="en-US" sz="16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algn="l" indent="0" marL="0">
                        <a:buNone/>
                      </a:pPr>
                      <a:r>
                        <a:rPr lang="en-US" sz="1600" dirty="0">
                          <a:solidFill>
                            <a:srgbClr val="57534E"/>
                          </a:solidFill>
                          <a:latin typeface="Quattrocento Sans" pitchFamily="34" charset="0"/>
                          <a:ea typeface="Quattrocento Sans" pitchFamily="34" charset="-122"/>
                          <a:cs typeface="Quattrocento Sans" pitchFamily="34" charset="-120"/>
                        </a:rPr>
                        <a:t>Las horas de la red vial: TA-01 v2 medida, y una v3</a:t>
                      </a:r>
                      <a:endParaRPr lang="en-US" sz="16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r h="548640">
                <a:tc>
                  <a:txBody>
                    <a:bodyPr/>
                    <a:lstStyle/>
                    <a:p>
                      <a:pPr algn="l" indent="0" marL="0">
                        <a:buNone/>
                      </a:pPr>
                      <a:r>
                        <a:rPr lang="en-US" sz="1600" b="1" dirty="0">
                          <a:solidFill>
                            <a:srgbClr val="1C1917"/>
                          </a:solidFill>
                          <a:latin typeface="Quattrocento Sans" pitchFamily="34" charset="0"/>
                          <a:ea typeface="Quattrocento Sans" pitchFamily="34" charset="-122"/>
                          <a:cs typeface="Quattrocento Sans" pitchFamily="34" charset="-120"/>
                        </a:rPr>
                        <a:t>¿Cada respuesta cumple lo que promete?</a:t>
                      </a:r>
                      <a:endParaRPr lang="en-US" sz="16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l" indent="0" marL="0">
                        <a:buNone/>
                      </a:pPr>
                      <a:r>
                        <a:rPr lang="en-US" sz="1600" dirty="0">
                          <a:solidFill>
                            <a:srgbClr val="57534E"/>
                          </a:solidFill>
                          <a:latin typeface="Quattrocento Sans" pitchFamily="34" charset="0"/>
                          <a:ea typeface="Quattrocento Sans" pitchFamily="34" charset="-122"/>
                          <a:cs typeface="Quattrocento Sans" pitchFamily="34" charset="-120"/>
                        </a:rPr>
                        <a:t>Las catorce propiedades del contrato, en 1 000 consultas al azar</a:t>
                      </a:r>
                      <a:endParaRPr lang="en-US" sz="16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548640">
                <a:tc>
                  <a:txBody>
                    <a:bodyPr/>
                    <a:lstStyle/>
                    <a:p>
                      <a:pPr algn="l" indent="0" marL="0">
                        <a:buNone/>
                      </a:pPr>
                      <a:r>
                        <a:rPr lang="en-US" sz="1600" b="1" dirty="0">
                          <a:solidFill>
                            <a:srgbClr val="1C1917"/>
                          </a:solidFill>
                          <a:latin typeface="Quattrocento Sans" pitchFamily="34" charset="0"/>
                          <a:ea typeface="Quattrocento Sans" pitchFamily="34" charset="-122"/>
                          <a:cs typeface="Quattrocento Sans" pitchFamily="34" charset="-120"/>
                        </a:rPr>
                        <a:t>¿El presupuesto debe dejar fuera lo que no cabe?</a:t>
                      </a:r>
                      <a:endParaRPr lang="en-US" sz="16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algn="l" indent="0" marL="0">
                        <a:buNone/>
                      </a:pPr>
                      <a:r>
                        <a:rPr lang="en-US" sz="1600" dirty="0">
                          <a:solidFill>
                            <a:srgbClr val="57534E"/>
                          </a:solidFill>
                          <a:latin typeface="Quattrocento Sans" pitchFamily="34" charset="0"/>
                          <a:ea typeface="Quattrocento Sans" pitchFamily="34" charset="-122"/>
                          <a:cs typeface="Quattrocento Sans" pitchFamily="34" charset="-120"/>
                        </a:rPr>
                        <a:t>Las mismas consultas con un filtro en el P50 o en el P80</a:t>
                      </a:r>
                      <a:endParaRPr lang="en-US" sz="16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623560"/>
            <a:ext cx="10972800" cy="365760"/>
          </a:xfrm>
          <a:prstGeom prst="rect">
            <a:avLst/>
          </a:prstGeom>
          <a:noFill/>
          <a:ln/>
        </p:spPr>
        <p:txBody>
          <a:bodyPr wrap="square" lIns="0" tIns="0" rIns="0" bIns="0" rtlCol="0" anchor="t"/>
          <a:lstStyle/>
          <a:p>
            <a:pPr indent="0" marL="0">
              <a:buNone/>
            </a:pPr>
            <a:r>
              <a:rPr lang="en-US" sz="1500" b="1" dirty="0">
                <a:solidFill>
                  <a:srgbClr val="0D9488"/>
                </a:solidFill>
                <a:latin typeface="Quattrocento Sans" pitchFamily="34" charset="0"/>
                <a:ea typeface="Quattrocento Sans" pitchFamily="34" charset="-122"/>
                <a:cs typeface="Quattrocento Sans" pitchFamily="34" charset="-120"/>
              </a:rPr>
              <a:t>Cada cifra sale de un script del repositorio, y el informe dice el comando de cada una.</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Las métricas</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Qué mide cada una y por qué esa</a:t>
            </a:r>
            <a:endParaRPr lang="en-US" sz="1400" dirty="0"/>
          </a:p>
        </p:txBody>
      </p:sp>
      <p:graphicFrame>
        <p:nvGraphicFramePr>
          <p:cNvPr id="14" name="las métricas"/>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291840"/>
                <a:gridCol w="7799832"/>
              </a:tblGrid>
              <a:tr h="512064">
                <a:tc>
                  <a:txBody>
                    <a:bodyPr/>
                    <a:lstStyle/>
                    <a:p>
                      <a:pPr indent="0" marL="0">
                        <a:buNone/>
                      </a:pPr>
                      <a:r>
                        <a:rPr lang="en-US" sz="1500" b="1" dirty="0">
                          <a:solidFill>
                            <a:srgbClr val="FFFFFF"/>
                          </a:solidFill>
                          <a:latin typeface="Quattrocento Sans" pitchFamily="34" charset="0"/>
                          <a:ea typeface="Quattrocento Sans" pitchFamily="34" charset="-122"/>
                          <a:cs typeface="Quattrocento Sans" pitchFamily="34" charset="-120"/>
                        </a:rPr>
                        <a:t>Métrica</a:t>
                      </a:r>
                      <a:endParaRPr lang="en-US" sz="15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c>
                  <a:txBody>
                    <a:bodyPr/>
                    <a:lstStyle/>
                    <a:p>
                      <a:pPr indent="0" marL="0">
                        <a:buNone/>
                      </a:pPr>
                      <a:r>
                        <a:rPr lang="en-US" sz="1500" b="1" dirty="0">
                          <a:solidFill>
                            <a:srgbClr val="FFFFFF"/>
                          </a:solidFill>
                          <a:latin typeface="Quattrocento Sans" pitchFamily="34" charset="0"/>
                          <a:ea typeface="Quattrocento Sans" pitchFamily="34" charset="-122"/>
                          <a:cs typeface="Quattrocento Sans" pitchFamily="34" charset="-120"/>
                        </a:rPr>
                        <a:t>Qué dice</a:t>
                      </a:r>
                      <a:endParaRPr lang="en-US" sz="15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r>
              <a:tr h="512064">
                <a:tc>
                  <a:txBody>
                    <a:bodyPr/>
                    <a:lstStyle/>
                    <a:p>
                      <a:pPr algn="l" indent="0" marL="0">
                        <a:buNone/>
                      </a:pPr>
                      <a:r>
                        <a:rPr lang="en-US" sz="1500" b="1" dirty="0">
                          <a:solidFill>
                            <a:srgbClr val="1C1917"/>
                          </a:solidFill>
                          <a:latin typeface="Quattrocento Sans" pitchFamily="34" charset="0"/>
                          <a:ea typeface="Quattrocento Sans" pitchFamily="34" charset="-122"/>
                          <a:cs typeface="Quattrocento Sans" pitchFamily="34" charset="-120"/>
                        </a:rPr>
                        <a:t>Cobertura y novedad</a:t>
                      </a:r>
                      <a:endParaRPr lang="en-US" sz="15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l" indent="0" marL="0">
                        <a:buNone/>
                      </a:pPr>
                      <a:r>
                        <a:rPr lang="en-US" sz="1500" dirty="0">
                          <a:solidFill>
                            <a:srgbClr val="57534E"/>
                          </a:solidFill>
                          <a:latin typeface="Quattrocento Sans" pitchFamily="34" charset="0"/>
                          <a:ea typeface="Quattrocento Sans" pitchFamily="34" charset="-122"/>
                          <a:cs typeface="Quattrocento Sans" pitchFamily="34" charset="-120"/>
                        </a:rPr>
                        <a:t>Cuántas zonas distintas propone cada sistema y cuánto sale del circuito de Lima y el Cusco</a:t>
                      </a:r>
                      <a:endParaRPr lang="en-US" sz="15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512064">
                <a:tc>
                  <a:txBody>
                    <a:bodyPr/>
                    <a:lstStyle/>
                    <a:p>
                      <a:pPr algn="l" indent="0" marL="0">
                        <a:buNone/>
                      </a:pPr>
                      <a:r>
                        <a:rPr lang="en-US" sz="1500" b="1" dirty="0">
                          <a:solidFill>
                            <a:srgbClr val="1C1917"/>
                          </a:solidFill>
                          <a:latin typeface="Quattrocento Sans" pitchFamily="34" charset="0"/>
                          <a:ea typeface="Quattrocento Sans" pitchFamily="34" charset="-122"/>
                          <a:cs typeface="Quattrocento Sans" pitchFamily="34" charset="-120"/>
                        </a:rPr>
                        <a:t>Coincidencia con la guía</a:t>
                      </a:r>
                      <a:endParaRPr lang="en-US" sz="15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algn="l" indent="0" marL="0">
                        <a:buNone/>
                      </a:pPr>
                      <a:r>
                        <a:rPr lang="en-US" sz="1500" dirty="0">
                          <a:solidFill>
                            <a:srgbClr val="57534E"/>
                          </a:solidFill>
                          <a:latin typeface="Quattrocento Sans" pitchFamily="34" charset="0"/>
                          <a:ea typeface="Quattrocento Sans" pitchFamily="34" charset="-122"/>
                          <a:cs typeface="Quattrocento Sans" pitchFamily="34" charset="-120"/>
                        </a:rPr>
                        <a:t>En cuántas propuestas coinciden el motor y la línea de base, consulta por consulta</a:t>
                      </a:r>
                      <a:endParaRPr lang="en-US" sz="15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r h="512064">
                <a:tc>
                  <a:txBody>
                    <a:bodyPr/>
                    <a:lstStyle/>
                    <a:p>
                      <a:pPr algn="l" indent="0" marL="0">
                        <a:buNone/>
                      </a:pPr>
                      <a:r>
                        <a:rPr lang="en-US" sz="1500" b="1" dirty="0">
                          <a:solidFill>
                            <a:srgbClr val="1C1917"/>
                          </a:solidFill>
                          <a:latin typeface="Quattrocento Sans" pitchFamily="34" charset="0"/>
                          <a:ea typeface="Quattrocento Sans" pitchFamily="34" charset="-122"/>
                          <a:cs typeface="Quattrocento Sans" pitchFamily="34" charset="-120"/>
                        </a:rPr>
                        <a:t>Brecha contra el óptimo</a:t>
                      </a:r>
                      <a:endParaRPr lang="en-US" sz="15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l" indent="0" marL="0">
                        <a:buNone/>
                      </a:pPr>
                      <a:r>
                        <a:rPr lang="en-US" sz="1500" dirty="0">
                          <a:solidFill>
                            <a:srgbClr val="57534E"/>
                          </a:solidFill>
                          <a:latin typeface="Quattrocento Sans" pitchFamily="34" charset="0"/>
                          <a:ea typeface="Quattrocento Sans" pitchFamily="34" charset="-122"/>
                          <a:cs typeface="Quattrocento Sans" pitchFamily="34" charset="-120"/>
                        </a:rPr>
                        <a:t>Cuánto valor deja la heurística frente al mejor itinerario con las mismas reglas</a:t>
                      </a:r>
                      <a:endParaRPr lang="en-US" sz="15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512064">
                <a:tc>
                  <a:txBody>
                    <a:bodyPr/>
                    <a:lstStyle/>
                    <a:p>
                      <a:pPr algn="l" indent="0" marL="0">
                        <a:buNone/>
                      </a:pPr>
                      <a:r>
                        <a:rPr lang="en-US" sz="1500" b="1" dirty="0">
                          <a:solidFill>
                            <a:srgbClr val="1C1917"/>
                          </a:solidFill>
                          <a:latin typeface="Quattrocento Sans" pitchFamily="34" charset="0"/>
                          <a:ea typeface="Quattrocento Sans" pitchFamily="34" charset="-122"/>
                          <a:cs typeface="Quattrocento Sans" pitchFamily="34" charset="-120"/>
                        </a:rPr>
                        <a:t>Razón contra los buses</a:t>
                      </a:r>
                      <a:endParaRPr lang="en-US" sz="15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algn="l" indent="0" marL="0">
                        <a:buNone/>
                      </a:pPr>
                      <a:r>
                        <a:rPr lang="en-US" sz="1500" dirty="0">
                          <a:solidFill>
                            <a:srgbClr val="57534E"/>
                          </a:solidFill>
                          <a:latin typeface="Quattrocento Sans" pitchFamily="34" charset="0"/>
                          <a:ea typeface="Quattrocento Sans" pitchFamily="34" charset="-122"/>
                          <a:cs typeface="Quattrocento Sans" pitchFamily="34" charset="-120"/>
                        </a:rPr>
                        <a:t>El tiempo y los kilómetros del motor sobre los de la empresa, y si caen en su rango</a:t>
                      </a:r>
                      <a:endParaRPr lang="en-US" sz="15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r h="512064">
                <a:tc>
                  <a:txBody>
                    <a:bodyPr/>
                    <a:lstStyle/>
                    <a:p>
                      <a:pPr algn="l" indent="0" marL="0">
                        <a:buNone/>
                      </a:pPr>
                      <a:r>
                        <a:rPr lang="en-US" sz="1500" b="1" dirty="0">
                          <a:solidFill>
                            <a:srgbClr val="1C1917"/>
                          </a:solidFill>
                          <a:latin typeface="Quattrocento Sans" pitchFamily="34" charset="0"/>
                          <a:ea typeface="Quattrocento Sans" pitchFamily="34" charset="-122"/>
                          <a:cs typeface="Quattrocento Sans" pitchFamily="34" charset="-120"/>
                        </a:rPr>
                        <a:t>Diámetro en horas</a:t>
                      </a:r>
                      <a:endParaRPr lang="en-US" sz="15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l" indent="0" marL="0">
                        <a:buNone/>
                      </a:pPr>
                      <a:r>
                        <a:rPr lang="en-US" sz="1500" dirty="0">
                          <a:solidFill>
                            <a:srgbClr val="57534E"/>
                          </a:solidFill>
                          <a:latin typeface="Quattrocento Sans" pitchFamily="34" charset="0"/>
                          <a:ea typeface="Quattrocento Sans" pitchFamily="34" charset="-122"/>
                          <a:cs typeface="Quattrocento Sans" pitchFamily="34" charset="-120"/>
                        </a:rPr>
                        <a:t>El viaje más largo entre dos lugares de un mismo grupo, de puerta a puerta por la red</a:t>
                      </a:r>
                      <a:endParaRPr lang="en-US" sz="15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512064">
                <a:tc>
                  <a:txBody>
                    <a:bodyPr/>
                    <a:lstStyle/>
                    <a:p>
                      <a:pPr algn="l" indent="0" marL="0">
                        <a:buNone/>
                      </a:pPr>
                      <a:r>
                        <a:rPr lang="en-US" sz="1500" b="1" dirty="0">
                          <a:solidFill>
                            <a:srgbClr val="1C1917"/>
                          </a:solidFill>
                          <a:latin typeface="Quattrocento Sans" pitchFamily="34" charset="0"/>
                          <a:ea typeface="Quattrocento Sans" pitchFamily="34" charset="-122"/>
                          <a:cs typeface="Quattrocento Sans" pitchFamily="34" charset="-120"/>
                        </a:rPr>
                        <a:t>Garantías del contrato</a:t>
                      </a:r>
                      <a:endParaRPr lang="en-US" sz="15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algn="l" indent="0" marL="0">
                        <a:buNone/>
                      </a:pPr>
                      <a:r>
                        <a:rPr lang="en-US" sz="1500" dirty="0">
                          <a:solidFill>
                            <a:srgbClr val="57534E"/>
                          </a:solidFill>
                          <a:latin typeface="Quattrocento Sans" pitchFamily="34" charset="0"/>
                          <a:ea typeface="Quattrocento Sans" pitchFamily="34" charset="-122"/>
                          <a:cs typeface="Quattrocento Sans" pitchFamily="34" charset="-120"/>
                        </a:rPr>
                        <a:t>Si cada respuesta cumple las catorce propiedades, en consultas generadas al azar</a:t>
                      </a:r>
                      <a:endParaRPr lang="en-US" sz="15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r h="512064">
                <a:tc>
                  <a:txBody>
                    <a:bodyPr/>
                    <a:lstStyle/>
                    <a:p>
                      <a:pPr algn="l" indent="0" marL="0">
                        <a:buNone/>
                      </a:pPr>
                      <a:r>
                        <a:rPr lang="en-US" sz="1500" b="1" dirty="0">
                          <a:solidFill>
                            <a:srgbClr val="1C1917"/>
                          </a:solidFill>
                          <a:latin typeface="Quattrocento Sans" pitchFamily="34" charset="0"/>
                          <a:ea typeface="Quattrocento Sans" pitchFamily="34" charset="-122"/>
                          <a:cs typeface="Quattrocento Sans" pitchFamily="34" charset="-120"/>
                        </a:rPr>
                        <a:t>Consultas sin viaje</a:t>
                      </a:r>
                      <a:endParaRPr lang="en-US" sz="15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l" indent="0" marL="0">
                        <a:buNone/>
                      </a:pPr>
                      <a:r>
                        <a:rPr lang="en-US" sz="1500" dirty="0">
                          <a:solidFill>
                            <a:srgbClr val="57534E"/>
                          </a:solidFill>
                          <a:latin typeface="Quattrocento Sans" pitchFamily="34" charset="0"/>
                          <a:ea typeface="Quattrocento Sans" pitchFamily="34" charset="-122"/>
                          <a:cs typeface="Quattrocento Sans" pitchFamily="34" charset="-120"/>
                        </a:rPr>
                        <a:t>Con cada filtro de presupuesto, cuántas consultas se quedan sin nada que mostrar</a:t>
                      </a:r>
                      <a:endParaRPr lang="en-US" sz="15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El motor frente a una guía de viajes</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40 consultas escritas a mano y tres sistemas que proponen hasta tres zonas cada uno</a:t>
            </a:r>
            <a:endParaRPr lang="en-US" sz="1400" dirty="0"/>
          </a:p>
        </p:txBody>
      </p:sp>
      <p:sp>
        <p:nvSpPr>
          <p:cNvPr id="4" name="Text 2"/>
          <p:cNvSpPr txBox="1"/>
          <p:nvPr/>
        </p:nvSpPr>
        <p:spPr>
          <a:xfrm>
            <a:off x="548640" y="1554480"/>
            <a:ext cx="6309360" cy="4480560"/>
          </a:xfrm>
          <a:prstGeom prst="rect">
            <a:avLst/>
          </a:prstGeom>
          <a:noFill/>
          <a:ln/>
        </p:spPr>
        <p:txBody>
          <a:bodyPr wrap="square" lIns="0" tIns="0" rIns="0" bIns="0" rtlCol="0" anchor="t"/>
          <a:lstStyle/>
          <a:p>
            <a:pPr indent="0" marL="0">
              <a:buNone/>
            </a:pPr>
            <a:r>
              <a:rPr lang="en-US" sz="1400" b="1" dirty="0">
                <a:solidFill>
                  <a:srgbClr val="1C1917"/>
                </a:solidFill>
                <a:latin typeface="Quattrocento Sans" pitchFamily="34" charset="0"/>
                <a:ea typeface="Quattrocento Sans" pitchFamily="34" charset="-122"/>
                <a:cs typeface="Quattrocento Sans" pitchFamily="34" charset="-120"/>
              </a:rPr>
              <a:t>40 personas con un viaje en mente, </a:t>
            </a:r>
            <a:pPr indent="0" marL="0">
              <a:spcAft>
                <a:spcPts val="1200"/>
              </a:spcAft>
              <a:buNone/>
            </a:pPr>
            <a:r>
              <a:rPr lang="en-US" sz="1400" dirty="0">
                <a:solidFill>
                  <a:srgbClr val="57534E"/>
                </a:solidFill>
                <a:latin typeface="Quattrocento Sans" pitchFamily="34" charset="0"/>
                <a:ea typeface="Quattrocento Sans" pitchFamily="34" charset="-122"/>
                <a:cs typeface="Quattrocento Sans" pitchFamily="34" charset="-120"/>
              </a:rPr>
              <a:t>escritas para cubrir el producto: 15 orígenes, de 2 a 10 días, los doce meses, cada interés, presupuesto, altura máxima, «Solo por tierra», «Sorpréndeme» y dos fechas.</a:t>
            </a:r>
            <a:endParaRPr lang="en-US" sz="1400" dirty="0"/>
          </a:p>
          <a:p>
            <a:pPr indent="0" marL="0">
              <a:buNone/>
            </a:pPr>
            <a:r>
              <a:rPr lang="en-US" sz="1400" b="1" dirty="0">
                <a:solidFill>
                  <a:srgbClr val="1C1917"/>
                </a:solidFill>
                <a:latin typeface="Quattrocento Sans" pitchFamily="34" charset="0"/>
                <a:ea typeface="Quattrocento Sans" pitchFamily="34" charset="-122"/>
                <a:cs typeface="Quattrocento Sans" pitchFamily="34" charset="-120"/>
              </a:rPr>
              <a:t>La guía es la línea de base: </a:t>
            </a:r>
            <a:pPr indent="0" marL="0">
              <a:spcAft>
                <a:spcPts val="1200"/>
              </a:spcAft>
              <a:buNone/>
            </a:pPr>
            <a:r>
              <a:rPr lang="en-US" sz="1400" dirty="0">
                <a:solidFill>
                  <a:srgbClr val="57534E"/>
                </a:solidFill>
                <a:latin typeface="Quattrocento Sans" pitchFamily="34" charset="0"/>
                <a:ea typeface="Quattrocento Sans" pitchFamily="34" charset="-122"/>
                <a:cs typeface="Quattrocento Sans" pitchFamily="34" charset="-120"/>
              </a:rPr>
              <a:t>las tres zonas más conocidas por lo que se pidió, entre las que caben con las reglas del motor, sin mirar el mes, el presupuesto ni lo poco visitado.</a:t>
            </a:r>
            <a:endParaRPr lang="en-US" sz="1400" dirty="0"/>
          </a:p>
          <a:p>
            <a:pPr indent="0" marL="0">
              <a:buNone/>
            </a:pPr>
            <a:r>
              <a:rPr lang="en-US" sz="1400" b="1" dirty="0">
                <a:solidFill>
                  <a:srgbClr val="1C1917"/>
                </a:solidFill>
                <a:latin typeface="Quattrocento Sans" pitchFamily="34" charset="0"/>
                <a:ea typeface="Quattrocento Sans" pitchFamily="34" charset="-122"/>
                <a:cs typeface="Quattrocento Sans" pitchFamily="34" charset="-120"/>
              </a:rPr>
              <a:t>La variante </a:t>
            </a:r>
            <a:pPr indent="0" marL="0">
              <a:spcAft>
                <a:spcPts val="1200"/>
              </a:spcAft>
              <a:buNone/>
            </a:pPr>
            <a:r>
              <a:rPr lang="en-US" sz="1400" dirty="0">
                <a:solidFill>
                  <a:srgbClr val="57534E"/>
                </a:solidFill>
                <a:latin typeface="Quattrocento Sans" pitchFamily="34" charset="0"/>
                <a:ea typeface="Quattrocento Sans" pitchFamily="34" charset="-122"/>
                <a:cs typeface="Quattrocento Sans" pitchFamily="34" charset="-120"/>
              </a:rPr>
              <a:t>es el motor con la décima parte, y no la cuarta, para lo que no se pidió. No está desplegada.</a:t>
            </a:r>
            <a:endParaRPr lang="en-US" sz="1400" dirty="0"/>
          </a:p>
          <a:p>
            <a:pPr indent="0" marL="0">
              <a:buNone/>
            </a:pPr>
            <a:r>
              <a:rPr lang="en-US" sz="1400" b="1" dirty="0">
                <a:solidFill>
                  <a:srgbClr val="1C1917"/>
                </a:solidFill>
                <a:latin typeface="Quattrocento Sans" pitchFamily="34" charset="0"/>
                <a:ea typeface="Quattrocento Sans" pitchFamily="34" charset="-122"/>
                <a:cs typeface="Quattrocento Sans" pitchFamily="34" charset="-120"/>
              </a:rPr>
              <a:t>El motor no repite a la guía: </a:t>
            </a:r>
            <a:pPr indent="0" marL="0">
              <a:spcAft>
                <a:spcPts val="1200"/>
              </a:spcAft>
              <a:buNone/>
            </a:pPr>
            <a:r>
              <a:rPr lang="en-US" sz="1400" dirty="0">
                <a:solidFill>
                  <a:srgbClr val="57534E"/>
                </a:solidFill>
                <a:latin typeface="Quattrocento Sans" pitchFamily="34" charset="0"/>
                <a:ea typeface="Quattrocento Sans" pitchFamily="34" charset="-122"/>
                <a:cs typeface="Quattrocento Sans" pitchFamily="34" charset="-120"/>
              </a:rPr>
              <a:t>coinciden en 60 de sus 120 propuestas, y solo en 2 de las 40 consultas proponen las mismas tres zonas.</a:t>
            </a:r>
            <a:endParaRPr lang="en-US" sz="1400" dirty="0"/>
          </a:p>
        </p:txBody>
      </p:sp>
      <p:sp>
        <p:nvSpPr>
          <p:cNvPr id="5" name="cobertura"/>
          <p:cNvSpPr/>
          <p:nvPr/>
        </p:nvSpPr>
        <p:spPr>
          <a:xfrm>
            <a:off x="7223760" y="1508760"/>
            <a:ext cx="4416552" cy="3657600"/>
          </a:xfrm>
          <a:prstGeom prst="roundRect">
            <a:avLst>
              <a:gd name="adj" fmla="val 3000"/>
            </a:avLst>
          </a:prstGeom>
          <a:solidFill>
            <a:srgbClr val="F5F5F4"/>
          </a:solidFill>
          <a:ln w="12700">
            <a:solidFill>
              <a:srgbClr val="E7E5E4"/>
            </a:solidFill>
            <a:prstDash val="solid"/>
          </a:ln>
        </p:spPr>
      </p:sp>
      <p:sp>
        <p:nvSpPr>
          <p:cNvPr id="6" name="Text 4"/>
          <p:cNvSpPr txBox="1"/>
          <p:nvPr/>
        </p:nvSpPr>
        <p:spPr>
          <a:xfrm>
            <a:off x="7498080" y="1737360"/>
            <a:ext cx="3931920" cy="411480"/>
          </a:xfrm>
          <a:prstGeom prst="rect">
            <a:avLst/>
          </a:prstGeom>
          <a:noFill/>
          <a:ln/>
        </p:spPr>
        <p:txBody>
          <a:bodyPr wrap="square" lIns="0" tIns="0" rIns="0" bIns="0" rtlCol="0" anchor="t"/>
          <a:lstStyle/>
          <a:p>
            <a:pPr indent="0" marL="0">
              <a:buNone/>
            </a:pPr>
            <a:r>
              <a:rPr lang="en-US" sz="1600" b="1" dirty="0">
                <a:solidFill>
                  <a:srgbClr val="1C1917"/>
                </a:solidFill>
                <a:latin typeface="Lexend" pitchFamily="34" charset="0"/>
                <a:ea typeface="Lexend" pitchFamily="34" charset="-122"/>
                <a:cs typeface="Lexend" pitchFamily="34" charset="-120"/>
              </a:rPr>
              <a:t>Qué zonas propone cada uno</a:t>
            </a:r>
            <a:endParaRPr lang="en-US" sz="1600" dirty="0"/>
          </a:p>
        </p:txBody>
      </p:sp>
      <p:graphicFrame>
        <p:nvGraphicFramePr>
          <p:cNvPr id="15" name="cobertura y novedad"/>
          <p:cNvGraphicFramePr>
            <a:graphicFrameLocks noGrp="1"/>
          </p:cNvGraphicFramePr>
          <p:nvPr>
            <p:extLst>
              <p:ext uri="{D42A27DB-BD31-4B8C-83A1-F6EECF244321}">
                <p14:modId xmlns:p14="http://schemas.microsoft.com/office/powerpoint/2010/main" val="1579011935"/>
              </p:ext>
            </p:extLst>
          </p:nvPr>
        </p:nvGraphicFramePr>
        <p:xfrm>
          <a:off x="7452360" y="2286000"/>
          <a:ext cx="3977640" cy="914400"/>
        </p:xfrm>
        <a:graphic>
          <a:graphicData uri="http://schemas.openxmlformats.org/drawingml/2006/table">
            <a:tbl>
              <a:tblPr/>
              <a:tblGrid>
                <a:gridCol w="1508760"/>
                <a:gridCol w="822960"/>
                <a:gridCol w="822960"/>
                <a:gridCol w="822960"/>
              </a:tblGrid>
              <a:tr h="0">
                <a:tc>
                  <a:txBody>
                    <a:bodyPr/>
                    <a:lstStyle/>
                    <a:p>
                      <a:pPr indent="0" marL="0">
                        <a:buNone/>
                      </a:pPr>
                      <a:endParaRPr lang="en-US" sz="12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c>
                  <a:txBody>
                    <a:bodyPr/>
                    <a:lstStyle/>
                    <a:p>
                      <a:pPr indent="0" marL="0">
                        <a:buNone/>
                      </a:pPr>
                      <a:r>
                        <a:rPr lang="en-US" sz="1200" b="1" dirty="0">
                          <a:solidFill>
                            <a:srgbClr val="FFFFFF"/>
                          </a:solidFill>
                          <a:latin typeface="Quattrocento Sans" pitchFamily="34" charset="0"/>
                          <a:ea typeface="Quattrocento Sans" pitchFamily="34" charset="-122"/>
                          <a:cs typeface="Quattrocento Sans" pitchFamily="34" charset="-120"/>
                        </a:rPr>
                        <a:t>Motor</a:t>
                      </a:r>
                      <a:endParaRPr lang="en-US" sz="12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c>
                  <a:txBody>
                    <a:bodyPr/>
                    <a:lstStyle/>
                    <a:p>
                      <a:pPr indent="0" marL="0">
                        <a:buNone/>
                      </a:pPr>
                      <a:r>
                        <a:rPr lang="en-US" sz="1200" b="1" dirty="0">
                          <a:solidFill>
                            <a:srgbClr val="FFFFFF"/>
                          </a:solidFill>
                          <a:latin typeface="Quattrocento Sans" pitchFamily="34" charset="0"/>
                          <a:ea typeface="Quattrocento Sans" pitchFamily="34" charset="-122"/>
                          <a:cs typeface="Quattrocento Sans" pitchFamily="34" charset="-120"/>
                        </a:rPr>
                        <a:t>Guía</a:t>
                      </a:r>
                      <a:endParaRPr lang="en-US" sz="12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c>
                  <a:txBody>
                    <a:bodyPr/>
                    <a:lstStyle/>
                    <a:p>
                      <a:pPr indent="0" marL="0">
                        <a:buNone/>
                      </a:pPr>
                      <a:r>
                        <a:rPr lang="en-US" sz="1200" b="1" dirty="0">
                          <a:solidFill>
                            <a:srgbClr val="FFFFFF"/>
                          </a:solidFill>
                          <a:latin typeface="Quattrocento Sans" pitchFamily="34" charset="0"/>
                          <a:ea typeface="Quattrocento Sans" pitchFamily="34" charset="-122"/>
                          <a:cs typeface="Quattrocento Sans" pitchFamily="34" charset="-120"/>
                        </a:rPr>
                        <a:t>Variante</a:t>
                      </a:r>
                      <a:endParaRPr lang="en-US" sz="12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r>
              <a:tr h="0">
                <a:tc>
                  <a:txBody>
                    <a:bodyPr/>
                    <a:lstStyle/>
                    <a:p>
                      <a:pPr algn="l" indent="0" marL="0">
                        <a:buNone/>
                      </a:pPr>
                      <a:r>
                        <a:rPr lang="en-US" sz="1200" b="1" dirty="0">
                          <a:solidFill>
                            <a:srgbClr val="1C1917"/>
                          </a:solidFill>
                          <a:latin typeface="Quattrocento Sans" pitchFamily="34" charset="0"/>
                          <a:ea typeface="Quattrocento Sans" pitchFamily="34" charset="-122"/>
                          <a:cs typeface="Quattrocento Sans" pitchFamily="34" charset="-120"/>
                        </a:rPr>
                        <a:t>Zonas distintas, de 194</a:t>
                      </a:r>
                      <a:endParaRPr lang="en-US" sz="12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ctr" indent="0" marL="0">
                        <a:buNone/>
                      </a:pPr>
                      <a:r>
                        <a:rPr lang="en-US" sz="1200" dirty="0">
                          <a:solidFill>
                            <a:srgbClr val="57534E"/>
                          </a:solidFill>
                          <a:latin typeface="Quattrocento Sans" pitchFamily="34" charset="0"/>
                          <a:ea typeface="Quattrocento Sans" pitchFamily="34" charset="-122"/>
                          <a:cs typeface="Quattrocento Sans" pitchFamily="34" charset="-120"/>
                        </a:rPr>
                        <a:t>30</a:t>
                      </a:r>
                      <a:endParaRPr lang="en-US" sz="12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ctr" indent="0" marL="0">
                        <a:buNone/>
                      </a:pPr>
                      <a:r>
                        <a:rPr lang="en-US" sz="1200" dirty="0">
                          <a:solidFill>
                            <a:srgbClr val="57534E"/>
                          </a:solidFill>
                          <a:latin typeface="Quattrocento Sans" pitchFamily="34" charset="0"/>
                          <a:ea typeface="Quattrocento Sans" pitchFamily="34" charset="-122"/>
                          <a:cs typeface="Quattrocento Sans" pitchFamily="34" charset="-120"/>
                        </a:rPr>
                        <a:t>35</a:t>
                      </a:r>
                      <a:endParaRPr lang="en-US" sz="12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ctr" indent="0" marL="0">
                        <a:buNone/>
                      </a:pPr>
                      <a:r>
                        <a:rPr lang="en-US" sz="1200" dirty="0">
                          <a:solidFill>
                            <a:srgbClr val="57534E"/>
                          </a:solidFill>
                          <a:latin typeface="Quattrocento Sans" pitchFamily="34" charset="0"/>
                          <a:ea typeface="Quattrocento Sans" pitchFamily="34" charset="-122"/>
                          <a:cs typeface="Quattrocento Sans" pitchFamily="34" charset="-120"/>
                        </a:rPr>
                        <a:t>33</a:t>
                      </a:r>
                      <a:endParaRPr lang="en-US" sz="12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0">
                <a:tc>
                  <a:txBody>
                    <a:bodyPr/>
                    <a:lstStyle/>
                    <a:p>
                      <a:pPr algn="l" indent="0" marL="0">
                        <a:buNone/>
                      </a:pPr>
                      <a:r>
                        <a:rPr lang="en-US" sz="1200" b="1" dirty="0">
                          <a:solidFill>
                            <a:srgbClr val="1C1917"/>
                          </a:solidFill>
                          <a:latin typeface="Quattrocento Sans" pitchFamily="34" charset="0"/>
                          <a:ea typeface="Quattrocento Sans" pitchFamily="34" charset="-122"/>
                          <a:cs typeface="Quattrocento Sans" pitchFamily="34" charset="-120"/>
                        </a:rPr>
                        <a:t>Fuera de Lima y el Cusco</a:t>
                      </a:r>
                      <a:endParaRPr lang="en-US" sz="12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7534E"/>
                          </a:solidFill>
                          <a:latin typeface="Quattrocento Sans" pitchFamily="34" charset="0"/>
                          <a:ea typeface="Quattrocento Sans" pitchFamily="34" charset="-122"/>
                          <a:cs typeface="Quattrocento Sans" pitchFamily="34" charset="-120"/>
                        </a:rPr>
                        <a:t>75 %</a:t>
                      </a:r>
                      <a:endParaRPr lang="en-US" sz="12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7534E"/>
                          </a:solidFill>
                          <a:latin typeface="Quattrocento Sans" pitchFamily="34" charset="0"/>
                          <a:ea typeface="Quattrocento Sans" pitchFamily="34" charset="-122"/>
                          <a:cs typeface="Quattrocento Sans" pitchFamily="34" charset="-120"/>
                        </a:rPr>
                        <a:t>58 %</a:t>
                      </a:r>
                      <a:endParaRPr lang="en-US" sz="12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7534E"/>
                          </a:solidFill>
                          <a:latin typeface="Quattrocento Sans" pitchFamily="34" charset="0"/>
                          <a:ea typeface="Quattrocento Sans" pitchFamily="34" charset="-122"/>
                          <a:cs typeface="Quattrocento Sans" pitchFamily="34" charset="-120"/>
                        </a:rPr>
                        <a:t>74 %</a:t>
                      </a:r>
                      <a:endParaRPr lang="en-US" sz="12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r h="0">
                <a:tc>
                  <a:txBody>
                    <a:bodyPr/>
                    <a:lstStyle/>
                    <a:p>
                      <a:pPr algn="l" indent="0" marL="0">
                        <a:buNone/>
                      </a:pPr>
                      <a:r>
                        <a:rPr lang="en-US" sz="1200" b="1" dirty="0">
                          <a:solidFill>
                            <a:srgbClr val="1C1917"/>
                          </a:solidFill>
                          <a:latin typeface="Quattrocento Sans" pitchFamily="34" charset="0"/>
                          <a:ea typeface="Quattrocento Sans" pitchFamily="34" charset="-122"/>
                          <a:cs typeface="Quattrocento Sans" pitchFamily="34" charset="-120"/>
                        </a:rPr>
                        <a:t>Novedad media</a:t>
                      </a:r>
                      <a:endParaRPr lang="en-US" sz="12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ctr" indent="0" marL="0">
                        <a:buNone/>
                      </a:pPr>
                      <a:r>
                        <a:rPr lang="en-US" sz="1200" dirty="0">
                          <a:solidFill>
                            <a:srgbClr val="57534E"/>
                          </a:solidFill>
                          <a:latin typeface="Quattrocento Sans" pitchFamily="34" charset="0"/>
                          <a:ea typeface="Quattrocento Sans" pitchFamily="34" charset="-122"/>
                          <a:cs typeface="Quattrocento Sans" pitchFamily="34" charset="-120"/>
                        </a:rPr>
                        <a:t>0,41</a:t>
                      </a:r>
                      <a:endParaRPr lang="en-US" sz="12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ctr" indent="0" marL="0">
                        <a:buNone/>
                      </a:pPr>
                      <a:r>
                        <a:rPr lang="en-US" sz="1200" dirty="0">
                          <a:solidFill>
                            <a:srgbClr val="57534E"/>
                          </a:solidFill>
                          <a:latin typeface="Quattrocento Sans" pitchFamily="34" charset="0"/>
                          <a:ea typeface="Quattrocento Sans" pitchFamily="34" charset="-122"/>
                          <a:cs typeface="Quattrocento Sans" pitchFamily="34" charset="-120"/>
                        </a:rPr>
                        <a:t>0,36</a:t>
                      </a:r>
                      <a:endParaRPr lang="en-US" sz="12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ctr" indent="0" marL="0">
                        <a:buNone/>
                      </a:pPr>
                      <a:r>
                        <a:rPr lang="en-US" sz="1200" dirty="0">
                          <a:solidFill>
                            <a:srgbClr val="57534E"/>
                          </a:solidFill>
                          <a:latin typeface="Quattrocento Sans" pitchFamily="34" charset="0"/>
                          <a:ea typeface="Quattrocento Sans" pitchFamily="34" charset="-122"/>
                          <a:cs typeface="Quattrocento Sans" pitchFamily="34" charset="-120"/>
                        </a:rPr>
                        <a:t>0,41</a:t>
                      </a:r>
                      <a:endParaRPr lang="en-US" sz="12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bl>
          </a:graphicData>
        </a:graphic>
      </p:graphicFrame>
      <p:sp>
        <p:nvSpPr>
          <p:cNvPr id="8" name="Text 5"/>
          <p:cNvSpPr txBox="1"/>
          <p:nvPr/>
        </p:nvSpPr>
        <p:spPr>
          <a:xfrm>
            <a:off x="7498080" y="4160520"/>
            <a:ext cx="3931920" cy="1463040"/>
          </a:xfrm>
          <a:prstGeom prst="rect">
            <a:avLst/>
          </a:prstGeom>
          <a:noFill/>
          <a:ln/>
        </p:spPr>
        <p:txBody>
          <a:bodyPr wrap="square" lIns="0" tIns="0" rIns="0" bIns="0" rtlCol="0" anchor="t"/>
          <a:lstStyle/>
          <a:p>
            <a:pPr indent="0" marL="0">
              <a:buNone/>
            </a:pPr>
            <a:r>
              <a:rPr lang="en-US" sz="1350" dirty="0">
                <a:solidFill>
                  <a:srgbClr val="57534E"/>
                </a:solidFill>
                <a:latin typeface="Quattrocento Sans" pitchFamily="34" charset="0"/>
                <a:ea typeface="Quattrocento Sans" pitchFamily="34" charset="-122"/>
                <a:cs typeface="Quattrocento Sans" pitchFamily="34" charset="-120"/>
              </a:rPr>
              <a:t>El motor reparte menos zonas que la guía, pero lleva más viajes fuera del circuito. La variante cambia una zona en 10 de las 40 consultas.</a:t>
            </a:r>
            <a:endParaRPr lang="en-US"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Los grupos de lugares, con las horas de la red</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TA-01 v2 prometía 3,9 horas de punta a punta con una fórmula que nunca se contrastó; con la red vial, lo medimos</a:t>
            </a:r>
            <a:endParaRPr lang="en-US" sz="1400" dirty="0"/>
          </a:p>
        </p:txBody>
      </p:sp>
      <p:graphicFrame>
        <p:nvGraphicFramePr>
          <p:cNvPr id="4" name="Chart 0" descr=""/>
          <p:cNvGraphicFramePr/>
          <p:nvPr/>
        </p:nvGraphicFramePr>
        <p:xfrm>
          <a:off x="548640" y="1463040"/>
          <a:ext cx="630936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315200" y="1417320"/>
            <a:ext cx="4297680" cy="868680"/>
          </a:xfrm>
          <a:prstGeom prst="rect">
            <a:avLst/>
          </a:prstGeom>
          <a:noFill/>
          <a:ln/>
        </p:spPr>
        <p:txBody>
          <a:bodyPr wrap="square" lIns="0" tIns="0" rIns="0" bIns="0" rtlCol="0" anchor="b"/>
          <a:lstStyle/>
          <a:p>
            <a:pPr indent="0" marL="0">
              <a:buNone/>
            </a:pPr>
            <a:r>
              <a:rPr lang="en-US" sz="4400" b="1" dirty="0">
                <a:solidFill>
                  <a:srgbClr val="C2410C"/>
                </a:solidFill>
                <a:latin typeface="Lexend" pitchFamily="34" charset="0"/>
                <a:ea typeface="Lexend" pitchFamily="34" charset="-122"/>
                <a:cs typeface="Lexend" pitchFamily="34" charset="-120"/>
              </a:rPr>
              <a:t>82 de 222</a:t>
            </a:r>
            <a:endParaRPr lang="en-US" sz="4400" dirty="0"/>
          </a:p>
        </p:txBody>
      </p:sp>
      <p:sp>
        <p:nvSpPr>
          <p:cNvPr id="6" name="Text 3"/>
          <p:cNvSpPr txBox="1"/>
          <p:nvPr/>
        </p:nvSpPr>
        <p:spPr>
          <a:xfrm>
            <a:off x="7315200" y="2331720"/>
            <a:ext cx="4297680" cy="685800"/>
          </a:xfrm>
          <a:prstGeom prst="rect">
            <a:avLst/>
          </a:prstGeom>
          <a:noFill/>
          <a:ln/>
        </p:spPr>
        <p:txBody>
          <a:bodyPr wrap="square" lIns="0" tIns="0" rIns="0" bIns="0" rtlCol="0" anchor="t"/>
          <a:lstStyle/>
          <a:p>
            <a:pPr indent="0" marL="0">
              <a:buNone/>
            </a:pPr>
            <a:r>
              <a:rPr lang="en-US" sz="1400" dirty="0">
                <a:solidFill>
                  <a:srgbClr val="57534E"/>
                </a:solidFill>
                <a:latin typeface="Quattrocento Sans" pitchFamily="34" charset="0"/>
                <a:ea typeface="Quattrocento Sans" pitchFamily="34" charset="-122"/>
                <a:cs typeface="Quattrocento Sans" pitchFamily="34" charset="-120"/>
              </a:rPr>
              <a:t>grupos de la v2 pasan de 4 horas de punta a punta; el de Cajatambo, 9,8</a:t>
            </a:r>
            <a:endParaRPr lang="en-US" sz="1400" dirty="0"/>
          </a:p>
        </p:txBody>
      </p:sp>
      <p:graphicFrame>
        <p:nvGraphicFramePr>
          <p:cNvPr id="16" name="v2 y v3"/>
          <p:cNvGraphicFramePr>
            <a:graphicFrameLocks noGrp="1"/>
          </p:cNvGraphicFramePr>
          <p:nvPr>
            <p:extLst>
              <p:ext uri="{D42A27DB-BD31-4B8C-83A1-F6EECF244321}">
                <p14:modId xmlns:p14="http://schemas.microsoft.com/office/powerpoint/2010/main" val="1579011935"/>
              </p:ext>
            </p:extLst>
          </p:nvPr>
        </p:nvGraphicFramePr>
        <p:xfrm>
          <a:off x="7315200" y="3063240"/>
          <a:ext cx="4325112" cy="914400"/>
        </p:xfrm>
        <a:graphic>
          <a:graphicData uri="http://schemas.openxmlformats.org/drawingml/2006/table">
            <a:tbl>
              <a:tblPr/>
              <a:tblGrid>
                <a:gridCol w="2130552"/>
                <a:gridCol w="1097280"/>
                <a:gridCol w="1097280"/>
              </a:tblGrid>
              <a:tr h="0">
                <a:tc>
                  <a:txBody>
                    <a:bodyPr/>
                    <a:lstStyle/>
                    <a:p>
                      <a:pPr indent="0" marL="0">
                        <a:buNone/>
                      </a:pP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c>
                  <a:txBody>
                    <a:bodyPr/>
                    <a:lstStyle/>
                    <a:p>
                      <a:pPr indent="0" marL="0">
                        <a:buNone/>
                      </a:pPr>
                      <a:r>
                        <a:rPr lang="en-US" sz="1300" b="1" dirty="0">
                          <a:solidFill>
                            <a:srgbClr val="FFFFFF"/>
                          </a:solidFill>
                          <a:latin typeface="Quattrocento Sans" pitchFamily="34" charset="0"/>
                          <a:ea typeface="Quattrocento Sans" pitchFamily="34" charset="-122"/>
                          <a:cs typeface="Quattrocento Sans" pitchFamily="34" charset="-120"/>
                        </a:rPr>
                        <a:t>v2</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c>
                  <a:txBody>
                    <a:bodyPr/>
                    <a:lstStyle/>
                    <a:p>
                      <a:pPr indent="0" marL="0">
                        <a:buNone/>
                      </a:pPr>
                      <a:r>
                        <a:rPr lang="en-US" sz="1300" b="1" dirty="0">
                          <a:solidFill>
                            <a:srgbClr val="FFFFFF"/>
                          </a:solidFill>
                          <a:latin typeface="Quattrocento Sans" pitchFamily="34" charset="0"/>
                          <a:ea typeface="Quattrocento Sans" pitchFamily="34" charset="-122"/>
                          <a:cs typeface="Quattrocento Sans" pitchFamily="34" charset="-120"/>
                        </a:rPr>
                        <a:t>v3, 4 h</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r>
              <a:tr h="0">
                <a:tc>
                  <a:txBody>
                    <a:bodyPr/>
                    <a:lstStyle/>
                    <a:p>
                      <a:pPr algn="l" indent="0" marL="0">
                        <a:buNone/>
                      </a:pPr>
                      <a:r>
                        <a:rPr lang="en-US" sz="1300" b="1" dirty="0">
                          <a:solidFill>
                            <a:srgbClr val="1C1917"/>
                          </a:solidFill>
                          <a:latin typeface="Quattrocento Sans" pitchFamily="34" charset="0"/>
                          <a:ea typeface="Quattrocento Sans" pitchFamily="34" charset="-122"/>
                          <a:cs typeface="Quattrocento Sans" pitchFamily="34" charset="-120"/>
                        </a:rPr>
                        <a:t>Grupos</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222</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203</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0">
                <a:tc>
                  <a:txBody>
                    <a:bodyPr/>
                    <a:lstStyle/>
                    <a:p>
                      <a:pPr algn="l" indent="0" marL="0">
                        <a:buNone/>
                      </a:pPr>
                      <a:r>
                        <a:rPr lang="en-US" sz="1300" b="1" dirty="0">
                          <a:solidFill>
                            <a:srgbClr val="1C1917"/>
                          </a:solidFill>
                          <a:latin typeface="Quattrocento Sans" pitchFamily="34" charset="0"/>
                          <a:ea typeface="Quattrocento Sans" pitchFamily="34" charset="-122"/>
                          <a:cs typeface="Quattrocento Sans" pitchFamily="34" charset="-120"/>
                        </a:rPr>
                        <a:t>Paradas en un grupo</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97,5 %</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93,2 %</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1C1917"/>
                          </a:solidFill>
                          <a:latin typeface="Quattrocento Sans" pitchFamily="34" charset="0"/>
                          <a:ea typeface="Quattrocento Sans" pitchFamily="34" charset="-122"/>
                          <a:cs typeface="Quattrocento Sans" pitchFamily="34" charset="-120"/>
                        </a:rPr>
                        <a:t>Diámetro mediano</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3,4 h</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2,8 h</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0">
                <a:tc>
                  <a:txBody>
                    <a:bodyPr/>
                    <a:lstStyle/>
                    <a:p>
                      <a:pPr algn="l" indent="0" marL="0">
                        <a:buNone/>
                      </a:pPr>
                      <a:r>
                        <a:rPr lang="en-US" sz="1300" b="1" dirty="0">
                          <a:solidFill>
                            <a:srgbClr val="1C1917"/>
                          </a:solidFill>
                          <a:latin typeface="Quattrocento Sans" pitchFamily="34" charset="0"/>
                          <a:ea typeface="Quattrocento Sans" pitchFamily="34" charset="-122"/>
                          <a:cs typeface="Quattrocento Sans" pitchFamily="34" charset="-120"/>
                        </a:rPr>
                        <a:t>Diámetro máximo</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9,8 h</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4,0 h</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7315200" y="5120640"/>
            <a:ext cx="4325112" cy="914400"/>
          </a:xfrm>
          <a:prstGeom prst="rect">
            <a:avLst/>
          </a:prstGeom>
          <a:noFill/>
          <a:ln/>
        </p:spPr>
        <p:txBody>
          <a:bodyPr wrap="square" lIns="0" tIns="0" rIns="0" bIns="0" rtlCol="0" anchor="t"/>
          <a:lstStyle/>
          <a:p>
            <a:pPr indent="0" marL="0">
              <a:buNone/>
            </a:pPr>
            <a:r>
              <a:rPr lang="en-US" sz="1300" dirty="0">
                <a:solidFill>
                  <a:srgbClr val="57534E"/>
                </a:solidFill>
                <a:latin typeface="Quattrocento Sans" pitchFamily="34" charset="0"/>
                <a:ea typeface="Quattrocento Sans" pitchFamily="34" charset="-122"/>
                <a:cs typeface="Quattrocento Sans" pitchFamily="34" charset="-120"/>
              </a:rPr>
              <a:t>La v3 agrupa con las horas de la red, sin juntar paradas a más de 1 300 m de altura: ningún grupo pasa de 4 horas. Entra al producto en la semana 14.</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822960" y="1554480"/>
            <a:ext cx="2743200" cy="914400"/>
          </a:xfrm>
          <a:prstGeom prst="rect">
            <a:avLst/>
          </a:prstGeom>
          <a:noFill/>
          <a:ln/>
        </p:spPr>
        <p:txBody>
          <a:bodyPr wrap="square" lIns="0" tIns="0" rIns="0" bIns="0" rtlCol="0" anchor="b"/>
          <a:lstStyle/>
          <a:p>
            <a:pPr algn="l" indent="0" marL="0">
              <a:buNone/>
            </a:pPr>
            <a:r>
              <a:rPr lang="en-US" sz="5400" b="1" dirty="0">
                <a:solidFill>
                  <a:srgbClr val="FB923C"/>
                </a:solidFill>
                <a:latin typeface="Lexend" pitchFamily="34" charset="0"/>
                <a:ea typeface="Lexend" pitchFamily="34" charset="-122"/>
                <a:cs typeface="Lexend" pitchFamily="34" charset="-120"/>
              </a:rPr>
              <a:t>4</a:t>
            </a:r>
            <a:endParaRPr lang="en-US" sz="5400" dirty="0"/>
          </a:p>
        </p:txBody>
      </p:sp>
      <p:sp>
        <p:nvSpPr>
          <p:cNvPr id="3" name="Text 0"/>
          <p:cNvSpPr/>
          <p:nvPr>
            <p:ph idx="101" type="title" hasCustomPrompt="1"/>
          </p:nvPr>
        </p:nvSpPr>
        <p:spPr>
          <a:xfrm>
            <a:off x="822960" y="2514600"/>
            <a:ext cx="10515600" cy="1097280"/>
          </a:xfrm>
          <a:prstGeom prst="rect">
            <a:avLst/>
          </a:prstGeom>
          <a:noFill/>
          <a:ln/>
        </p:spPr>
        <p:txBody>
          <a:bodyPr wrap="square" lIns="0" tIns="0" rIns="0" bIns="0" rtlCol="0" anchor="t"/>
          <a:lstStyle/>
          <a:p>
            <a:pPr algn="l" indent="0" marL="0">
              <a:buNone/>
            </a:pPr>
            <a:r>
              <a:rPr lang="en-US" sz="4400" b="1" dirty="0">
                <a:solidFill>
                  <a:srgbClr val="FFFFFF"/>
                </a:solidFill>
                <a:latin typeface="Lexend" pitchFamily="34" charset="0"/>
                <a:ea typeface="Lexend" pitchFamily="34" charset="-122"/>
                <a:cs typeface="Lexend" pitchFamily="34" charset="-120"/>
              </a:rPr>
              <a:t>El plan contra lo mejor posible</a:t>
            </a:r>
            <a:endParaRPr lang="en-US" sz="4400" dirty="0"/>
          </a:p>
        </p:txBody>
      </p:sp>
      <p:sp>
        <p:nvSpPr>
          <p:cNvPr id="4" name="Text 0"/>
          <p:cNvSpPr/>
          <p:nvPr>
            <p:ph idx="102" type="body" hasCustomPrompt="1"/>
          </p:nvPr>
        </p:nvSpPr>
        <p:spPr>
          <a:xfrm>
            <a:off x="822960" y="3703320"/>
            <a:ext cx="10515600" cy="457200"/>
          </a:xfrm>
          <a:prstGeom prst="rect">
            <a:avLst/>
          </a:prstGeom>
          <a:noFill/>
          <a:ln/>
        </p:spPr>
        <p:txBody>
          <a:bodyPr wrap="square" lIns="0" tIns="0" rIns="0" bIns="0" rtlCol="0"/>
          <a:lstStyle/>
          <a:p>
            <a:pPr algn="l" indent="0" marL="0">
              <a:buNone/>
            </a:pPr>
            <a:r>
              <a:rPr lang="en-US" sz="2000" dirty="0">
                <a:solidFill>
                  <a:srgbClr val="E7E5E4"/>
                </a:solidFill>
                <a:latin typeface="Lexend" pitchFamily="34" charset="0"/>
                <a:ea typeface="Lexend" pitchFamily="34" charset="-122"/>
                <a:cs typeface="Lexend" pitchFamily="34" charset="-120"/>
              </a:rPr>
              <a:t>Diego</a:t>
            </a:r>
            <a:endParaRPr lang="en-US" sz="2000" dirty="0"/>
          </a:p>
        </p:txBody>
      </p:sp>
      <p:sp>
        <p:nvSpPr>
          <p:cNvPr id="5" name="Text 0"/>
          <p:cNvSpPr/>
          <p:nvPr>
            <p:ph idx="103" type="body" hasCustomPrompt="1"/>
          </p:nvPr>
        </p:nvSpPr>
        <p:spPr>
          <a:xfrm>
            <a:off x="822960" y="4206240"/>
            <a:ext cx="10058400" cy="457200"/>
          </a:xfrm>
          <a:prstGeom prst="rect">
            <a:avLst/>
          </a:prstGeom>
          <a:noFill/>
          <a:ln/>
        </p:spPr>
        <p:txBody>
          <a:bodyPr wrap="square" lIns="0" tIns="0" rIns="0" bIns="0" rtlCol="0"/>
          <a:lstStyle/>
          <a:p>
            <a:pPr algn="l" indent="0" marL="0">
              <a:buNone/>
            </a:pPr>
            <a:r>
              <a:rPr lang="en-US" sz="1600" dirty="0">
                <a:solidFill>
                  <a:srgbClr val="A8A29E"/>
                </a:solidFill>
                <a:latin typeface="Quattrocento Sans" pitchFamily="34" charset="0"/>
                <a:ea typeface="Quattrocento Sans" pitchFamily="34" charset="-122"/>
                <a:cs typeface="Quattrocento Sans" pitchFamily="34" charset="-120"/>
              </a:rPr>
              <a:t>El itinerario contra el óptimo exacto, los buses de verdad y el presupuesto</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La heurística contra el óptimo exacto</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Los 120 viajes del motor, con sus 10, 12 o 15 mejores lugares, resueltos de forma exacta con las mismas reglas</a:t>
            </a:r>
            <a:endParaRPr lang="en-US" sz="1400" dirty="0"/>
          </a:p>
        </p:txBody>
      </p:sp>
      <p:graphicFrame>
        <p:nvGraphicFramePr>
          <p:cNvPr id="4" name="Chart 0" descr=""/>
          <p:cNvGraphicFramePr/>
          <p:nvPr/>
        </p:nvGraphicFramePr>
        <p:xfrm>
          <a:off x="548640" y="1463040"/>
          <a:ext cx="630936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315200" y="1417320"/>
            <a:ext cx="4297680" cy="868680"/>
          </a:xfrm>
          <a:prstGeom prst="rect">
            <a:avLst/>
          </a:prstGeom>
          <a:noFill/>
          <a:ln/>
        </p:spPr>
        <p:txBody>
          <a:bodyPr wrap="square" lIns="0" tIns="0" rIns="0" bIns="0" rtlCol="0" anchor="b"/>
          <a:lstStyle/>
          <a:p>
            <a:pPr indent="0" marL="0">
              <a:buNone/>
            </a:pPr>
            <a:r>
              <a:rPr lang="en-US" sz="4400" b="1" dirty="0">
                <a:solidFill>
                  <a:srgbClr val="0D9488"/>
                </a:solidFill>
                <a:latin typeface="Lexend" pitchFamily="34" charset="0"/>
                <a:ea typeface="Lexend" pitchFamily="34" charset="-122"/>
                <a:cs typeface="Lexend" pitchFamily="34" charset="-120"/>
              </a:rPr>
              <a:t>99,1 %</a:t>
            </a:r>
            <a:endParaRPr lang="en-US" sz="4400" dirty="0"/>
          </a:p>
        </p:txBody>
      </p:sp>
      <p:sp>
        <p:nvSpPr>
          <p:cNvPr id="6" name="Text 3"/>
          <p:cNvSpPr txBox="1"/>
          <p:nvPr/>
        </p:nvSpPr>
        <p:spPr>
          <a:xfrm>
            <a:off x="7315200" y="2331720"/>
            <a:ext cx="4297680" cy="685800"/>
          </a:xfrm>
          <a:prstGeom prst="rect">
            <a:avLst/>
          </a:prstGeom>
          <a:noFill/>
          <a:ln/>
        </p:spPr>
        <p:txBody>
          <a:bodyPr wrap="square" lIns="0" tIns="0" rIns="0" bIns="0" rtlCol="0" anchor="t"/>
          <a:lstStyle/>
          <a:p>
            <a:pPr indent="0" marL="0">
              <a:buNone/>
            </a:pPr>
            <a:r>
              <a:rPr lang="en-US" sz="1400" dirty="0">
                <a:solidFill>
                  <a:srgbClr val="57534E"/>
                </a:solidFill>
                <a:latin typeface="Quattrocento Sans" pitchFamily="34" charset="0"/>
                <a:ea typeface="Quattrocento Sans" pitchFamily="34" charset="-122"/>
                <a:cs typeface="Quattrocento Sans" pitchFamily="34" charset="-120"/>
              </a:rPr>
              <a:t>del valor del óptimo junta la heurística, sumando los 120 viajes con 15 lugares</a:t>
            </a:r>
            <a:endParaRPr lang="en-US" sz="1400" dirty="0"/>
          </a:p>
        </p:txBody>
      </p:sp>
      <p:sp>
        <p:nvSpPr>
          <p:cNvPr id="7" name="Text 4"/>
          <p:cNvSpPr txBox="1"/>
          <p:nvPr/>
        </p:nvSpPr>
        <p:spPr>
          <a:xfrm>
            <a:off x="7315200" y="3063240"/>
            <a:ext cx="4297680" cy="868680"/>
          </a:xfrm>
          <a:prstGeom prst="rect">
            <a:avLst/>
          </a:prstGeom>
          <a:noFill/>
          <a:ln/>
        </p:spPr>
        <p:txBody>
          <a:bodyPr wrap="square" lIns="0" tIns="0" rIns="0" bIns="0" rtlCol="0" anchor="b"/>
          <a:lstStyle/>
          <a:p>
            <a:pPr indent="0" marL="0">
              <a:buNone/>
            </a:pPr>
            <a:r>
              <a:rPr lang="en-US" sz="4400" b="1" dirty="0">
                <a:solidFill>
                  <a:srgbClr val="C2410C"/>
                </a:solidFill>
                <a:latin typeface="Lexend" pitchFamily="34" charset="0"/>
                <a:ea typeface="Lexend" pitchFamily="34" charset="-122"/>
                <a:cs typeface="Lexend" pitchFamily="34" charset="-120"/>
              </a:rPr>
              <a:t>1,1 %</a:t>
            </a:r>
            <a:endParaRPr lang="en-US" sz="4400" dirty="0"/>
          </a:p>
        </p:txBody>
      </p:sp>
      <p:sp>
        <p:nvSpPr>
          <p:cNvPr id="8" name="Text 5"/>
          <p:cNvSpPr txBox="1"/>
          <p:nvPr/>
        </p:nvSpPr>
        <p:spPr>
          <a:xfrm>
            <a:off x="7315200" y="3977640"/>
            <a:ext cx="4297680" cy="685800"/>
          </a:xfrm>
          <a:prstGeom prst="rect">
            <a:avLst/>
          </a:prstGeom>
          <a:noFill/>
          <a:ln/>
        </p:spPr>
        <p:txBody>
          <a:bodyPr wrap="square" lIns="0" tIns="0" rIns="0" bIns="0" rtlCol="0" anchor="t"/>
          <a:lstStyle/>
          <a:p>
            <a:pPr indent="0" marL="0">
              <a:buNone/>
            </a:pPr>
            <a:r>
              <a:rPr lang="en-US" sz="1400" dirty="0">
                <a:solidFill>
                  <a:srgbClr val="57534E"/>
                </a:solidFill>
                <a:latin typeface="Quattrocento Sans" pitchFamily="34" charset="0"/>
                <a:ea typeface="Quattrocento Sans" pitchFamily="34" charset="-122"/>
                <a:cs typeface="Quattrocento Sans" pitchFamily="34" charset="-120"/>
              </a:rPr>
              <a:t>le falta en la mediana, donde hay que elegir; 17 % en el peor, Nauta</a:t>
            </a:r>
            <a:endParaRPr lang="en-US" sz="1400" dirty="0"/>
          </a:p>
        </p:txBody>
      </p:sp>
      <p:sp>
        <p:nvSpPr>
          <p:cNvPr id="9" name="Text 6"/>
          <p:cNvSpPr txBox="1"/>
          <p:nvPr/>
        </p:nvSpPr>
        <p:spPr>
          <a:xfrm>
            <a:off x="7315200" y="4709160"/>
            <a:ext cx="4325112" cy="1325880"/>
          </a:xfrm>
          <a:prstGeom prst="rect">
            <a:avLst/>
          </a:prstGeom>
          <a:noFill/>
          <a:ln/>
        </p:spPr>
        <p:txBody>
          <a:bodyPr wrap="square" lIns="0" tIns="0" rIns="0" bIns="0" rtlCol="0" anchor="t"/>
          <a:lstStyle/>
          <a:p>
            <a:pPr indent="0" marL="0">
              <a:buNone/>
            </a:pPr>
            <a:r>
              <a:rPr lang="en-US" sz="1350" b="1" dirty="0">
                <a:solidFill>
                  <a:srgbClr val="1C1917"/>
                </a:solidFill>
                <a:latin typeface="Quattrocento Sans" pitchFamily="34" charset="0"/>
                <a:ea typeface="Quattrocento Sans" pitchFamily="34" charset="-122"/>
                <a:cs typeface="Quattrocento Sans" pitchFamily="34" charset="-120"/>
              </a:rPr>
              <a:t>Dónde pierde: </a:t>
            </a:r>
            <a:pPr indent="0" marL="0">
              <a:spcAft>
                <a:spcPts val="1000"/>
              </a:spcAft>
              <a:buNone/>
            </a:pPr>
            <a:r>
              <a:rPr lang="en-US" sz="1350" dirty="0">
                <a:solidFill>
                  <a:srgbClr val="57534E"/>
                </a:solidFill>
                <a:latin typeface="Quattrocento Sans" pitchFamily="34" charset="0"/>
                <a:ea typeface="Quattrocento Sans" pitchFamily="34" charset="-122"/>
                <a:cs typeface="Quattrocento Sans" pitchFamily="34" charset="-120"/>
              </a:rPr>
              <a:t>en 34 de los 47 viajes, el óptimo mete una o dos paradas más reordenando el día. Con 20 lugares, la búsqueda exacta no termina en diez minutos: no puede ir en el API.</a:t>
            </a:r>
            <a:endParaRPr lang="en-US"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Los tiempos por tierra contra Cruz del Sur</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29 rutas: el tiempo del motor dividido entre la mitad del rango que publica la empresa</a:t>
            </a:r>
            <a:endParaRPr lang="en-US" sz="1400" dirty="0"/>
          </a:p>
        </p:txBody>
      </p:sp>
      <p:graphicFrame>
        <p:nvGraphicFramePr>
          <p:cNvPr id="4" name="Chart 0" descr=""/>
          <p:cNvGraphicFramePr/>
          <p:nvPr/>
        </p:nvGraphicFramePr>
        <p:xfrm>
          <a:off x="457200" y="1371600"/>
          <a:ext cx="6675120" cy="4983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498080" y="1463040"/>
            <a:ext cx="4142232" cy="4572000"/>
          </a:xfrm>
          <a:prstGeom prst="rect">
            <a:avLst/>
          </a:prstGeom>
          <a:noFill/>
          <a:ln/>
        </p:spPr>
        <p:txBody>
          <a:bodyPr wrap="square" lIns="0" tIns="0" rIns="0" bIns="0" rtlCol="0" anchor="t"/>
          <a:lstStyle/>
          <a:p>
            <a:pPr indent="0" marL="0">
              <a:buNone/>
            </a:pPr>
            <a:r>
              <a:rPr lang="en-US" sz="1400" b="1" dirty="0">
                <a:solidFill>
                  <a:srgbClr val="1C1917"/>
                </a:solidFill>
                <a:latin typeface="Quattrocento Sans" pitchFamily="34" charset="0"/>
                <a:ea typeface="Quattrocento Sans" pitchFamily="34" charset="-122"/>
                <a:cs typeface="Quattrocento Sans" pitchFamily="34" charset="-120"/>
              </a:rPr>
              <a:t>Los kilómetros coinciden: </a:t>
            </a:r>
            <a:pPr indent="0" marL="0">
              <a:spcAft>
                <a:spcPts val="1200"/>
              </a:spcAft>
              <a:buNone/>
            </a:pPr>
            <a:r>
              <a:rPr lang="en-US" sz="1400" dirty="0">
                <a:solidFill>
                  <a:srgbClr val="57534E"/>
                </a:solidFill>
                <a:latin typeface="Quattrocento Sans" pitchFamily="34" charset="0"/>
                <a:ea typeface="Quattrocento Sans" pitchFamily="34" charset="-122"/>
                <a:cs typeface="Quattrocento Sans" pitchFamily="34" charset="-120"/>
              </a:rPr>
              <a:t>ninguna ruta se aleja 7 % de los de la empresa.</a:t>
            </a:r>
            <a:endParaRPr lang="en-US" sz="1400" dirty="0"/>
          </a:p>
          <a:p>
            <a:pPr indent="0" marL="0">
              <a:buNone/>
            </a:pPr>
            <a:r>
              <a:rPr lang="en-US" sz="1400" b="1" dirty="0">
                <a:solidFill>
                  <a:srgbClr val="1C1917"/>
                </a:solidFill>
                <a:latin typeface="Quattrocento Sans" pitchFamily="34" charset="0"/>
                <a:ea typeface="Quattrocento Sans" pitchFamily="34" charset="-122"/>
                <a:cs typeface="Quattrocento Sans" pitchFamily="34" charset="-120"/>
              </a:rPr>
              <a:t>16 de 29 tiempos caen en su rango. </a:t>
            </a:r>
            <a:pPr indent="0" marL="0">
              <a:spcAft>
                <a:spcPts val="1200"/>
              </a:spcAft>
              <a:buNone/>
            </a:pPr>
            <a:r>
              <a:rPr lang="en-US" sz="1400" dirty="0">
                <a:solidFill>
                  <a:srgbClr val="57534E"/>
                </a:solidFill>
                <a:latin typeface="Quattrocento Sans" pitchFamily="34" charset="0"/>
                <a:ea typeface="Quattrocento Sans" pitchFamily="34" charset="-122"/>
                <a:cs typeface="Quattrocento Sans" pitchFamily="34" charset="-120"/>
              </a:rPr>
              <a:t>La mediana es 1,03.</a:t>
            </a:r>
            <a:endParaRPr lang="en-US" sz="1400" dirty="0"/>
          </a:p>
          <a:p>
            <a:pPr indent="0" marL="0">
              <a:buNone/>
            </a:pPr>
            <a:r>
              <a:rPr lang="en-US" sz="1400" b="1" dirty="0">
                <a:solidFill>
                  <a:srgbClr val="1C1917"/>
                </a:solidFill>
                <a:latin typeface="Quattrocento Sans" pitchFamily="34" charset="0"/>
                <a:ea typeface="Quattrocento Sans" pitchFamily="34" charset="-122"/>
                <a:cs typeface="Quattrocento Sans" pitchFamily="34" charset="-120"/>
              </a:rPr>
              <a:t>En la Carretera Central el motor tarda 18 a 26 % menos </a:t>
            </a:r>
            <a:pPr indent="0" marL="0">
              <a:spcAft>
                <a:spcPts val="1200"/>
              </a:spcAft>
              <a:buNone/>
            </a:pPr>
            <a:r>
              <a:rPr lang="en-US" sz="1400" dirty="0">
                <a:solidFill>
                  <a:srgbClr val="57534E"/>
                </a:solidFill>
                <a:latin typeface="Quattrocento Sans" pitchFamily="34" charset="0"/>
                <a:ea typeface="Quattrocento Sans" pitchFamily="34" charset="-122"/>
                <a:cs typeface="Quattrocento Sans" pitchFamily="34" charset="-120"/>
              </a:rPr>
              <a:t>que el bus más rápido: sube a 4 800 m por Ticlio, con tráfico pesado, y la red no lo sabe.</a:t>
            </a:r>
            <a:endParaRPr lang="en-US" sz="1400" dirty="0"/>
          </a:p>
          <a:p>
            <a:pPr indent="0" marL="0">
              <a:buNone/>
            </a:pPr>
            <a:r>
              <a:rPr lang="en-US" sz="1400" b="1" dirty="0">
                <a:solidFill>
                  <a:srgbClr val="1C1917"/>
                </a:solidFill>
                <a:latin typeface="Quattrocento Sans" pitchFamily="34" charset="0"/>
                <a:ea typeface="Quattrocento Sans" pitchFamily="34" charset="-122"/>
                <a:cs typeface="Quattrocento Sans" pitchFamily="34" charset="-120"/>
              </a:rPr>
              <a:t>Oxapampa: </a:t>
            </a:r>
            <a:pPr indent="0" marL="0">
              <a:spcAft>
                <a:spcPts val="1200"/>
              </a:spcAft>
              <a:buNone/>
            </a:pPr>
            <a:r>
              <a:rPr lang="en-US" sz="1400" dirty="0">
                <a:solidFill>
                  <a:srgbClr val="57534E"/>
                </a:solidFill>
                <a:latin typeface="Quattrocento Sans" pitchFamily="34" charset="0"/>
                <a:ea typeface="Quattrocento Sans" pitchFamily="34" charset="-122"/>
                <a:cs typeface="Quattrocento Sans" pitchFamily="34" charset="-120"/>
              </a:rPr>
              <a:t>la app dice que el bus de noche llega a las 5:50; con los tiempos de Cruz del Sur, entre las 8:15 y las 9:45.</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El presupuesto: avisar, no esconder</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La pregunta de la revisión del profesor: ¿filtrar con el P50 o con el P80?</a:t>
            </a:r>
            <a:endParaRPr lang="en-US" sz="1400" dirty="0"/>
          </a:p>
        </p:txBody>
      </p:sp>
      <p:graphicFrame>
        <p:nvGraphicFramePr>
          <p:cNvPr id="4" name="Chart 0" descr=""/>
          <p:cNvGraphicFramePr/>
          <p:nvPr/>
        </p:nvGraphicFramePr>
        <p:xfrm>
          <a:off x="548640" y="1463040"/>
          <a:ext cx="6035040" cy="4434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995160" y="1508760"/>
            <a:ext cx="4663440" cy="411480"/>
          </a:xfrm>
          <a:prstGeom prst="rect">
            <a:avLst/>
          </a:prstGeom>
          <a:noFill/>
          <a:ln/>
        </p:spPr>
        <p:txBody>
          <a:bodyPr wrap="square" lIns="0" tIns="0" rIns="0" bIns="0" rtlCol="0" anchor="t"/>
          <a:lstStyle/>
          <a:p>
            <a:pPr indent="0" marL="0">
              <a:buNone/>
            </a:pPr>
            <a:r>
              <a:rPr lang="en-US" sz="1700" b="1" dirty="0">
                <a:solidFill>
                  <a:srgbClr val="1C1917"/>
                </a:solidFill>
                <a:latin typeface="Lexend" pitchFamily="34" charset="0"/>
                <a:ea typeface="Lexend" pitchFamily="34" charset="-122"/>
                <a:cs typeface="Lexend" pitchFamily="34" charset="-120"/>
              </a:rPr>
              <a:t>Lo decidimos así (decisión 0022)</a:t>
            </a:r>
            <a:endParaRPr lang="en-US" sz="1700" dirty="0"/>
          </a:p>
        </p:txBody>
      </p:sp>
      <p:sp>
        <p:nvSpPr>
          <p:cNvPr id="6" name="Text 3"/>
          <p:cNvSpPr txBox="1"/>
          <p:nvPr/>
        </p:nvSpPr>
        <p:spPr>
          <a:xfrm>
            <a:off x="6995160" y="2011680"/>
            <a:ext cx="4645152" cy="237744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El presupuesto no deja fuera ningún viaje. Con S/ 800, el filtro P80 dejaba 18 de 40 consultas sin nada.</a:t>
            </a:r>
            <a:endParaRPr lang="en-US" sz="1400" dirty="0"/>
          </a:p>
          <a:p>
            <a:pPr marL="203200" indent="-203200">
              <a:spcAft>
                <a:spcPts val="10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Si el costo central entra y el P80 no, el viaje sale con un aviso. Con S/ 800, son 21 de 120 viajes.</a:t>
            </a:r>
            <a:endParaRPr lang="en-US" sz="1400" dirty="0"/>
          </a:p>
          <a:p>
            <a:pPr marL="203200" indent="-203200">
              <a:spcAft>
                <a:spcPts val="10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El P80 es un escenario sin calibrar, no un precio. Calibrar el costo está en el plan.</a:t>
            </a:r>
            <a:endParaRPr lang="en-US" sz="1400" dirty="0"/>
          </a:p>
        </p:txBody>
      </p:sp>
      <p:sp>
        <p:nvSpPr>
          <p:cNvPr id="7" name="el aviso"/>
          <p:cNvSpPr/>
          <p:nvPr/>
        </p:nvSpPr>
        <p:spPr>
          <a:xfrm>
            <a:off x="6995160" y="4526280"/>
            <a:ext cx="4645152" cy="1371600"/>
          </a:xfrm>
          <a:prstGeom prst="roundRect">
            <a:avLst>
              <a:gd name="adj" fmla="val 8000"/>
            </a:avLst>
          </a:prstGeom>
          <a:solidFill>
            <a:srgbClr val="F0FDFA"/>
          </a:solidFill>
          <a:ln w="12700">
            <a:solidFill>
              <a:srgbClr val="E7E5E4"/>
            </a:solidFill>
            <a:prstDash val="solid"/>
          </a:ln>
        </p:spPr>
      </p:sp>
      <p:sp>
        <p:nvSpPr>
          <p:cNvPr id="8" name="Text 5"/>
          <p:cNvSpPr txBox="1"/>
          <p:nvPr/>
        </p:nvSpPr>
        <p:spPr>
          <a:xfrm>
            <a:off x="7223760" y="4663440"/>
            <a:ext cx="4206240" cy="1097280"/>
          </a:xfrm>
          <a:prstGeom prst="rect">
            <a:avLst/>
          </a:prstGeom>
          <a:noFill/>
          <a:ln/>
        </p:spPr>
        <p:txBody>
          <a:bodyPr wrap="square" lIns="0" tIns="0" rIns="0" bIns="0" rtlCol="0" anchor="ctr"/>
          <a:lstStyle/>
          <a:p>
            <a:pPr indent="0" marL="0">
              <a:buNone/>
            </a:pPr>
            <a:r>
              <a:rPr lang="en-US" sz="1350" i="1" dirty="0">
                <a:solidFill>
                  <a:srgbClr val="1C1917"/>
                </a:solidFill>
                <a:latin typeface="Quattrocento Sans" pitchFamily="34" charset="0"/>
                <a:ea typeface="Quattrocento Sans" pitchFamily="34" charset="-122"/>
                <a:cs typeface="Quattrocento Sans" pitchFamily="34" charset="-120"/>
              </a:rPr>
              <a:t>«El costo central (S/ 622) entra en tu presupuesto, pero si los precios salen altos el viaje llega a S/ 704: S/ 54 más. Lleva un margen.»</a:t>
            </a:r>
            <a:endParaRPr lang="en-US"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822960" y="1554480"/>
            <a:ext cx="2743200" cy="914400"/>
          </a:xfrm>
          <a:prstGeom prst="rect">
            <a:avLst/>
          </a:prstGeom>
          <a:noFill/>
          <a:ln/>
        </p:spPr>
        <p:txBody>
          <a:bodyPr wrap="square" lIns="0" tIns="0" rIns="0" bIns="0" rtlCol="0" anchor="b"/>
          <a:lstStyle/>
          <a:p>
            <a:pPr algn="l" indent="0" marL="0">
              <a:buNone/>
            </a:pPr>
            <a:r>
              <a:rPr lang="en-US" sz="5400" b="1" dirty="0">
                <a:solidFill>
                  <a:srgbClr val="FB923C"/>
                </a:solidFill>
                <a:latin typeface="Lexend" pitchFamily="34" charset="0"/>
                <a:ea typeface="Lexend" pitchFamily="34" charset="-122"/>
                <a:cs typeface="Lexend" pitchFamily="34" charset="-120"/>
              </a:rPr>
              <a:t>5</a:t>
            </a:r>
            <a:endParaRPr lang="en-US" sz="5400" dirty="0"/>
          </a:p>
        </p:txBody>
      </p:sp>
      <p:sp>
        <p:nvSpPr>
          <p:cNvPr id="3" name="Text 0"/>
          <p:cNvSpPr/>
          <p:nvPr>
            <p:ph idx="101" type="title" hasCustomPrompt="1"/>
          </p:nvPr>
        </p:nvSpPr>
        <p:spPr>
          <a:xfrm>
            <a:off x="822960" y="2514600"/>
            <a:ext cx="10515600" cy="1097280"/>
          </a:xfrm>
          <a:prstGeom prst="rect">
            <a:avLst/>
          </a:prstGeom>
          <a:noFill/>
          <a:ln/>
        </p:spPr>
        <p:txBody>
          <a:bodyPr wrap="square" lIns="0" tIns="0" rIns="0" bIns="0" rtlCol="0" anchor="t"/>
          <a:lstStyle/>
          <a:p>
            <a:pPr algn="l" indent="0" marL="0">
              <a:buNone/>
            </a:pPr>
            <a:r>
              <a:rPr lang="en-US" sz="4400" b="1" dirty="0">
                <a:solidFill>
                  <a:srgbClr val="FFFFFF"/>
                </a:solidFill>
                <a:latin typeface="Lexend" pitchFamily="34" charset="0"/>
                <a:ea typeface="Lexend" pitchFamily="34" charset="-122"/>
                <a:cs typeface="Lexend" pitchFamily="34" charset="-120"/>
              </a:rPr>
              <a:t>Dos casos que fallan</a:t>
            </a:r>
            <a:endParaRPr lang="en-US" sz="4400" dirty="0"/>
          </a:p>
        </p:txBody>
      </p:sp>
      <p:sp>
        <p:nvSpPr>
          <p:cNvPr id="4" name="Text 0"/>
          <p:cNvSpPr/>
          <p:nvPr>
            <p:ph idx="102" type="body" hasCustomPrompt="1"/>
          </p:nvPr>
        </p:nvSpPr>
        <p:spPr>
          <a:xfrm>
            <a:off x="822960" y="3703320"/>
            <a:ext cx="10515600" cy="457200"/>
          </a:xfrm>
          <a:prstGeom prst="rect">
            <a:avLst/>
          </a:prstGeom>
          <a:noFill/>
          <a:ln/>
        </p:spPr>
        <p:txBody>
          <a:bodyPr wrap="square" lIns="0" tIns="0" rIns="0" bIns="0" rtlCol="0"/>
          <a:lstStyle/>
          <a:p>
            <a:pPr algn="l" indent="0" marL="0">
              <a:buNone/>
            </a:pPr>
            <a:r>
              <a:rPr lang="en-US" sz="2000" dirty="0">
                <a:solidFill>
                  <a:srgbClr val="E7E5E4"/>
                </a:solidFill>
                <a:latin typeface="Lexend" pitchFamily="34" charset="0"/>
                <a:ea typeface="Lexend" pitchFamily="34" charset="-122"/>
                <a:cs typeface="Lexend" pitchFamily="34" charset="-120"/>
              </a:rPr>
              <a:t>Alejandro</a:t>
            </a:r>
            <a:endParaRPr lang="en-US" sz="2000" dirty="0"/>
          </a:p>
        </p:txBody>
      </p:sp>
      <p:sp>
        <p:nvSpPr>
          <p:cNvPr id="5" name="Text 0"/>
          <p:cNvSpPr/>
          <p:nvPr>
            <p:ph idx="103" type="body" hasCustomPrompt="1"/>
          </p:nvPr>
        </p:nvSpPr>
        <p:spPr>
          <a:xfrm>
            <a:off x="822960" y="4206240"/>
            <a:ext cx="10058400" cy="457200"/>
          </a:xfrm>
          <a:prstGeom prst="rect">
            <a:avLst/>
          </a:prstGeom>
          <a:noFill/>
          <a:ln/>
        </p:spPr>
        <p:txBody>
          <a:bodyPr wrap="square" lIns="0" tIns="0" rIns="0" bIns="0" rtlCol="0"/>
          <a:lstStyle/>
          <a:p>
            <a:pPr algn="l" indent="0" marL="0">
              <a:buNone/>
            </a:pPr>
            <a:r>
              <a:rPr lang="en-US" sz="1600" dirty="0">
                <a:solidFill>
                  <a:srgbClr val="A8A29E"/>
                </a:solidFill>
                <a:latin typeface="Quattrocento Sans" pitchFamily="34" charset="0"/>
                <a:ea typeface="Quattrocento Sans" pitchFamily="34" charset="-122"/>
                <a:cs typeface="Quattrocento Sans" pitchFamily="34" charset="-120"/>
              </a:rPr>
              <a:t>Dos de las 40 consultas, y lo que muestran del motor</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Dos consultas en las que el motor se equivoca</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Dos de las 40 consultas de la evaluación, y lo que enseñan</a:t>
            </a:r>
            <a:endParaRPr lang="en-US" sz="1400" dirty="0"/>
          </a:p>
        </p:txBody>
      </p:sp>
      <p:sp>
        <p:nvSpPr>
          <p:cNvPr id="4" name="la playa"/>
          <p:cNvSpPr/>
          <p:nvPr/>
        </p:nvSpPr>
        <p:spPr>
          <a:xfrm>
            <a:off x="548640" y="1508760"/>
            <a:ext cx="5440680" cy="3429000"/>
          </a:xfrm>
          <a:prstGeom prst="roundRect">
            <a:avLst>
              <a:gd name="adj" fmla="val 3200"/>
            </a:avLst>
          </a:prstGeom>
          <a:solidFill>
            <a:srgbClr val="FAFAF9"/>
          </a:solidFill>
          <a:ln w="12700">
            <a:solidFill>
              <a:srgbClr val="E7E5E4"/>
            </a:solidFill>
            <a:prstDash val="solid"/>
          </a:ln>
        </p:spPr>
      </p:sp>
      <p:sp>
        <p:nvSpPr>
          <p:cNvPr id="5" name="Text 3"/>
          <p:cNvSpPr txBox="1"/>
          <p:nvPr/>
        </p:nvSpPr>
        <p:spPr>
          <a:xfrm>
            <a:off x="822960" y="1737360"/>
            <a:ext cx="4937760" cy="411480"/>
          </a:xfrm>
          <a:prstGeom prst="rect">
            <a:avLst/>
          </a:prstGeom>
          <a:noFill/>
          <a:ln/>
        </p:spPr>
        <p:txBody>
          <a:bodyPr wrap="square" lIns="0" tIns="0" rIns="0" bIns="0" rtlCol="0" anchor="t"/>
          <a:lstStyle/>
          <a:p>
            <a:pPr indent="0" marL="0">
              <a:buNone/>
            </a:pPr>
            <a:r>
              <a:rPr lang="en-US" sz="1650" b="1" dirty="0">
                <a:solidFill>
                  <a:srgbClr val="1C1917"/>
                </a:solidFill>
                <a:latin typeface="Lexend" pitchFamily="34" charset="0"/>
                <a:ea typeface="Lexend" pitchFamily="34" charset="-122"/>
                <a:cs typeface="Lexend" pitchFamily="34" charset="-120"/>
              </a:rPr>
              <a:t>Un fin de semana de playa desde Lima</a:t>
            </a:r>
            <a:endParaRPr lang="en-US" sz="1650" dirty="0"/>
          </a:p>
        </p:txBody>
      </p:sp>
      <p:sp>
        <p:nvSpPr>
          <p:cNvPr id="6" name="Text 4"/>
          <p:cNvSpPr txBox="1"/>
          <p:nvPr/>
        </p:nvSpPr>
        <p:spPr>
          <a:xfrm>
            <a:off x="822960" y="2240280"/>
            <a:ext cx="4937760" cy="3566160"/>
          </a:xfrm>
          <a:prstGeom prst="rect">
            <a:avLst/>
          </a:prstGeom>
          <a:noFill/>
          <a:ln/>
        </p:spPr>
        <p:txBody>
          <a:bodyPr wrap="square" lIns="0" tIns="0" rIns="0" bIns="0" rtlCol="0" anchor="t"/>
          <a:lstStyle/>
          <a:p>
            <a:pPr indent="0" marL="0">
              <a:buNone/>
            </a:pPr>
            <a:r>
              <a:rPr lang="en-US" sz="1400" b="1" dirty="0">
                <a:solidFill>
                  <a:srgbClr val="1C1917"/>
                </a:solidFill>
                <a:latin typeface="Quattrocento Sans" pitchFamily="34" charset="0"/>
                <a:ea typeface="Quattrocento Sans" pitchFamily="34" charset="-122"/>
                <a:cs typeface="Quattrocento Sans" pitchFamily="34" charset="-120"/>
              </a:rPr>
              <a:t>El motor propone Huacho, Nasca y Nuevo Chimbote. </a:t>
            </a:r>
            <a:pPr indent="0" marL="0">
              <a:spcAft>
                <a:spcPts val="1000"/>
              </a:spcAft>
              <a:buNone/>
            </a:pPr>
            <a:r>
              <a:rPr lang="en-US" sz="1400" dirty="0">
                <a:solidFill>
                  <a:srgbClr val="57534E"/>
                </a:solidFill>
                <a:latin typeface="Quattrocento Sans" pitchFamily="34" charset="0"/>
                <a:ea typeface="Quattrocento Sans" pitchFamily="34" charset="-122"/>
                <a:cs typeface="Quattrocento Sans" pitchFamily="34" charset="-120"/>
              </a:rPr>
              <a:t>Nasca no tiene playas: las Líneas son de jerarquía 4 y, aunque no sean de lo pedido, valen la cuarta parte de 24, que es 6. Una playa de jerarquía 2 vale 2.</a:t>
            </a:r>
            <a:endParaRPr lang="en-US" sz="1400" dirty="0"/>
          </a:p>
          <a:p>
            <a:pPr indent="0" marL="0">
              <a:buNone/>
            </a:pPr>
            <a:r>
              <a:rPr lang="en-US" sz="1400" b="1" dirty="0">
                <a:solidFill>
                  <a:srgbClr val="1C1917"/>
                </a:solidFill>
                <a:latin typeface="Quattrocento Sans" pitchFamily="34" charset="0"/>
                <a:ea typeface="Quattrocento Sans" pitchFamily="34" charset="-122"/>
                <a:cs typeface="Quattrocento Sans" pitchFamily="34" charset="-120"/>
              </a:rPr>
              <a:t>La variante </a:t>
            </a:r>
            <a:pPr indent="0" marL="0">
              <a:spcAft>
                <a:spcPts val="1000"/>
              </a:spcAft>
              <a:buNone/>
            </a:pPr>
            <a:r>
              <a:rPr lang="en-US" sz="1400" dirty="0">
                <a:solidFill>
                  <a:srgbClr val="57534E"/>
                </a:solidFill>
                <a:latin typeface="Quattrocento Sans" pitchFamily="34" charset="0"/>
                <a:ea typeface="Quattrocento Sans" pitchFamily="34" charset="-122"/>
                <a:cs typeface="Quattrocento Sans" pitchFamily="34" charset="-120"/>
              </a:rPr>
              <a:t>baja lo no pedido a la décima parte: Nasca sale y entra Paracas. Es una de las 10 consultas en que la variante cambia algo.</a:t>
            </a:r>
            <a:endParaRPr lang="en-US" sz="1400" dirty="0"/>
          </a:p>
        </p:txBody>
      </p:sp>
      <p:sp>
        <p:nvSpPr>
          <p:cNvPr id="7" name="el montañista"/>
          <p:cNvSpPr/>
          <p:nvPr/>
        </p:nvSpPr>
        <p:spPr>
          <a:xfrm>
            <a:off x="6199632" y="1508760"/>
            <a:ext cx="5440680" cy="3429000"/>
          </a:xfrm>
          <a:prstGeom prst="roundRect">
            <a:avLst>
              <a:gd name="adj" fmla="val 3200"/>
            </a:avLst>
          </a:prstGeom>
          <a:solidFill>
            <a:srgbClr val="FAFAF9"/>
          </a:solidFill>
          <a:ln w="12700">
            <a:solidFill>
              <a:srgbClr val="E7E5E4"/>
            </a:solidFill>
            <a:prstDash val="solid"/>
          </a:ln>
        </p:spPr>
      </p:sp>
      <p:sp>
        <p:nvSpPr>
          <p:cNvPr id="8" name="Text 6"/>
          <p:cNvSpPr txBox="1"/>
          <p:nvPr/>
        </p:nvSpPr>
        <p:spPr>
          <a:xfrm>
            <a:off x="6473952" y="1737360"/>
            <a:ext cx="4937760" cy="411480"/>
          </a:xfrm>
          <a:prstGeom prst="rect">
            <a:avLst/>
          </a:prstGeom>
          <a:noFill/>
          <a:ln/>
        </p:spPr>
        <p:txBody>
          <a:bodyPr wrap="square" lIns="0" tIns="0" rIns="0" bIns="0" rtlCol="0" anchor="t"/>
          <a:lstStyle/>
          <a:p>
            <a:pPr indent="0" marL="0">
              <a:buNone/>
            </a:pPr>
            <a:r>
              <a:rPr lang="en-US" sz="1650" b="1" dirty="0">
                <a:solidFill>
                  <a:srgbClr val="1C1917"/>
                </a:solidFill>
                <a:latin typeface="Lexend" pitchFamily="34" charset="0"/>
                <a:ea typeface="Lexend" pitchFamily="34" charset="-122"/>
                <a:cs typeface="Lexend" pitchFamily="34" charset="-120"/>
              </a:rPr>
              <a:t>Un montañista de Huaraz con tres días</a:t>
            </a:r>
            <a:endParaRPr lang="en-US" sz="1650" dirty="0"/>
          </a:p>
        </p:txBody>
      </p:sp>
      <p:sp>
        <p:nvSpPr>
          <p:cNvPr id="9" name="Text 7"/>
          <p:cNvSpPr txBox="1"/>
          <p:nvPr/>
        </p:nvSpPr>
        <p:spPr>
          <a:xfrm>
            <a:off x="6473952" y="2240280"/>
            <a:ext cx="4937760" cy="3566160"/>
          </a:xfrm>
          <a:prstGeom prst="rect">
            <a:avLst/>
          </a:prstGeom>
          <a:noFill/>
          <a:ln/>
        </p:spPr>
        <p:txBody>
          <a:bodyPr wrap="square" lIns="0" tIns="0" rIns="0" bIns="0" rtlCol="0" anchor="t"/>
          <a:lstStyle/>
          <a:p>
            <a:pPr indent="0" marL="0">
              <a:buNone/>
            </a:pPr>
            <a:r>
              <a:rPr lang="en-US" sz="1400" b="1" dirty="0">
                <a:solidFill>
                  <a:srgbClr val="1C1917"/>
                </a:solidFill>
                <a:latin typeface="Quattrocento Sans" pitchFamily="34" charset="0"/>
                <a:ea typeface="Quattrocento Sans" pitchFamily="34" charset="-122"/>
                <a:cs typeface="Quattrocento Sans" pitchFamily="34" charset="-120"/>
              </a:rPr>
              <a:t>El motor le propone Íllimo, a 11 horas de bus, Huacho y La Merced. </a:t>
            </a:r>
            <a:pPr indent="0" marL="0">
              <a:spcAft>
                <a:spcPts val="1000"/>
              </a:spcAft>
              <a:buNone/>
            </a:pPr>
            <a:r>
              <a:rPr lang="en-US" sz="1400" dirty="0">
                <a:solidFill>
                  <a:srgbClr val="57534E"/>
                </a:solidFill>
                <a:latin typeface="Quattrocento Sans" pitchFamily="34" charset="0"/>
                <a:ea typeface="Quattrocento Sans" pitchFamily="34" charset="-122"/>
                <a:cs typeface="Quattrocento Sans" pitchFamily="34" charset="-120"/>
              </a:rPr>
              <a:t>Ninguno en la Cordillera Blanca, que tiene al lado.</a:t>
            </a:r>
            <a:endParaRPr lang="en-US" sz="1400" dirty="0"/>
          </a:p>
          <a:p>
            <a:pPr indent="0" marL="0">
              <a:buNone/>
            </a:pPr>
            <a:r>
              <a:rPr lang="en-US" sz="1400" b="1" dirty="0">
                <a:solidFill>
                  <a:srgbClr val="1C1917"/>
                </a:solidFill>
                <a:latin typeface="Quattrocento Sans" pitchFamily="34" charset="0"/>
                <a:ea typeface="Quattrocento Sans" pitchFamily="34" charset="-122"/>
                <a:cs typeface="Quattrocento Sans" pitchFamily="34" charset="-120"/>
              </a:rPr>
              <a:t>Dos reglas que funcionan solas: </a:t>
            </a:r>
            <a:pPr indent="0" marL="0">
              <a:spcAft>
                <a:spcPts val="1000"/>
              </a:spcAft>
              <a:buNone/>
            </a:pPr>
            <a:r>
              <a:rPr lang="en-US" sz="1400" dirty="0">
                <a:solidFill>
                  <a:srgbClr val="57534E"/>
                </a:solidFill>
                <a:latin typeface="Quattrocento Sans" pitchFamily="34" charset="0"/>
                <a:ea typeface="Quattrocento Sans" pitchFamily="34" charset="-122"/>
                <a:cs typeface="Quattrocento Sans" pitchFamily="34" charset="-120"/>
              </a:rPr>
              <a:t>una base a menos de 30 minutos del origen es su casa y no se propone, y las zonas vecinas, como Carhuaz o Caraz, valen poco, porque los lugares grandes de la cordillera son de la zona de Huaraz.</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Lo que estas cifras no dicen</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Los límites de la evaluación, dichos antes de que nos los pregunten</a:t>
            </a:r>
            <a:endParaRPr lang="en-US" sz="1400" dirty="0"/>
          </a:p>
        </p:txBody>
      </p:sp>
      <p:sp>
        <p:nvSpPr>
          <p:cNvPr id="4" name="límite 1"/>
          <p:cNvSpPr/>
          <p:nvPr/>
        </p:nvSpPr>
        <p:spPr>
          <a:xfrm>
            <a:off x="548640" y="1554480"/>
            <a:ext cx="5440680" cy="1280160"/>
          </a:xfrm>
          <a:prstGeom prst="roundRect">
            <a:avLst>
              <a:gd name="adj" fmla="val 8571"/>
            </a:avLst>
          </a:prstGeom>
          <a:solidFill>
            <a:srgbClr val="FAFAF9"/>
          </a:solidFill>
          <a:ln w="12700">
            <a:solidFill>
              <a:srgbClr val="E7E5E4"/>
            </a:solidFill>
            <a:prstDash val="solid"/>
          </a:ln>
        </p:spPr>
      </p:sp>
      <p:sp>
        <p:nvSpPr>
          <p:cNvPr id="5" name="Text 3"/>
          <p:cNvSpPr txBox="1"/>
          <p:nvPr/>
        </p:nvSpPr>
        <p:spPr>
          <a:xfrm>
            <a:off x="822960" y="1737360"/>
            <a:ext cx="4892040" cy="960120"/>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Son 40 consultas a mano.</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 Sirven para comparar sistemas en las mismas consultas, no para decir cómo le va con cualquiera.</a:t>
            </a:r>
            <a:endParaRPr lang="en-US" sz="1450" dirty="0"/>
          </a:p>
        </p:txBody>
      </p:sp>
      <p:sp>
        <p:nvSpPr>
          <p:cNvPr id="6" name="límite 2"/>
          <p:cNvSpPr/>
          <p:nvPr/>
        </p:nvSpPr>
        <p:spPr>
          <a:xfrm>
            <a:off x="6199632" y="1554480"/>
            <a:ext cx="5440680" cy="1280160"/>
          </a:xfrm>
          <a:prstGeom prst="roundRect">
            <a:avLst>
              <a:gd name="adj" fmla="val 8571"/>
            </a:avLst>
          </a:prstGeom>
          <a:solidFill>
            <a:srgbClr val="FAFAF9"/>
          </a:solidFill>
          <a:ln w="12700">
            <a:solidFill>
              <a:srgbClr val="E7E5E4"/>
            </a:solidFill>
            <a:prstDash val="solid"/>
          </a:ln>
        </p:spPr>
      </p:sp>
      <p:sp>
        <p:nvSpPr>
          <p:cNvPr id="7" name="Text 5"/>
          <p:cNvSpPr txBox="1"/>
          <p:nvPr/>
        </p:nvSpPr>
        <p:spPr>
          <a:xfrm>
            <a:off x="6473952" y="1737360"/>
            <a:ext cx="4892040" cy="960120"/>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La cobertura dice a dónde lleva cada sistema,</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 no cuál le conviene más a quien pidió el viaje.</a:t>
            </a:r>
            <a:endParaRPr lang="en-US" sz="1450" dirty="0"/>
          </a:p>
        </p:txBody>
      </p:sp>
      <p:sp>
        <p:nvSpPr>
          <p:cNvPr id="8" name="límite 3"/>
          <p:cNvSpPr/>
          <p:nvPr/>
        </p:nvSpPr>
        <p:spPr>
          <a:xfrm>
            <a:off x="548640" y="3017520"/>
            <a:ext cx="5440680" cy="1280160"/>
          </a:xfrm>
          <a:prstGeom prst="roundRect">
            <a:avLst>
              <a:gd name="adj" fmla="val 8571"/>
            </a:avLst>
          </a:prstGeom>
          <a:solidFill>
            <a:srgbClr val="FAFAF9"/>
          </a:solidFill>
          <a:ln w="12700">
            <a:solidFill>
              <a:srgbClr val="E7E5E4"/>
            </a:solidFill>
            <a:prstDash val="solid"/>
          </a:ln>
        </p:spPr>
      </p:sp>
      <p:sp>
        <p:nvSpPr>
          <p:cNvPr id="9" name="Text 7"/>
          <p:cNvSpPr txBox="1"/>
          <p:nvPr/>
        </p:nvSpPr>
        <p:spPr>
          <a:xfrm>
            <a:off x="822960" y="3200400"/>
            <a:ext cx="4892040" cy="960120"/>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El óptimo exacto es de instancias de 15 lugares.</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 Una consulta real tiene hasta 40, y la brecha crece con el tamaño.</a:t>
            </a:r>
            <a:endParaRPr lang="en-US" sz="1450" dirty="0"/>
          </a:p>
        </p:txBody>
      </p:sp>
      <p:sp>
        <p:nvSpPr>
          <p:cNvPr id="10" name="límite 4"/>
          <p:cNvSpPr/>
          <p:nvPr/>
        </p:nvSpPr>
        <p:spPr>
          <a:xfrm>
            <a:off x="6199632" y="3017520"/>
            <a:ext cx="5440680" cy="1280160"/>
          </a:xfrm>
          <a:prstGeom prst="roundRect">
            <a:avLst>
              <a:gd name="adj" fmla="val 8571"/>
            </a:avLst>
          </a:prstGeom>
          <a:solidFill>
            <a:srgbClr val="FAFAF9"/>
          </a:solidFill>
          <a:ln w="12700">
            <a:solidFill>
              <a:srgbClr val="E7E5E4"/>
            </a:solidFill>
            <a:prstDash val="solid"/>
          </a:ln>
        </p:spPr>
      </p:sp>
      <p:sp>
        <p:nvSpPr>
          <p:cNvPr id="11" name="Text 9"/>
          <p:cNvSpPr txBox="1"/>
          <p:nvPr/>
        </p:nvSpPr>
        <p:spPr>
          <a:xfrm>
            <a:off x="6473952" y="3200400"/>
            <a:ext cx="4892040" cy="960120"/>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Los buses son de una sola empresa,</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 y de terminal a terminal.</a:t>
            </a:r>
            <a:endParaRPr lang="en-US" sz="1450" dirty="0"/>
          </a:p>
        </p:txBody>
      </p:sp>
      <p:sp>
        <p:nvSpPr>
          <p:cNvPr id="12" name="límite 5"/>
          <p:cNvSpPr/>
          <p:nvPr/>
        </p:nvSpPr>
        <p:spPr>
          <a:xfrm>
            <a:off x="548640" y="4480560"/>
            <a:ext cx="5440680" cy="1280160"/>
          </a:xfrm>
          <a:prstGeom prst="roundRect">
            <a:avLst>
              <a:gd name="adj" fmla="val 8571"/>
            </a:avLst>
          </a:prstGeom>
          <a:solidFill>
            <a:srgbClr val="FAFAF9"/>
          </a:solidFill>
          <a:ln w="12700">
            <a:solidFill>
              <a:srgbClr val="E7E5E4"/>
            </a:solidFill>
            <a:prstDash val="solid"/>
          </a:ln>
        </p:spPr>
      </p:sp>
      <p:sp>
        <p:nvSpPr>
          <p:cNvPr id="13" name="Text 11"/>
          <p:cNvSpPr txBox="1"/>
          <p:nvPr/>
        </p:nvSpPr>
        <p:spPr>
          <a:xfrm>
            <a:off x="822960" y="4663440"/>
            <a:ext cx="4892040" cy="960120"/>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La v3 de TA-01 está medida, no puesta.</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 Lo demás de esta entrega usa los grupos de la v2.</a:t>
            </a:r>
            <a:endParaRPr lang="en-US" sz="1450" dirty="0"/>
          </a:p>
        </p:txBody>
      </p:sp>
      <p:sp>
        <p:nvSpPr>
          <p:cNvPr id="14" name="límite 6"/>
          <p:cNvSpPr/>
          <p:nvPr/>
        </p:nvSpPr>
        <p:spPr>
          <a:xfrm>
            <a:off x="6199632" y="4480560"/>
            <a:ext cx="5440680" cy="1280160"/>
          </a:xfrm>
          <a:prstGeom prst="roundRect">
            <a:avLst>
              <a:gd name="adj" fmla="val 8571"/>
            </a:avLst>
          </a:prstGeom>
          <a:solidFill>
            <a:srgbClr val="FAFAF9"/>
          </a:solidFill>
          <a:ln w="12700">
            <a:solidFill>
              <a:srgbClr val="E7E5E4"/>
            </a:solidFill>
            <a:prstDash val="solid"/>
          </a:ln>
        </p:spPr>
      </p:sp>
      <p:sp>
        <p:nvSpPr>
          <p:cNvPr id="15" name="Text 13"/>
          <p:cNvSpPr txBox="1"/>
          <p:nvPr/>
        </p:nvSpPr>
        <p:spPr>
          <a:xfrm>
            <a:off x="6473952" y="4663440"/>
            <a:ext cx="4892040" cy="960120"/>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Las propiedades prueban el contrato,</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 no que un viaje sea bueno.</a:t>
            </a:r>
            <a:endParaRPr lang="en-US" sz="14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Las tres semanas que quedan</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Del 29 de octubre al 18 de noviembre, con un responsable y un criterio de terminado para cada tarea</a:t>
            </a:r>
            <a:endParaRPr lang="en-US" sz="1400" dirty="0"/>
          </a:p>
        </p:txBody>
      </p:sp>
      <p:sp>
        <p:nvSpPr>
          <p:cNvPr id="4" name="Semana 13"/>
          <p:cNvSpPr/>
          <p:nvPr/>
        </p:nvSpPr>
        <p:spPr>
          <a:xfrm>
            <a:off x="548640" y="1508760"/>
            <a:ext cx="3520440" cy="4434840"/>
          </a:xfrm>
          <a:prstGeom prst="roundRect">
            <a:avLst>
              <a:gd name="adj" fmla="val 3117"/>
            </a:avLst>
          </a:prstGeom>
          <a:solidFill>
            <a:srgbClr val="FAFAF9"/>
          </a:solidFill>
          <a:ln w="12700">
            <a:solidFill>
              <a:srgbClr val="E7E5E4"/>
            </a:solidFill>
            <a:prstDash val="solid"/>
          </a:ln>
        </p:spPr>
      </p:sp>
      <p:sp>
        <p:nvSpPr>
          <p:cNvPr id="5" name="Text 3"/>
          <p:cNvSpPr txBox="1"/>
          <p:nvPr/>
        </p:nvSpPr>
        <p:spPr>
          <a:xfrm>
            <a:off x="822960" y="1691640"/>
            <a:ext cx="3017520" cy="411480"/>
          </a:xfrm>
          <a:prstGeom prst="rect">
            <a:avLst/>
          </a:prstGeom>
          <a:noFill/>
          <a:ln/>
        </p:spPr>
        <p:txBody>
          <a:bodyPr wrap="square" lIns="0" tIns="0" rIns="0" bIns="0" rtlCol="0" anchor="t"/>
          <a:lstStyle/>
          <a:p>
            <a:pPr indent="0" marL="0">
              <a:buNone/>
            </a:pPr>
            <a:r>
              <a:rPr lang="en-US" sz="1900" b="1" dirty="0">
                <a:solidFill>
                  <a:srgbClr val="C2410C"/>
                </a:solidFill>
                <a:latin typeface="Lexend" pitchFamily="34" charset="0"/>
                <a:ea typeface="Lexend" pitchFamily="34" charset="-122"/>
                <a:cs typeface="Lexend" pitchFamily="34" charset="-120"/>
              </a:rPr>
              <a:t>Semana 13</a:t>
            </a:r>
            <a:endParaRPr lang="en-US" sz="1900" dirty="0"/>
          </a:p>
        </p:txBody>
      </p:sp>
      <p:sp>
        <p:nvSpPr>
          <p:cNvPr id="6" name="Text 4"/>
          <p:cNvSpPr txBox="1"/>
          <p:nvPr/>
        </p:nvSpPr>
        <p:spPr>
          <a:xfrm>
            <a:off x="822960" y="2103120"/>
            <a:ext cx="3017520" cy="320040"/>
          </a:xfrm>
          <a:prstGeom prst="rect">
            <a:avLst/>
          </a:prstGeom>
          <a:noFill/>
          <a:ln/>
        </p:spPr>
        <p:txBody>
          <a:bodyPr wrap="square" lIns="0" tIns="0" rIns="0" bIns="0" rtlCol="0" anchor="t"/>
          <a:lstStyle/>
          <a:p>
            <a:pPr indent="0" marL="0">
              <a:buNone/>
            </a:pPr>
            <a:r>
              <a:rPr lang="en-US" sz="1300" dirty="0">
                <a:solidFill>
                  <a:srgbClr val="78716C"/>
                </a:solidFill>
                <a:latin typeface="Quattrocento Sans" pitchFamily="34" charset="0"/>
                <a:ea typeface="Quattrocento Sans" pitchFamily="34" charset="-122"/>
                <a:cs typeface="Quattrocento Sans" pitchFamily="34" charset="-120"/>
              </a:rPr>
              <a:t>29 oct – 4 nov</a:t>
            </a:r>
            <a:endParaRPr lang="en-US" sz="1300" dirty="0"/>
          </a:p>
        </p:txBody>
      </p:sp>
      <p:sp>
        <p:nvSpPr>
          <p:cNvPr id="7" name="Text 5"/>
          <p:cNvSpPr txBox="1"/>
          <p:nvPr/>
        </p:nvSpPr>
        <p:spPr>
          <a:xfrm>
            <a:off x="822960" y="2606040"/>
            <a:ext cx="3017520" cy="3200400"/>
          </a:xfrm>
          <a:prstGeom prst="rect">
            <a:avLst/>
          </a:prstGeom>
          <a:noFill/>
          <a:ln/>
        </p:spPr>
        <p:txBody>
          <a:bodyPr wrap="square" lIns="0" tIns="0" rIns="0" bIns="0" rtlCol="0" anchor="t"/>
          <a:lstStyle/>
          <a:p>
            <a:pPr marL="203200" indent="-203200">
              <a:spcAft>
                <a:spcPts val="1000"/>
              </a:spcAft>
              <a:buSzPct val="100000"/>
              <a:buChar char="•"/>
            </a:pPr>
            <a:r>
              <a:rPr lang="en-US" sz="1350" dirty="0">
                <a:solidFill>
                  <a:srgbClr val="57534E"/>
                </a:solidFill>
                <a:latin typeface="Quattrocento Sans" pitchFamily="34" charset="0"/>
                <a:ea typeface="Quattrocento Sans" pitchFamily="34" charset="-122"/>
                <a:cs typeface="Quattrocento Sans" pitchFamily="34" charset="-120"/>
              </a:rPr>
              <a:t>La parada que le falta a la heurística · Diego</a:t>
            </a:r>
            <a:endParaRPr lang="en-US" sz="1350" dirty="0"/>
          </a:p>
          <a:p>
            <a:pPr marL="203200" indent="-203200">
              <a:spcAft>
                <a:spcPts val="1000"/>
              </a:spcAft>
              <a:buSzPct val="100000"/>
              <a:buChar char="•"/>
            </a:pPr>
            <a:r>
              <a:rPr lang="en-US" sz="1350" dirty="0">
                <a:solidFill>
                  <a:srgbClr val="57534E"/>
                </a:solidFill>
                <a:latin typeface="Quattrocento Sans" pitchFamily="34" charset="0"/>
                <a:ea typeface="Quattrocento Sans" pitchFamily="34" charset="-122"/>
                <a:cs typeface="Quattrocento Sans" pitchFamily="34" charset="-120"/>
              </a:rPr>
              <a:t>Calibrar los tiempos con los buses · Alejandro</a:t>
            </a:r>
            <a:endParaRPr lang="en-US" sz="1350" dirty="0"/>
          </a:p>
          <a:p>
            <a:pPr marL="203200" indent="-203200">
              <a:spcAft>
                <a:spcPts val="1000"/>
              </a:spcAft>
              <a:buSzPct val="100000"/>
              <a:buChar char="•"/>
            </a:pPr>
            <a:r>
              <a:rPr lang="en-US" sz="1350" dirty="0">
                <a:solidFill>
                  <a:srgbClr val="57534E"/>
                </a:solidFill>
                <a:latin typeface="Quattrocento Sans" pitchFamily="34" charset="0"/>
                <a:ea typeface="Quattrocento Sans" pitchFamily="34" charset="-122"/>
                <a:cs typeface="Quattrocento Sans" pitchFamily="34" charset="-120"/>
              </a:rPr>
              <a:t>El API en AWS y su arranque en frío · Miguel</a:t>
            </a:r>
            <a:endParaRPr lang="en-US" sz="1350" dirty="0"/>
          </a:p>
          <a:p>
            <a:pPr marL="203200" indent="-203200">
              <a:spcAft>
                <a:spcPts val="1000"/>
              </a:spcAft>
              <a:buSzPct val="100000"/>
              <a:buChar char="•"/>
            </a:pPr>
            <a:r>
              <a:rPr lang="en-US" sz="1350" dirty="0">
                <a:solidFill>
                  <a:srgbClr val="57534E"/>
                </a:solidFill>
                <a:latin typeface="Quattrocento Sans" pitchFamily="34" charset="0"/>
                <a:ea typeface="Quattrocento Sans" pitchFamily="34" charset="-122"/>
                <a:cs typeface="Quattrocento Sans" pitchFamily="34" charset="-120"/>
              </a:rPr>
              <a:t>Los imperdibles con foto y texto · Christopher y Alejandro</a:t>
            </a:r>
            <a:endParaRPr lang="en-US" sz="1350" dirty="0"/>
          </a:p>
        </p:txBody>
      </p:sp>
      <p:sp>
        <p:nvSpPr>
          <p:cNvPr id="8" name="Semana 14"/>
          <p:cNvSpPr/>
          <p:nvPr/>
        </p:nvSpPr>
        <p:spPr>
          <a:xfrm>
            <a:off x="4297680" y="1508760"/>
            <a:ext cx="3520440" cy="4434840"/>
          </a:xfrm>
          <a:prstGeom prst="roundRect">
            <a:avLst>
              <a:gd name="adj" fmla="val 3117"/>
            </a:avLst>
          </a:prstGeom>
          <a:solidFill>
            <a:srgbClr val="FAFAF9"/>
          </a:solidFill>
          <a:ln w="12700">
            <a:solidFill>
              <a:srgbClr val="E7E5E4"/>
            </a:solidFill>
            <a:prstDash val="solid"/>
          </a:ln>
        </p:spPr>
      </p:sp>
      <p:sp>
        <p:nvSpPr>
          <p:cNvPr id="9" name="Text 7"/>
          <p:cNvSpPr txBox="1"/>
          <p:nvPr/>
        </p:nvSpPr>
        <p:spPr>
          <a:xfrm>
            <a:off x="4572000" y="1691640"/>
            <a:ext cx="3017520" cy="411480"/>
          </a:xfrm>
          <a:prstGeom prst="rect">
            <a:avLst/>
          </a:prstGeom>
          <a:noFill/>
          <a:ln/>
        </p:spPr>
        <p:txBody>
          <a:bodyPr wrap="square" lIns="0" tIns="0" rIns="0" bIns="0" rtlCol="0" anchor="t"/>
          <a:lstStyle/>
          <a:p>
            <a:pPr indent="0" marL="0">
              <a:buNone/>
            </a:pPr>
            <a:r>
              <a:rPr lang="en-US" sz="1900" b="1" dirty="0">
                <a:solidFill>
                  <a:srgbClr val="C2410C"/>
                </a:solidFill>
                <a:latin typeface="Lexend" pitchFamily="34" charset="0"/>
                <a:ea typeface="Lexend" pitchFamily="34" charset="-122"/>
                <a:cs typeface="Lexend" pitchFamily="34" charset="-120"/>
              </a:rPr>
              <a:t>Semana 14</a:t>
            </a:r>
            <a:endParaRPr lang="en-US" sz="1900" dirty="0"/>
          </a:p>
        </p:txBody>
      </p:sp>
      <p:sp>
        <p:nvSpPr>
          <p:cNvPr id="10" name="Text 8"/>
          <p:cNvSpPr txBox="1"/>
          <p:nvPr/>
        </p:nvSpPr>
        <p:spPr>
          <a:xfrm>
            <a:off x="4572000" y="2103120"/>
            <a:ext cx="3017520" cy="320040"/>
          </a:xfrm>
          <a:prstGeom prst="rect">
            <a:avLst/>
          </a:prstGeom>
          <a:noFill/>
          <a:ln/>
        </p:spPr>
        <p:txBody>
          <a:bodyPr wrap="square" lIns="0" tIns="0" rIns="0" bIns="0" rtlCol="0" anchor="t"/>
          <a:lstStyle/>
          <a:p>
            <a:pPr indent="0" marL="0">
              <a:buNone/>
            </a:pPr>
            <a:r>
              <a:rPr lang="en-US" sz="1300" dirty="0">
                <a:solidFill>
                  <a:srgbClr val="78716C"/>
                </a:solidFill>
                <a:latin typeface="Quattrocento Sans" pitchFamily="34" charset="0"/>
                <a:ea typeface="Quattrocento Sans" pitchFamily="34" charset="-122"/>
                <a:cs typeface="Quattrocento Sans" pitchFamily="34" charset="-120"/>
              </a:rPr>
              <a:t>5 – 11 nov</a:t>
            </a:r>
            <a:endParaRPr lang="en-US" sz="1300" dirty="0"/>
          </a:p>
        </p:txBody>
      </p:sp>
      <p:sp>
        <p:nvSpPr>
          <p:cNvPr id="11" name="Text 9"/>
          <p:cNvSpPr txBox="1"/>
          <p:nvPr/>
        </p:nvSpPr>
        <p:spPr>
          <a:xfrm>
            <a:off x="4572000" y="2606040"/>
            <a:ext cx="3017520" cy="3200400"/>
          </a:xfrm>
          <a:prstGeom prst="rect">
            <a:avLst/>
          </a:prstGeom>
          <a:noFill/>
          <a:ln/>
        </p:spPr>
        <p:txBody>
          <a:bodyPr wrap="square" lIns="0" tIns="0" rIns="0" bIns="0" rtlCol="0" anchor="t"/>
          <a:lstStyle/>
          <a:p>
            <a:pPr marL="203200" indent="-203200">
              <a:spcAft>
                <a:spcPts val="1000"/>
              </a:spcAft>
              <a:buSzPct val="100000"/>
              <a:buChar char="•"/>
            </a:pPr>
            <a:r>
              <a:rPr lang="en-US" sz="1350" dirty="0">
                <a:solidFill>
                  <a:srgbClr val="57534E"/>
                </a:solidFill>
                <a:latin typeface="Quattrocento Sans" pitchFamily="34" charset="0"/>
                <a:ea typeface="Quattrocento Sans" pitchFamily="34" charset="-122"/>
                <a:cs typeface="Quattrocento Sans" pitchFamily="34" charset="-120"/>
              </a:rPr>
              <a:t>Los grupos de la v3 en el producto · Alejandro y Miguel</a:t>
            </a:r>
            <a:endParaRPr lang="en-US" sz="1350" dirty="0"/>
          </a:p>
          <a:p>
            <a:pPr marL="203200" indent="-203200">
              <a:spcAft>
                <a:spcPts val="1000"/>
              </a:spcAft>
              <a:buSzPct val="100000"/>
              <a:buChar char="•"/>
            </a:pPr>
            <a:r>
              <a:rPr lang="en-US" sz="1350" dirty="0">
                <a:solidFill>
                  <a:srgbClr val="57534E"/>
                </a:solidFill>
                <a:latin typeface="Quattrocento Sans" pitchFamily="34" charset="0"/>
                <a:ea typeface="Quattrocento Sans" pitchFamily="34" charset="-122"/>
                <a:cs typeface="Quattrocento Sans" pitchFamily="34" charset="-120"/>
              </a:rPr>
              <a:t>Viajes de varios polos · Diego</a:t>
            </a:r>
            <a:endParaRPr lang="en-US" sz="1350" dirty="0"/>
          </a:p>
          <a:p>
            <a:pPr marL="203200" indent="-203200">
              <a:spcAft>
                <a:spcPts val="1000"/>
              </a:spcAft>
              <a:buSzPct val="100000"/>
              <a:buChar char="•"/>
            </a:pPr>
            <a:r>
              <a:rPr lang="en-US" sz="1350" dirty="0">
                <a:solidFill>
                  <a:srgbClr val="57534E"/>
                </a:solidFill>
                <a:latin typeface="Quattrocento Sans" pitchFamily="34" charset="0"/>
                <a:ea typeface="Quattrocento Sans" pitchFamily="34" charset="-122"/>
                <a:cs typeface="Quattrocento Sans" pitchFamily="34" charset="-120"/>
              </a:rPr>
              <a:t>El costo con el camino real · Alejandro y Miguel</a:t>
            </a:r>
            <a:endParaRPr lang="en-US" sz="1350" dirty="0"/>
          </a:p>
          <a:p>
            <a:pPr marL="203200" indent="-203200">
              <a:spcAft>
                <a:spcPts val="1000"/>
              </a:spcAft>
              <a:buSzPct val="100000"/>
              <a:buChar char="•"/>
            </a:pPr>
            <a:r>
              <a:rPr lang="en-US" sz="1350" dirty="0">
                <a:solidFill>
                  <a:srgbClr val="57534E"/>
                </a:solidFill>
                <a:latin typeface="Quattrocento Sans" pitchFamily="34" charset="0"/>
                <a:ea typeface="Quattrocento Sans" pitchFamily="34" charset="-122"/>
                <a:cs typeface="Quattrocento Sans" pitchFamily="34" charset="-120"/>
              </a:rPr>
              <a:t>La página del proyecto, el Canvas y los requisitos · Christopher</a:t>
            </a:r>
            <a:endParaRPr lang="en-US" sz="1350" dirty="0"/>
          </a:p>
        </p:txBody>
      </p:sp>
      <p:sp>
        <p:nvSpPr>
          <p:cNvPr id="12" name="Semana 15"/>
          <p:cNvSpPr/>
          <p:nvPr/>
        </p:nvSpPr>
        <p:spPr>
          <a:xfrm>
            <a:off x="8046720" y="1508760"/>
            <a:ext cx="3520440" cy="4434840"/>
          </a:xfrm>
          <a:prstGeom prst="roundRect">
            <a:avLst>
              <a:gd name="adj" fmla="val 3117"/>
            </a:avLst>
          </a:prstGeom>
          <a:solidFill>
            <a:srgbClr val="F0FDFA"/>
          </a:solidFill>
          <a:ln w="12700">
            <a:solidFill>
              <a:srgbClr val="E7E5E4"/>
            </a:solidFill>
            <a:prstDash val="solid"/>
          </a:ln>
        </p:spPr>
      </p:sp>
      <p:sp>
        <p:nvSpPr>
          <p:cNvPr id="13" name="Text 11"/>
          <p:cNvSpPr txBox="1"/>
          <p:nvPr/>
        </p:nvSpPr>
        <p:spPr>
          <a:xfrm>
            <a:off x="8321040" y="1691640"/>
            <a:ext cx="3017520" cy="411480"/>
          </a:xfrm>
          <a:prstGeom prst="rect">
            <a:avLst/>
          </a:prstGeom>
          <a:noFill/>
          <a:ln/>
        </p:spPr>
        <p:txBody>
          <a:bodyPr wrap="square" lIns="0" tIns="0" rIns="0" bIns="0" rtlCol="0" anchor="t"/>
          <a:lstStyle/>
          <a:p>
            <a:pPr indent="0" marL="0">
              <a:buNone/>
            </a:pPr>
            <a:r>
              <a:rPr lang="en-US" sz="1900" b="1" dirty="0">
                <a:solidFill>
                  <a:srgbClr val="0D9488"/>
                </a:solidFill>
                <a:latin typeface="Lexend" pitchFamily="34" charset="0"/>
                <a:ea typeface="Lexend" pitchFamily="34" charset="-122"/>
                <a:cs typeface="Lexend" pitchFamily="34" charset="-120"/>
              </a:rPr>
              <a:t>Semana 15</a:t>
            </a:r>
            <a:endParaRPr lang="en-US" sz="1900" dirty="0"/>
          </a:p>
        </p:txBody>
      </p:sp>
      <p:sp>
        <p:nvSpPr>
          <p:cNvPr id="14" name="Text 12"/>
          <p:cNvSpPr txBox="1"/>
          <p:nvPr/>
        </p:nvSpPr>
        <p:spPr>
          <a:xfrm>
            <a:off x="8321040" y="2103120"/>
            <a:ext cx="3017520" cy="320040"/>
          </a:xfrm>
          <a:prstGeom prst="rect">
            <a:avLst/>
          </a:prstGeom>
          <a:noFill/>
          <a:ln/>
        </p:spPr>
        <p:txBody>
          <a:bodyPr wrap="square" lIns="0" tIns="0" rIns="0" bIns="0" rtlCol="0" anchor="t"/>
          <a:lstStyle/>
          <a:p>
            <a:pPr indent="0" marL="0">
              <a:buNone/>
            </a:pPr>
            <a:r>
              <a:rPr lang="en-US" sz="1300" dirty="0">
                <a:solidFill>
                  <a:srgbClr val="78716C"/>
                </a:solidFill>
                <a:latin typeface="Quattrocento Sans" pitchFamily="34" charset="0"/>
                <a:ea typeface="Quattrocento Sans" pitchFamily="34" charset="-122"/>
                <a:cs typeface="Quattrocento Sans" pitchFamily="34" charset="-120"/>
              </a:rPr>
              <a:t>12 – 18 nov</a:t>
            </a:r>
            <a:endParaRPr lang="en-US" sz="1300" dirty="0"/>
          </a:p>
        </p:txBody>
      </p:sp>
      <p:sp>
        <p:nvSpPr>
          <p:cNvPr id="15" name="Text 13"/>
          <p:cNvSpPr txBox="1"/>
          <p:nvPr/>
        </p:nvSpPr>
        <p:spPr>
          <a:xfrm>
            <a:off x="8321040" y="2606040"/>
            <a:ext cx="3017520" cy="3200400"/>
          </a:xfrm>
          <a:prstGeom prst="rect">
            <a:avLst/>
          </a:prstGeom>
          <a:noFill/>
          <a:ln/>
        </p:spPr>
        <p:txBody>
          <a:bodyPr wrap="square" lIns="0" tIns="0" rIns="0" bIns="0" rtlCol="0" anchor="t"/>
          <a:lstStyle/>
          <a:p>
            <a:pPr marL="203200" indent="-203200">
              <a:spcAft>
                <a:spcPts val="1000"/>
              </a:spcAft>
              <a:buSzPct val="100000"/>
              <a:buChar char="•"/>
            </a:pPr>
            <a:r>
              <a:rPr lang="en-US" sz="1350" dirty="0">
                <a:solidFill>
                  <a:srgbClr val="57534E"/>
                </a:solidFill>
                <a:latin typeface="Quattrocento Sans" pitchFamily="34" charset="0"/>
                <a:ea typeface="Quattrocento Sans" pitchFamily="34" charset="-122"/>
                <a:cs typeface="Quattrocento Sans" pitchFamily="34" charset="-120"/>
              </a:rPr>
              <a:t>El informe final · los cuatro</a:t>
            </a:r>
            <a:endParaRPr lang="en-US" sz="1350" dirty="0"/>
          </a:p>
          <a:p>
            <a:pPr marL="203200" indent="-203200">
              <a:spcAft>
                <a:spcPts val="1000"/>
              </a:spcAft>
              <a:buSzPct val="100000"/>
              <a:buChar char="•"/>
            </a:pPr>
            <a:r>
              <a:rPr lang="en-US" sz="1350" dirty="0">
                <a:solidFill>
                  <a:srgbClr val="57534E"/>
                </a:solidFill>
                <a:latin typeface="Quattrocento Sans" pitchFamily="34" charset="0"/>
                <a:ea typeface="Quattrocento Sans" pitchFamily="34" charset="-122"/>
                <a:cs typeface="Quattrocento Sans" pitchFamily="34" charset="-120"/>
              </a:rPr>
              <a:t>La presentación y el video · los cuatro</a:t>
            </a:r>
            <a:endParaRPr lang="en-US" sz="1350" dirty="0"/>
          </a:p>
          <a:p>
            <a:pPr marL="203200" indent="-203200">
              <a:spcAft>
                <a:spcPts val="1000"/>
              </a:spcAft>
              <a:buSzPct val="100000"/>
              <a:buChar char="•"/>
            </a:pPr>
            <a:r>
              <a:rPr lang="en-US" sz="1350" dirty="0">
                <a:solidFill>
                  <a:srgbClr val="57534E"/>
                </a:solidFill>
                <a:latin typeface="Quattrocento Sans" pitchFamily="34" charset="0"/>
                <a:ea typeface="Quattrocento Sans" pitchFamily="34" charset="-122"/>
                <a:cs typeface="Quattrocento Sans" pitchFamily="34" charset="-120"/>
              </a:rPr>
              <a:t>La contribución y la reflexión · cada uno</a:t>
            </a:r>
            <a:endParaRPr lang="en-US" sz="1350" dirty="0"/>
          </a:p>
          <a:p>
            <a:pPr marL="203200" indent="-203200">
              <a:spcAft>
                <a:spcPts val="1000"/>
              </a:spcAft>
              <a:buSzPct val="100000"/>
              <a:buChar char="•"/>
            </a:pPr>
            <a:r>
              <a:rPr lang="en-US" sz="1350" dirty="0">
                <a:solidFill>
                  <a:srgbClr val="57534E"/>
                </a:solidFill>
                <a:latin typeface="Quattrocento Sans" pitchFamily="34" charset="0"/>
                <a:ea typeface="Quattrocento Sans" pitchFamily="34" charset="-122"/>
                <a:cs typeface="Quattrocento Sans" pitchFamily="34" charset="-120"/>
              </a:rPr>
              <a:t>El ensayo con preguntas difíciles · los cuatro</a:t>
            </a:r>
            <a:endParaRPr lang="en-US" sz="1350" dirty="0"/>
          </a:p>
        </p:txBody>
      </p:sp>
      <p:sp>
        <p:nvSpPr>
          <p:cNvPr id="16" name="Text 14"/>
          <p:cNvSpPr txBox="1"/>
          <p:nvPr/>
        </p:nvSpPr>
        <p:spPr>
          <a:xfrm>
            <a:off x="548640" y="6035040"/>
            <a:ext cx="10972800" cy="274320"/>
          </a:xfrm>
          <a:prstGeom prst="rect">
            <a:avLst/>
          </a:prstGeom>
          <a:noFill/>
          <a:ln/>
        </p:spPr>
        <p:txBody>
          <a:bodyPr wrap="square" lIns="0" tIns="0" rIns="0" bIns="0" rtlCol="0" anchor="t"/>
          <a:lstStyle/>
          <a:p>
            <a:pPr indent="0" marL="0">
              <a:buNone/>
            </a:pPr>
            <a:r>
              <a:rPr lang="en-US" sz="1200" dirty="0">
                <a:solidFill>
                  <a:srgbClr val="78716C"/>
                </a:solidFill>
                <a:latin typeface="Quattrocento Sans" pitchFamily="34" charset="0"/>
                <a:ea typeface="Quattrocento Sans" pitchFamily="34" charset="-122"/>
                <a:cs typeface="Quattrocento Sans" pitchFamily="34" charset="-120"/>
              </a:rPr>
              <a:t>El detalle, con el criterio de terminado de cada tarea, está en deliveries/week12/PlanFinal.md.</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Gracias. Preguntas</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La app, el repositorio y el informe de esta entrega</a:t>
            </a:r>
            <a:endParaRPr lang="en-US" sz="1400" dirty="0"/>
          </a:p>
        </p:txBody>
      </p:sp>
      <p:sp>
        <p:nvSpPr>
          <p:cNvPr id="4" name="panel del QR"/>
          <p:cNvSpPr/>
          <p:nvPr/>
        </p:nvSpPr>
        <p:spPr>
          <a:xfrm>
            <a:off x="548640" y="1554480"/>
            <a:ext cx="3566160" cy="4343400"/>
          </a:xfrm>
          <a:prstGeom prst="roundRect">
            <a:avLst>
              <a:gd name="adj" fmla="val 3077"/>
            </a:avLst>
          </a:prstGeom>
          <a:solidFill>
            <a:srgbClr val="F5F5F4"/>
          </a:solidFill>
          <a:ln w="12700">
            <a:solidFill>
              <a:srgbClr val="E7E5E4"/>
            </a:solidFill>
            <a:prstDash val="solid"/>
          </a:ln>
        </p:spPr>
      </p:sp>
      <p:pic>
        <p:nvPicPr>
          <p:cNvPr id="5" name="qr_app.png" descr="Código QR de la app publicada">    </p:cNvPr>
          <p:cNvPicPr>
            <a:picLocks noChangeAspect="1"/>
          </p:cNvPicPr>
          <p:nvPr/>
        </p:nvPicPr>
        <p:blipFill>
          <a:blip r:embed="rId1"/>
          <a:stretch>
            <a:fillRect/>
          </a:stretch>
        </p:blipFill>
        <p:spPr>
          <a:xfrm>
            <a:off x="960120" y="1828800"/>
            <a:ext cx="2743200" cy="2743200"/>
          </a:xfrm>
          <a:prstGeom prst="rect">
            <a:avLst/>
          </a:prstGeom>
        </p:spPr>
      </p:pic>
      <p:sp>
        <p:nvSpPr>
          <p:cNvPr id="6" name="Text 3"/>
          <p:cNvSpPr txBox="1"/>
          <p:nvPr/>
        </p:nvSpPr>
        <p:spPr>
          <a:xfrm>
            <a:off x="777240" y="4754880"/>
            <a:ext cx="3108960" cy="365760"/>
          </a:xfrm>
          <a:prstGeom prst="rect">
            <a:avLst/>
          </a:prstGeom>
          <a:noFill/>
          <a:ln/>
        </p:spPr>
        <p:txBody>
          <a:bodyPr wrap="square" lIns="0" tIns="0" rIns="0" bIns="0" rtlCol="0" anchor="t"/>
          <a:lstStyle/>
          <a:p>
            <a:pPr algn="ctr" indent="0" marL="0">
              <a:buNone/>
            </a:pPr>
            <a:r>
              <a:rPr lang="en-US" sz="1700" b="1" dirty="0">
                <a:solidFill>
                  <a:srgbClr val="1C1917"/>
                </a:solidFill>
                <a:latin typeface="Lexend" pitchFamily="34" charset="0"/>
                <a:ea typeface="Lexend" pitchFamily="34" charset="-122"/>
                <a:cs typeface="Lexend" pitchFamily="34" charset="-120"/>
              </a:rPr>
              <a:t>Pruébala en tu celular</a:t>
            </a:r>
            <a:endParaRPr lang="en-US" sz="1700" dirty="0"/>
          </a:p>
        </p:txBody>
      </p:sp>
      <p:sp>
        <p:nvSpPr>
          <p:cNvPr id="7" name="Text 4"/>
          <p:cNvSpPr txBox="1"/>
          <p:nvPr/>
        </p:nvSpPr>
        <p:spPr>
          <a:xfrm>
            <a:off x="4526280" y="1783080"/>
            <a:ext cx="4206240" cy="3931920"/>
          </a:xfrm>
          <a:prstGeom prst="rect">
            <a:avLst/>
          </a:prstGeom>
          <a:noFill/>
          <a:ln/>
        </p:spPr>
        <p:txBody>
          <a:bodyPr wrap="square" lIns="0" tIns="0" rIns="0" bIns="0" rtlCol="0" anchor="t"/>
          <a:lstStyle/>
          <a:p>
            <a:pPr indent="0" marL="0">
              <a:buNone/>
            </a:pPr>
            <a:r>
              <a:rPr lang="en-US" sz="1600" b="1" dirty="0">
                <a:solidFill>
                  <a:srgbClr val="1C1917"/>
                </a:solidFill>
                <a:latin typeface="Quattrocento Sans" pitchFamily="34" charset="0"/>
                <a:ea typeface="Quattrocento Sans" pitchFamily="34" charset="-122"/>
                <a:cs typeface="Quattrocento Sans" pitchFamily="34" charset="-120"/>
              </a:rPr>
              <a:t>La app: </a:t>
            </a:r>
            <a:pPr indent="0" marL="0">
              <a:spcAft>
                <a:spcPts val="1600"/>
              </a:spcAft>
              <a:buNone/>
            </a:pPr>
            <a:r>
              <a:rPr lang="en-US" sz="1600" dirty="0">
                <a:solidFill>
                  <a:srgbClr val="57534E"/>
                </a:solidFill>
                <a:latin typeface="Quattrocento Sans" pitchFamily="34" charset="0"/>
                <a:ea typeface="Quattrocento Sans" pitchFamily="34" charset="-122"/>
                <a:cs typeface="Quattrocento Sans" pitchFamily="34" charset="-120"/>
              </a:rPr>
              <a:t>oswaldoaqm.github.io/Alejandros-Team</a:t>
            </a:r>
            <a:endParaRPr lang="en-US" sz="1600" dirty="0"/>
          </a:p>
          <a:p>
            <a:pPr indent="0" marL="0">
              <a:buNone/>
            </a:pPr>
            <a:r>
              <a:rPr lang="en-US" sz="1600" b="1" dirty="0">
                <a:solidFill>
                  <a:srgbClr val="1C1917"/>
                </a:solidFill>
                <a:latin typeface="Quattrocento Sans" pitchFamily="34" charset="0"/>
                <a:ea typeface="Quattrocento Sans" pitchFamily="34" charset="-122"/>
                <a:cs typeface="Quattrocento Sans" pitchFamily="34" charset="-120"/>
              </a:rPr>
              <a:t>El repositorio: </a:t>
            </a:r>
            <a:pPr indent="0" marL="0">
              <a:spcAft>
                <a:spcPts val="1600"/>
              </a:spcAft>
              <a:buNone/>
            </a:pPr>
            <a:r>
              <a:rPr lang="en-US" sz="1600" dirty="0">
                <a:solidFill>
                  <a:srgbClr val="57534E"/>
                </a:solidFill>
                <a:latin typeface="Quattrocento Sans" pitchFamily="34" charset="0"/>
                <a:ea typeface="Quattrocento Sans" pitchFamily="34" charset="-122"/>
                <a:cs typeface="Quattrocento Sans" pitchFamily="34" charset="-120"/>
              </a:rPr>
              <a:t>github.com/oswaldoaqm/Alejandros-Team</a:t>
            </a:r>
            <a:endParaRPr lang="en-US" sz="1600" dirty="0"/>
          </a:p>
          <a:p>
            <a:pPr indent="0" marL="0">
              <a:buNone/>
            </a:pPr>
            <a:r>
              <a:rPr lang="en-US" sz="1600" b="1" dirty="0">
                <a:solidFill>
                  <a:srgbClr val="1C1917"/>
                </a:solidFill>
                <a:latin typeface="Quattrocento Sans" pitchFamily="34" charset="0"/>
                <a:ea typeface="Quattrocento Sans" pitchFamily="34" charset="-122"/>
                <a:cs typeface="Quattrocento Sans" pitchFamily="34" charset="-120"/>
              </a:rPr>
              <a:t>El informe: </a:t>
            </a:r>
            <a:pPr indent="0" marL="0">
              <a:spcAft>
                <a:spcPts val="1600"/>
              </a:spcAft>
              <a:buNone/>
            </a:pPr>
            <a:r>
              <a:rPr lang="en-US" sz="1600" dirty="0">
                <a:solidFill>
                  <a:srgbClr val="57534E"/>
                </a:solidFill>
                <a:latin typeface="Quattrocento Sans" pitchFamily="34" charset="0"/>
                <a:ea typeface="Quattrocento Sans" pitchFamily="34" charset="-122"/>
                <a:cs typeface="Quattrocento Sans" pitchFamily="34" charset="-120"/>
              </a:rPr>
              <a:t>deliveries/week12/EvaluationReport.md, con el comando de cada cifra</a:t>
            </a:r>
            <a:endParaRPr lang="en-US" sz="1600" dirty="0"/>
          </a:p>
          <a:p>
            <a:pPr indent="0" marL="0">
              <a:buNone/>
            </a:pPr>
            <a:r>
              <a:rPr lang="en-US" sz="1600" b="1" dirty="0">
                <a:solidFill>
                  <a:srgbClr val="1C1917"/>
                </a:solidFill>
                <a:latin typeface="Quattrocento Sans" pitchFamily="34" charset="0"/>
                <a:ea typeface="Quattrocento Sans" pitchFamily="34" charset="-122"/>
                <a:cs typeface="Quattrocento Sans" pitchFamily="34" charset="-120"/>
              </a:rPr>
              <a:t>El plan: </a:t>
            </a:r>
            <a:pPr indent="0" marL="0">
              <a:spcAft>
                <a:spcPts val="1600"/>
              </a:spcAft>
              <a:buNone/>
            </a:pPr>
            <a:r>
              <a:rPr lang="en-US" sz="1600" dirty="0">
                <a:solidFill>
                  <a:srgbClr val="57534E"/>
                </a:solidFill>
                <a:latin typeface="Quattrocento Sans" pitchFamily="34" charset="0"/>
                <a:ea typeface="Quattrocento Sans" pitchFamily="34" charset="-122"/>
                <a:cs typeface="Quattrocento Sans" pitchFamily="34" charset="-120"/>
              </a:rPr>
              <a:t>deliveries/week12/PlanFinal.md</a:t>
            </a:r>
            <a:endParaRPr lang="en-US" sz="1600" dirty="0"/>
          </a:p>
        </p:txBody>
      </p:sp>
      <p:pic>
        <p:nvPicPr>
          <p:cNvPr id="8" name="caso_9_compartir.png" descr="Compartir un viaje: el enlace es el viaje">    </p:cNvPr>
          <p:cNvPicPr>
            <a:picLocks noChangeAspect="1"/>
          </p:cNvPicPr>
          <p:nvPr/>
        </p:nvPicPr>
        <p:blipFill>
          <a:blip r:embed="rId2"/>
          <a:stretch>
            <a:fillRect/>
          </a:stretch>
        </p:blipFill>
        <p:spPr>
          <a:xfrm>
            <a:off x="9372600" y="1371600"/>
            <a:ext cx="2112654" cy="4572000"/>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reemGO semana 12">
  <a:themeElements>
    <a:clrScheme name="DreemGO semana 12">
      <a:dk1>
        <a:srgbClr val="1C1917"/>
      </a:dk1>
      <a:lt1>
        <a:srgbClr val="FFFFFF"/>
      </a:lt1>
      <a:dk2>
        <a:srgbClr val="57534E"/>
      </a:dk2>
      <a:lt2>
        <a:srgbClr val="FAFAF9"/>
      </a:lt2>
      <a:accent1>
        <a:srgbClr val="C2410C"/>
      </a:accent1>
      <a:accent2>
        <a:srgbClr val="0D9488"/>
      </a:accent2>
      <a:accent3>
        <a:srgbClr val="7C3AED"/>
      </a:accent3>
      <a:accent4>
        <a:srgbClr val="0B5C80"/>
      </a:accent4>
      <a:accent5>
        <a:srgbClr val="B98000"/>
      </a:accent5>
      <a:accent6>
        <a:srgbClr val="78716C"/>
      </a:accent6>
      <a:hlink>
        <a:srgbClr val="0B5C80"/>
      </a:hlink>
      <a:folHlink>
        <a:srgbClr val="7C3AED"/>
      </a:folHlink>
    </a:clrScheme>
    <a:fontScheme name="DreemGO semana 12">
      <a:majorFont>
        <a:latin typeface="Lexe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Quattrocen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UTEC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DreemGO · Semana 12 · Prototipo refinado, evaluación y casos de estudio</dc:title>
  <dc:subject>DS3022 Desarrollo de Producto de Datos</dc:subject>
  <dc:creator>Miguel, Alejandro, Diego y Christopher</dc:creator>
  <cp:lastModifiedBy>Miguel, Alejandro, Diego y Christopher</cp:lastModifiedBy>
  <cp:revision>1</cp:revision>
  <dcterms:created xsi:type="dcterms:W3CDTF">2026-10-28T04:46:37Z</dcterms:created>
  <dcterms:modified xsi:type="dcterms:W3CDTF">2026-10-28T04:46:37Z</dcterms:modified>
</cp:coreProperties>
</file>