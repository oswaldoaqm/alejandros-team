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64" r:id="rId20"/>
    <p:sldId id="261" r:id="rId10"/>
    <p:sldId id="259" r:id="rId8"/>
    <p:sldId id="260" r:id="rId9"/>
    <p:sldId id="265" r:id="rId21"/>
    <p:sldId id="263" r:id="rId12"/>
    <p:sldId id="266" r:id="rId22"/>
    <p:sldId id="262" r:id="rId11"/>
  </p:sldIdLst>
  <p:sldSz cy="5143500" cx="9144000"/>
  <p:notesSz cx="5143500" cy="9144000"/>
  <p:embeddedFontLst>
    <p:embeddedFont>
      <p:font typeface="Inter"/>
      <p:regular r:id="rId13"/>
      <p:bold r:id="rId14"/>
      <p:italic r:id="rId15"/>
      <p:boldItalic r:id="rId16"/>
    </p:embeddedFont>
    <p:embeddedFont>
      <p:font typeface="Inter ExtraBold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nLUP9H0+pl76p+3P/fGU6FEGN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InterExtraBold-bold.fntdata"/><Relationship Id="rId16" Type="http://schemas.openxmlformats.org/officeDocument/2006/relationships/font" Target="fonts/Inter-boldItalic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InterExtra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20" Type="http://schemas.openxmlformats.org/officeDocument/2006/relationships/slide" Target="slides/slide9.xml"/>
  <Relationship Id="rId21" Type="http://schemas.openxmlformats.org/officeDocument/2006/relationships/slide" Target="slides/slide10.xml"/>
  <Relationship Id="rId22" Type="http://schemas.openxmlformats.org/officeDocument/2006/relationships/slide" Target="slides/slide11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dispersion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jpg"/><Relationship Id="rId4" Type="http://schemas.openxmlformats.org/officeDocument/2006/relationships/image" Target="../media/audit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9549" y="257175"/>
            <a:ext cx="2604901" cy="462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1864519"/>
            <a:ext cx="571500" cy="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2002036" y="2107406"/>
            <a:ext cx="5139928" cy="785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Inter ExtraBold"/>
              <a:buNone/>
            </a:pPr>
            <a:r>
              <a:rPr b="1" lang="en-US" sz="57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DreemGO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491383" y="3036094"/>
            <a:ext cx="4161234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FF7E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32FF7E"/>
                </a:solidFill>
                <a:latin typeface="Inter"/>
                <a:ea typeface="Inter"/>
                <a:cs typeface="Inter"/>
                <a:sym typeface="Inter"/>
              </a:rPr>
              <a:t>INTELIGENCIA DE RUTAS EN PERÚ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DG501"/>
          <p:cNvSpPr txBox="1"/>
          <p:nvPr/>
        </p:nvSpPr>
        <p:spPr>
          <a:xfrm>
            <a:off x="571500" y="420000"/>
            <a:ext cx="80010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LA OPORTUNIDAD</a:t>
            </a:r>
          </a:p>
        </p:txBody>
      </p:sp>
      <p:sp>
        <p:nvSpPr>
          <p:cNvPr id="504" name="DG503"/>
          <p:cNvSpPr txBox="1"/>
          <p:nvPr/>
        </p:nvSpPr>
        <p:spPr>
          <a:xfrm>
            <a:off x="571500" y="61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0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El Perú tiene 6 160 destinos inventariados.</a:t>
            </a:r>
            <a:r>
              <a:rPr b="1" i="0" lang="es-PE" sz="2000" u="none" cap="none" strike="noStrike">
                <a:solidFill>
                  <a:srgbClr val="32FF7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 Se visita como si tuviera diez.</a:t>
            </a:r>
          </a:p>
        </p:txBody>
      </p:sp>
      <p:pic>
        <p:nvPicPr>
          <p:cNvPr descr="Recursos turisticos inventariados por region" id="900" name="F9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0000"/>
            <a:ext cx="8001000" cy="313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DG505"/>
          <p:cNvSpPr txBox="1"/>
          <p:nvPr/>
        </p:nvSpPr>
        <p:spPr>
          <a:xfrm>
            <a:off x="571500" y="420000"/>
            <a:ext cx="80010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EL PROBLEMA</a:t>
            </a:r>
          </a:p>
        </p:txBody>
      </p:sp>
      <p:sp>
        <p:nvSpPr>
          <p:cNvPr id="508" name="DG507"/>
          <p:cNvSpPr txBox="1"/>
          <p:nvPr/>
        </p:nvSpPr>
        <p:spPr>
          <a:xfrm>
            <a:off x="571500" y="610000"/>
            <a:ext cx="73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000" u="none" cap="none" strike="noStrike">
                <a:solidFill>
                  <a:srgbClr val="32FF7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La herramienta de planificación del viajero peruano es Instagram.</a:t>
            </a:r>
          </a:p>
        </p:txBody>
      </p:sp>
      <p:sp>
        <p:nvSpPr>
          <p:cNvPr id="510" name="DG509"/>
          <p:cNvSpPr txBox="1"/>
          <p:nvPr/>
        </p:nvSpPr>
        <p:spPr>
          <a:xfrm>
            <a:off x="571500" y="1620000"/>
            <a:ext cx="185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6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8.2 M</a:t>
            </a:r>
          </a:p>
        </p:txBody>
      </p:sp>
      <p:sp>
        <p:nvSpPr>
          <p:cNvPr id="512" name="DG511"/>
          <p:cNvSpPr txBox="1"/>
          <p:nvPr/>
        </p:nvSpPr>
        <p:spPr>
          <a:xfrm>
            <a:off x="571500" y="2110000"/>
            <a:ext cx="185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viajes vacacionales internos al año, con un gasto promedio de S/643</a:t>
            </a:r>
          </a:p>
        </p:txBody>
      </p:sp>
      <p:sp>
        <p:nvSpPr>
          <p:cNvPr id="514" name="DG513"/>
          <p:cNvSpPr txBox="1"/>
          <p:nvPr/>
        </p:nvSpPr>
        <p:spPr>
          <a:xfrm>
            <a:off x="2571500" y="1620000"/>
            <a:ext cx="185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6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62 %</a:t>
            </a:r>
          </a:p>
        </p:txBody>
      </p:sp>
      <p:sp>
        <p:nvSpPr>
          <p:cNvPr id="516" name="DG515"/>
          <p:cNvSpPr txBox="1"/>
          <p:nvPr/>
        </p:nvSpPr>
        <p:spPr>
          <a:xfrm>
            <a:off x="2571500" y="2110000"/>
            <a:ext cx="185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los organiza por cuenta propia, sin pasar por agencia</a:t>
            </a:r>
          </a:p>
        </p:txBody>
      </p:sp>
      <p:sp>
        <p:nvSpPr>
          <p:cNvPr id="518" name="DG517"/>
          <p:cNvSpPr txBox="1"/>
          <p:nvPr/>
        </p:nvSpPr>
        <p:spPr>
          <a:xfrm>
            <a:off x="4571500" y="1620000"/>
            <a:ext cx="185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6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72 %</a:t>
            </a:r>
          </a:p>
        </p:txBody>
      </p:sp>
      <p:sp>
        <p:nvSpPr>
          <p:cNvPr id="520" name="DG519"/>
          <p:cNvSpPr txBox="1"/>
          <p:nvPr/>
        </p:nvSpPr>
        <p:spPr>
          <a:xfrm>
            <a:off x="4571500" y="2110000"/>
            <a:ext cx="185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investiga su viaje en redes sociales, no en herramientas de planificación</a:t>
            </a:r>
          </a:p>
        </p:txBody>
      </p:sp>
      <p:sp>
        <p:nvSpPr>
          <p:cNvPr id="522" name="DG521"/>
          <p:cNvSpPr txBox="1"/>
          <p:nvPr/>
        </p:nvSpPr>
        <p:spPr>
          <a:xfrm>
            <a:off x="6571500" y="1620000"/>
            <a:ext cx="1850000" cy="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6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67 %</a:t>
            </a:r>
          </a:p>
        </p:txBody>
      </p:sp>
      <p:sp>
        <p:nvSpPr>
          <p:cNvPr id="524" name="DG523"/>
          <p:cNvSpPr txBox="1"/>
          <p:nvPr/>
        </p:nvSpPr>
        <p:spPr>
          <a:xfrm>
            <a:off x="6571500" y="2110000"/>
            <a:ext cx="185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de los extranjeros contrata cada servicio por separado</a:t>
            </a:r>
          </a:p>
        </p:txBody>
      </p:sp>
      <p:sp>
        <p:nvSpPr>
          <p:cNvPr id="525" name="DGr526"/>
          <p:cNvSpPr/>
          <p:nvPr/>
        </p:nvSpPr>
        <p:spPr>
          <a:xfrm>
            <a:off x="571500" y="3130000"/>
            <a:ext cx="8001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8" name="DG527"/>
          <p:cNvSpPr txBox="1"/>
          <p:nvPr/>
        </p:nvSpPr>
        <p:spPr>
          <a:xfrm>
            <a:off x="571500" y="3300000"/>
            <a:ext cx="73000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No falta información sobre el Perú.</a:t>
            </a:r>
            <a:r>
              <a:rPr b="0" i="0" lang="es-PE" sz="10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 Falta una forma de convertirla en una decisión: el viajero cruza a mano presupuesto, temporada y distancias hasta que se rinde o repite el destino de siempre.</a:t>
            </a:r>
          </a:p>
        </p:txBody>
      </p:sp>
      <p:sp>
        <p:nvSpPr>
          <p:cNvPr id="530" name="DG529"/>
          <p:cNvSpPr txBox="1"/>
          <p:nvPr/>
        </p:nvSpPr>
        <p:spPr>
          <a:xfrm>
            <a:off x="571500" y="4560000"/>
            <a:ext cx="8001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7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Fuentes: PromPerú, Perfil del Vacacionista Nacional · Perfil del Turista Extranjero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DG531"/>
          <p:cNvSpPr txBox="1"/>
          <p:nvPr/>
        </p:nvSpPr>
        <p:spPr>
          <a:xfrm>
            <a:off x="571500" y="420000"/>
            <a:ext cx="80010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QUÉ EXISTE HOY</a:t>
            </a:r>
          </a:p>
        </p:txBody>
      </p:sp>
      <p:sp>
        <p:nvSpPr>
          <p:cNvPr id="534" name="DG533"/>
          <p:cNvSpPr txBox="1"/>
          <p:nvPr/>
        </p:nvSpPr>
        <p:spPr>
          <a:xfrm>
            <a:off x="571500" y="610000"/>
            <a:ext cx="73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000" u="none" cap="none" strike="noStrike">
                <a:solidFill>
                  <a:srgbClr val="32FF7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Tres formas de planificar, tres huecos.</a:t>
            </a:r>
          </a:p>
        </p:txBody>
      </p:sp>
      <p:sp>
        <p:nvSpPr>
          <p:cNvPr id="536" name="DG535"/>
          <p:cNvSpPr txBox="1"/>
          <p:nvPr/>
        </p:nvSpPr>
        <p:spPr>
          <a:xfrm>
            <a:off x="571500" y="1620000"/>
            <a:ext cx="24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Y tú qué planes</a:t>
            </a:r>
          </a:p>
        </p:txBody>
      </p:sp>
      <p:sp>
        <p:nvSpPr>
          <p:cNvPr id="538" name="DG537"/>
          <p:cNvSpPr txBox="1"/>
          <p:nvPr/>
        </p:nvSpPr>
        <p:spPr>
          <a:xfrm>
            <a:off x="571500" y="1850000"/>
            <a:ext cx="240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PromPerú · 10 años en línea</a:t>
            </a:r>
          </a:p>
        </p:txBody>
      </p:sp>
      <p:sp>
        <p:nvSpPr>
          <p:cNvPr id="540" name="DG539"/>
          <p:cNvSpPr txBox="1"/>
          <p:nvPr/>
        </p:nvSpPr>
        <p:spPr>
          <a:xfrm>
            <a:off x="571500" y="2110000"/>
            <a:ext cx="24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Catálogo oficial de destinos y rutas cortas prearmadas.</a:t>
            </a:r>
          </a:p>
        </p:txBody>
      </p:sp>
      <p:sp>
        <p:nvSpPr>
          <p:cNvPr id="542" name="DG541"/>
          <p:cNvSpPr txBox="1"/>
          <p:nvPr/>
        </p:nvSpPr>
        <p:spPr>
          <a:xfrm>
            <a:off x="571500" y="2830000"/>
            <a:ext cx="24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32FF7E"/>
                </a:solidFill>
                <a:latin typeface="Inter"/>
                <a:ea typeface="Inter"/>
                <a:cs typeface="Inter"/>
                <a:sym typeface="Inter"/>
              </a:rPr>
              <a:t xml:space="preserve">No personaliza: no filtra por presupuesto, temporada ni intereses.</a:t>
            </a:r>
          </a:p>
        </p:txBody>
      </p:sp>
      <p:sp>
        <p:nvSpPr>
          <p:cNvPr id="544" name="DG543"/>
          <p:cNvSpPr txBox="1"/>
          <p:nvPr/>
        </p:nvSpPr>
        <p:spPr>
          <a:xfrm>
            <a:off x="3238500" y="1620000"/>
            <a:ext cx="24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Planificadores con IA</a:t>
            </a:r>
          </a:p>
        </p:txBody>
      </p:sp>
      <p:sp>
        <p:nvSpPr>
          <p:cNvPr id="546" name="DG545"/>
          <p:cNvSpPr txBox="1"/>
          <p:nvPr/>
        </p:nvSpPr>
        <p:spPr>
          <a:xfrm>
            <a:off x="3238500" y="1850000"/>
            <a:ext cx="240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Wanderlog, Layla, Mindtrip</a:t>
            </a:r>
          </a:p>
        </p:txBody>
      </p:sp>
      <p:sp>
        <p:nvSpPr>
          <p:cNvPr id="548" name="DG547"/>
          <p:cNvSpPr txBox="1"/>
          <p:nvPr/>
        </p:nvSpPr>
        <p:spPr>
          <a:xfrm>
            <a:off x="3238500" y="2110000"/>
            <a:ext cx="24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Generan itinerarios en segundos a partir de una conversación.</a:t>
            </a:r>
          </a:p>
        </p:txBody>
      </p:sp>
      <p:sp>
        <p:nvSpPr>
          <p:cNvPr id="550" name="DG549"/>
          <p:cNvSpPr txBox="1"/>
          <p:nvPr/>
        </p:nvSpPr>
        <p:spPr>
          <a:xfrm>
            <a:off x="3238500" y="2830000"/>
            <a:ext cx="24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32FF7E"/>
                </a:solidFill>
                <a:latin typeface="Inter"/>
                <a:ea typeface="Inter"/>
                <a:cs typeface="Inter"/>
                <a:sym typeface="Inter"/>
              </a:rPr>
              <a:t xml:space="preserve">Alucinan lugares y horarios, y su cobertura del Perú es escasa.</a:t>
            </a:r>
          </a:p>
        </p:txBody>
      </p:sp>
      <p:sp>
        <p:nvSpPr>
          <p:cNvPr id="552" name="DG551"/>
          <p:cNvSpPr txBox="1"/>
          <p:nvPr/>
        </p:nvSpPr>
        <p:spPr>
          <a:xfrm>
            <a:off x="5905500" y="1620000"/>
            <a:ext cx="24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Agencias de viaje</a:t>
            </a:r>
          </a:p>
        </p:txBody>
      </p:sp>
      <p:sp>
        <p:nvSpPr>
          <p:cNvPr id="554" name="DG553"/>
          <p:cNvSpPr txBox="1"/>
          <p:nvPr/>
        </p:nvSpPr>
        <p:spPr>
          <a:xfrm>
            <a:off x="5905500" y="1850000"/>
            <a:ext cx="240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Canal tradicional</a:t>
            </a:r>
          </a:p>
        </p:txBody>
      </p:sp>
      <p:sp>
        <p:nvSpPr>
          <p:cNvPr id="556" name="DG555"/>
          <p:cNvSpPr txBox="1"/>
          <p:nvPr/>
        </p:nvSpPr>
        <p:spPr>
          <a:xfrm>
            <a:off x="5905500" y="2110000"/>
            <a:ext cx="24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Resuelven la logística completa de punta a punta.</a:t>
            </a:r>
          </a:p>
        </p:txBody>
      </p:sp>
      <p:sp>
        <p:nvSpPr>
          <p:cNvPr id="558" name="DG557"/>
          <p:cNvSpPr txBox="1"/>
          <p:nvPr/>
        </p:nvSpPr>
        <p:spPr>
          <a:xfrm>
            <a:off x="5905500" y="2830000"/>
            <a:ext cx="24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32FF7E"/>
                </a:solidFill>
                <a:latin typeface="Inter"/>
                <a:ea typeface="Inter"/>
                <a:cs typeface="Inter"/>
                <a:sym typeface="Inter"/>
              </a:rPr>
              <a:t xml:space="preserve">Paquetes rígidos: solo el 16 % de los viajeros internos los usa.</a:t>
            </a:r>
          </a:p>
        </p:txBody>
      </p:sp>
      <p:sp>
        <p:nvSpPr>
          <p:cNvPr id="559" name="DGr560"/>
          <p:cNvSpPr/>
          <p:nvPr/>
        </p:nvSpPr>
        <p:spPr>
          <a:xfrm>
            <a:off x="571500" y="3720000"/>
            <a:ext cx="8001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2" name="DG561"/>
          <p:cNvSpPr txBox="1"/>
          <p:nvPr/>
        </p:nvSpPr>
        <p:spPr>
          <a:xfrm>
            <a:off x="571500" y="3890000"/>
            <a:ext cx="73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Nadie cruza inventario oficial, clima y presupuesto</a:t>
            </a:r>
            <a:r>
              <a:rPr b="0" i="0" lang="es-PE" sz="10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 sobre destinos peruanos verificables. Ese es el hueco que ocupa DreemGO.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DG563"/>
          <p:cNvSpPr txBox="1"/>
          <p:nvPr/>
        </p:nvSpPr>
        <p:spPr>
          <a:xfrm>
            <a:off x="571500" y="420000"/>
            <a:ext cx="80010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NUESTRA BASE</a:t>
            </a:r>
          </a:p>
        </p:txBody>
      </p:sp>
      <p:sp>
        <p:nvSpPr>
          <p:cNvPr id="566" name="DG565"/>
          <p:cNvSpPr txBox="1"/>
          <p:nvPr/>
        </p:nvSpPr>
        <p:spPr>
          <a:xfrm>
            <a:off x="571500" y="610000"/>
            <a:ext cx="73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000" u="none" cap="none" strike="noStrike">
                <a:solidFill>
                  <a:srgbClr val="32FF7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No podemos alucinar destinos.</a:t>
            </a:r>
          </a:p>
        </p:txBody>
      </p:sp>
      <p:sp>
        <p:nvSpPr>
          <p:cNvPr id="568" name="DG567"/>
          <p:cNvSpPr txBox="1"/>
          <p:nvPr/>
        </p:nvSpPr>
        <p:spPr>
          <a:xfrm>
            <a:off x="571500" y="1400000"/>
            <a:ext cx="75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00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Los planificadores con IA generan lugares; a veces existen y a veces no.</a:t>
            </a:r>
            <a:r>
              <a:rPr b="1" i="0" lang="es-PE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 DreemGO no genera: recupera.</a:t>
            </a:r>
            <a:r>
              <a:rPr b="0" i="0" lang="es-PE" sz="100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 Cada destino que recomendamos está en el inventario oficial del Estado peruano y tiene una ficha pública que cualquiera puede abrir.</a:t>
            </a:r>
          </a:p>
        </p:txBody>
      </p:sp>
      <p:sp>
        <p:nvSpPr>
          <p:cNvPr id="570" name="DG569"/>
          <p:cNvSpPr txBox="1"/>
          <p:nvPr/>
        </p:nvSpPr>
        <p:spPr>
          <a:xfrm>
            <a:off x="571500" y="2350000"/>
            <a:ext cx="18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6 160</a:t>
            </a:r>
          </a:p>
        </p:txBody>
      </p:sp>
      <p:sp>
        <p:nvSpPr>
          <p:cNvPr id="572" name="DG571"/>
          <p:cNvSpPr txBox="1"/>
          <p:nvPr/>
        </p:nvSpPr>
        <p:spPr>
          <a:xfrm>
            <a:off x="571500" y="2790000"/>
            <a:ext cx="185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0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recursos oficiales</a:t>
            </a:r>
          </a:p>
        </p:txBody>
      </p:sp>
      <p:sp>
        <p:nvSpPr>
          <p:cNvPr id="574" name="DG573"/>
          <p:cNvSpPr txBox="1"/>
          <p:nvPr/>
        </p:nvSpPr>
        <p:spPr>
          <a:xfrm>
            <a:off x="2571500" y="2350000"/>
            <a:ext cx="18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25</a:t>
            </a:r>
          </a:p>
        </p:txBody>
      </p:sp>
      <p:sp>
        <p:nvSpPr>
          <p:cNvPr id="576" name="DG575"/>
          <p:cNvSpPr txBox="1"/>
          <p:nvPr/>
        </p:nvSpPr>
        <p:spPr>
          <a:xfrm>
            <a:off x="2571500" y="2790000"/>
            <a:ext cx="185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0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regiones del país</a:t>
            </a:r>
          </a:p>
        </p:txBody>
      </p:sp>
      <p:sp>
        <p:nvSpPr>
          <p:cNvPr id="578" name="DG577"/>
          <p:cNvSpPr txBox="1"/>
          <p:nvPr/>
        </p:nvSpPr>
        <p:spPr>
          <a:xfrm>
            <a:off x="4571500" y="2350000"/>
            <a:ext cx="18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4 915</a:t>
            </a:r>
          </a:p>
        </p:txBody>
      </p:sp>
      <p:sp>
        <p:nvSpPr>
          <p:cNvPr id="580" name="DG579"/>
          <p:cNvSpPr txBox="1"/>
          <p:nvPr/>
        </p:nvSpPr>
        <p:spPr>
          <a:xfrm>
            <a:off x="4571500" y="2790000"/>
            <a:ext cx="185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0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geolocalizables</a:t>
            </a:r>
          </a:p>
        </p:txBody>
      </p:sp>
      <p:sp>
        <p:nvSpPr>
          <p:cNvPr id="582" name="DG581"/>
          <p:cNvSpPr txBox="1"/>
          <p:nvPr/>
        </p:nvSpPr>
        <p:spPr>
          <a:xfrm>
            <a:off x="6571500" y="2350000"/>
            <a:ext cx="18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100 %</a:t>
            </a:r>
          </a:p>
        </p:txBody>
      </p:sp>
      <p:sp>
        <p:nvSpPr>
          <p:cNvPr id="584" name="DG583"/>
          <p:cNvSpPr txBox="1"/>
          <p:nvPr/>
        </p:nvSpPr>
        <p:spPr>
          <a:xfrm>
            <a:off x="6571500" y="2790000"/>
            <a:ext cx="185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0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trazables a su ficha</a:t>
            </a:r>
          </a:p>
        </p:txBody>
      </p:sp>
      <p:sp>
        <p:nvSpPr>
          <p:cNvPr id="585" name="DGr586"/>
          <p:cNvSpPr/>
          <p:nvPr/>
        </p:nvSpPr>
        <p:spPr>
          <a:xfrm>
            <a:off x="571500" y="3100000"/>
            <a:ext cx="8001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8" name="DG587"/>
          <p:cNvSpPr txBox="1"/>
          <p:nvPr/>
        </p:nvSpPr>
        <p:spPr>
          <a:xfrm>
            <a:off x="571500" y="324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MINCETUR — Inventario Nacional</a:t>
            </a:r>
          </a:p>
        </p:txBody>
      </p:sp>
      <p:sp>
        <p:nvSpPr>
          <p:cNvPr id="590" name="DG589"/>
          <p:cNvSpPr txBox="1"/>
          <p:nvPr/>
        </p:nvSpPr>
        <p:spPr>
          <a:xfrm>
            <a:off x="3200000" y="324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ODC-BY</a:t>
            </a:r>
          </a:p>
        </p:txBody>
      </p:sp>
      <p:sp>
        <p:nvSpPr>
          <p:cNvPr id="592" name="DG591"/>
          <p:cNvSpPr txBox="1"/>
          <p:nvPr/>
        </p:nvSpPr>
        <p:spPr>
          <a:xfrm>
            <a:off x="4300000" y="3240000"/>
            <a:ext cx="42715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32FF7E"/>
                </a:solidFill>
                <a:latin typeface="Inter"/>
                <a:ea typeface="Inter"/>
                <a:cs typeface="Inter"/>
                <a:sym typeface="Inter"/>
              </a:rPr>
              <a:t xml:space="preserve">Descargado y auditado</a:t>
            </a:r>
          </a:p>
        </p:txBody>
      </p:sp>
      <p:sp>
        <p:nvSpPr>
          <p:cNvPr id="594" name="DG593"/>
          <p:cNvSpPr txBox="1"/>
          <p:nvPr/>
        </p:nvSpPr>
        <p:spPr>
          <a:xfrm>
            <a:off x="571500" y="357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datosTurismo (MINCETUR)</a:t>
            </a:r>
          </a:p>
        </p:txBody>
      </p:sp>
      <p:sp>
        <p:nvSpPr>
          <p:cNvPr id="596" name="DG595"/>
          <p:cNvSpPr txBox="1"/>
          <p:nvPr/>
        </p:nvSpPr>
        <p:spPr>
          <a:xfrm>
            <a:off x="3200000" y="357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Abierta</a:t>
            </a:r>
          </a:p>
        </p:txBody>
      </p:sp>
      <p:sp>
        <p:nvSpPr>
          <p:cNvPr id="598" name="DG597"/>
          <p:cNvSpPr txBox="1"/>
          <p:nvPr/>
        </p:nvSpPr>
        <p:spPr>
          <a:xfrm>
            <a:off x="4300000" y="3570000"/>
            <a:ext cx="42715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Flujos, estadía y gasto por región</a:t>
            </a:r>
          </a:p>
        </p:txBody>
      </p:sp>
      <p:sp>
        <p:nvSpPr>
          <p:cNvPr id="600" name="DG599"/>
          <p:cNvSpPr txBox="1"/>
          <p:nvPr/>
        </p:nvSpPr>
        <p:spPr>
          <a:xfrm>
            <a:off x="571500" y="390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Open-Meteo</a:t>
            </a:r>
          </a:p>
        </p:txBody>
      </p:sp>
      <p:sp>
        <p:nvSpPr>
          <p:cNvPr id="602" name="DG601"/>
          <p:cNvSpPr txBox="1"/>
          <p:nvPr/>
        </p:nvSpPr>
        <p:spPr>
          <a:xfrm>
            <a:off x="3200000" y="390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CC-BY</a:t>
            </a:r>
          </a:p>
        </p:txBody>
      </p:sp>
      <p:sp>
        <p:nvSpPr>
          <p:cNvPr id="604" name="DG603"/>
          <p:cNvSpPr txBox="1"/>
          <p:nvPr/>
        </p:nvSpPr>
        <p:spPr>
          <a:xfrm>
            <a:off x="4300000" y="3900000"/>
            <a:ext cx="42715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Climatología histórica por coordenada</a:t>
            </a:r>
          </a:p>
        </p:txBody>
      </p:sp>
      <p:sp>
        <p:nvSpPr>
          <p:cNvPr id="606" name="DG605"/>
          <p:cNvSpPr txBox="1"/>
          <p:nvPr/>
        </p:nvSpPr>
        <p:spPr>
          <a:xfrm>
            <a:off x="571500" y="423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OpenStreetMap / Overpass</a:t>
            </a:r>
          </a:p>
        </p:txBody>
      </p:sp>
      <p:sp>
        <p:nvSpPr>
          <p:cNvPr id="608" name="DG607"/>
          <p:cNvSpPr txBox="1"/>
          <p:nvPr/>
        </p:nvSpPr>
        <p:spPr>
          <a:xfrm>
            <a:off x="3200000" y="4230000"/>
            <a:ext cx="9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ODbL</a:t>
            </a:r>
          </a:p>
        </p:txBody>
      </p:sp>
      <p:sp>
        <p:nvSpPr>
          <p:cNvPr id="610" name="DG609"/>
          <p:cNvSpPr txBox="1"/>
          <p:nvPr/>
        </p:nvSpPr>
        <p:spPr>
          <a:xfrm>
            <a:off x="4300000" y="4230000"/>
            <a:ext cx="42715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Geometría vial para el cálculo de rutas</a:t>
            </a:r>
          </a:p>
        </p:txBody>
      </p:sp>
      <p:sp>
        <p:nvSpPr>
          <p:cNvPr id="612" name="DG611"/>
          <p:cNvSpPr txBox="1"/>
          <p:nvPr/>
        </p:nvSpPr>
        <p:spPr>
          <a:xfrm>
            <a:off x="571500" y="4680000"/>
            <a:ext cx="8001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7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TripAdvisor y Google Places quedan fuera del repositorio: sus términos restringen la extracción y redistribución.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" name="Google Shape;12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79256" y="571500"/>
            <a:ext cx="3214688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DG501"/>
          <p:cNvSpPr txBox="1"/>
          <p:nvPr/>
        </p:nvSpPr>
        <p:spPr>
          <a:xfrm>
            <a:off x="571500" y="470000"/>
            <a:ext cx="46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850" u="none" cap="none" strike="noStrike">
                <a:solidFill>
                  <a:srgbClr val="32FF7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Usuarios y Contexto de Uso</a:t>
            </a:r>
          </a:p>
        </p:txBody>
      </p:sp>
      <p:sp>
        <p:nvSpPr>
          <p:cNvPr id="504" name="DG503"/>
          <p:cNvSpPr txBox="1"/>
          <p:nvPr/>
        </p:nvSpPr>
        <p:spPr>
          <a:xfrm>
            <a:off x="571500" y="1560000"/>
            <a:ext cx="460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USUARIO PRIMARIO</a:t>
            </a:r>
          </a:p>
        </p:txBody>
      </p:sp>
      <p:sp>
        <p:nvSpPr>
          <p:cNvPr id="506" name="DG505"/>
          <p:cNvSpPr txBox="1"/>
          <p:nvPr/>
        </p:nvSpPr>
        <p:spPr>
          <a:xfrm>
            <a:off x="571500" y="1760000"/>
            <a:ext cx="46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El viajero nacional independiente</a:t>
            </a:r>
          </a:p>
        </p:txBody>
      </p:sp>
      <p:sp>
        <p:nvSpPr>
          <p:cNvPr id="508" name="DG507"/>
          <p:cNvSpPr txBox="1"/>
          <p:nvPr/>
        </p:nvSpPr>
        <p:spPr>
          <a:xfrm>
            <a:off x="571500" y="2010000"/>
            <a:ext cx="46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Arma su propio viaje sin agencia. Según MINCETUR es la gran mayoría de los viajeros internos del Perú: gente que ya hace este trabajo a mano.</a:t>
            </a:r>
          </a:p>
        </p:txBody>
      </p:sp>
      <p:sp>
        <p:nvSpPr>
          <p:cNvPr id="510" name="DG509"/>
          <p:cNvSpPr txBox="1"/>
          <p:nvPr/>
        </p:nvSpPr>
        <p:spPr>
          <a:xfrm>
            <a:off x="571500" y="2620000"/>
            <a:ext cx="460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USUARIO SECUNDARIO</a:t>
            </a:r>
          </a:p>
        </p:txBody>
      </p:sp>
      <p:sp>
        <p:nvSpPr>
          <p:cNvPr id="512" name="DG511"/>
          <p:cNvSpPr txBox="1"/>
          <p:nvPr/>
        </p:nvSpPr>
        <p:spPr>
          <a:xfrm>
            <a:off x="571500" y="2820000"/>
            <a:ext cx="46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El visitante internacional de estadía media</a:t>
            </a:r>
          </a:p>
        </p:txBody>
      </p:sp>
      <p:sp>
        <p:nvSpPr>
          <p:cNvPr id="514" name="DG513"/>
          <p:cNvSpPr txBox="1"/>
          <p:nvPr/>
        </p:nvSpPr>
        <p:spPr>
          <a:xfrm>
            <a:off x="571500" y="3070000"/>
            <a:ext cx="46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Ya decidió venir al Perú, pero no sabe cómo encadenar destinos en los días que tiene.</a:t>
            </a:r>
          </a:p>
        </p:txBody>
      </p:sp>
      <p:sp>
        <p:nvSpPr>
          <p:cNvPr id="516" name="DG515"/>
          <p:cNvSpPr txBox="1"/>
          <p:nvPr/>
        </p:nvSpPr>
        <p:spPr>
          <a:xfrm>
            <a:off x="571500" y="3560000"/>
            <a:ext cx="460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ESCENARIO DE USO</a:t>
            </a:r>
          </a:p>
        </p:txBody>
      </p:sp>
      <p:sp>
        <p:nvSpPr>
          <p:cNvPr id="518" name="DG517"/>
          <p:cNvSpPr txBox="1"/>
          <p:nvPr/>
        </p:nvSpPr>
        <p:spPr>
          <a:xfrm>
            <a:off x="571500" y="3770000"/>
            <a:ext cx="46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Ana, 26 años, tiene 6 días en julio y S/1 800.</a:t>
            </a: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 Quiere naturaleza y poca altura. Hoy abre catorce pestañas y termina sin decidir. Con DreemGO recibe tres rutas viables ordenadas por costo.</a:t>
            </a:r>
          </a:p>
        </p:txBody>
      </p:sp>
      <p:sp>
        <p:nvSpPr>
          <p:cNvPr id="520" name="DG519"/>
          <p:cNvSpPr txBox="1"/>
          <p:nvPr/>
        </p:nvSpPr>
        <p:spPr>
          <a:xfrm>
            <a:off x="5479256" y="4380000"/>
            <a:ext cx="3214688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7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Lo que existe hoy (Polarsteps): registra el viaje que ya hiciste, no planifica el que viene.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571500" y="571500"/>
            <a:ext cx="8572500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FF7E"/>
              </a:buClr>
              <a:buSzPts val="3750"/>
              <a:buFont typeface="Inter ExtraBold"/>
              <a:buNone/>
            </a:pPr>
            <a:r>
              <a:rPr b="1" i="0" lang="en-US" sz="3750" u="none" cap="none" strike="noStrike">
                <a:solidFill>
                  <a:srgbClr val="32FF7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Nuestro Equipo Estratégico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50094" y="1918097"/>
            <a:ext cx="785813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 ExtraBold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</a:t>
            </a:r>
            <a:r>
              <a:rPr b="1" lang="en-US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hris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71500" y="2232422"/>
            <a:ext cx="37861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FRONTEND DEVELOPER &amp; PRODUCT OWNER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964906" y="1918097"/>
            <a:ext cx="575072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 ExtraBold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Diego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786313" y="2232422"/>
            <a:ext cx="37861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BACKEND &amp; ALGORITHMS ENGINEER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50094" y="2950369"/>
            <a:ext cx="682228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 ExtraBold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Miguel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71500" y="3264694"/>
            <a:ext cx="37861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DATA ENGINEER / CLOUD ARCHITECT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964906" y="2950369"/>
            <a:ext cx="967978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 ExtraBold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Alejandro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786313" y="3264694"/>
            <a:ext cx="3786188" cy="139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DATA SCIENTIST / ML ENGINEER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2269927" y="571500"/>
            <a:ext cx="4604147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FF7E"/>
              </a:buClr>
              <a:buSzPts val="3750"/>
              <a:buFont typeface="Inter ExtraBold"/>
              <a:buNone/>
            </a:pPr>
            <a:r>
              <a:rPr b="1" i="0" lang="en-US" sz="3750" u="none" cap="none" strike="noStrike">
                <a:solidFill>
                  <a:srgbClr val="32FF7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Visión Tecnológica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2561034"/>
            <a:ext cx="1645909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FASE 01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57200" y="2753916"/>
            <a:ext cx="1645909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Ingesta Híbrida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2088766" y="2527436"/>
            <a:ext cx="14288" cy="32783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103109" y="2561034"/>
            <a:ext cx="1645909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FASE 02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103109" y="2753916"/>
            <a:ext cx="1645909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ETL &amp; Limpieza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734674" y="2527436"/>
            <a:ext cx="14288" cy="32783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3749018" y="2561034"/>
            <a:ext cx="1645909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FASE 03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749018" y="2753916"/>
            <a:ext cx="1645909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Clustering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380583" y="2527436"/>
            <a:ext cx="14288" cy="32783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394927" y="2561034"/>
            <a:ext cx="1645909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FASE 04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5394927" y="2753916"/>
            <a:ext cx="1645909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Recomendación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7026492" y="2527436"/>
            <a:ext cx="14288" cy="32783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7040835" y="2561034"/>
            <a:ext cx="1645909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F2FF"/>
              </a:buClr>
              <a:buSzPts val="700"/>
              <a:buFont typeface="Inter"/>
              <a:buNone/>
            </a:pPr>
            <a:r>
              <a:rPr b="1" i="0" lang="en-US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FASE 05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040835" y="2753916"/>
            <a:ext cx="1645909" cy="210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Despliegue 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914400" y="3679031"/>
            <a:ext cx="7315200" cy="107580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914400" y="3679031"/>
            <a:ext cx="73152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14400" y="4107656"/>
            <a:ext cx="7315200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A0A0A5"/>
              </a:buClr>
              <a:buSzPts val="1700"/>
              <a:buFont typeface="Inter"/>
              <a:buNone/>
            </a:pPr>
            <a:r>
              <a:rPr lang="en-US" sz="1700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>DreemGO</a:t>
            </a:r>
            <a:r>
              <a:rPr b="0" i="0" lang="en-US" sz="170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>: Convirtiendo la diversidad de datos del Perú en una </a:t>
            </a:r>
            <a:r>
              <a:rPr b="1" i="0" lang="en-US" sz="1600" u="none" cap="none" strike="noStrike">
                <a:solidFill>
                  <a:srgbClr val="32FF7E"/>
                </a:solidFill>
                <a:latin typeface="Inter"/>
                <a:ea typeface="Inter"/>
                <a:cs typeface="Inter"/>
                <a:sym typeface="Inter"/>
              </a:rPr>
              <a:t>experiencia de viaje optimizada</a:t>
            </a:r>
            <a:r>
              <a:rPr b="0" i="0" lang="en-US" sz="170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DG615"/>
          <p:cNvSpPr txBox="1"/>
          <p:nvPr/>
        </p:nvSpPr>
        <p:spPr>
          <a:xfrm>
            <a:off x="914400" y="3170000"/>
            <a:ext cx="73152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ALCANCE DEL MVP · SEMANAS 10 A 12</a:t>
            </a:r>
          </a:p>
        </p:txBody>
      </p:sp>
      <p:sp>
        <p:nvSpPr>
          <p:cNvPr id="618" name="DG617"/>
          <p:cNvSpPr txBox="1"/>
          <p:nvPr/>
        </p:nvSpPr>
        <p:spPr>
          <a:xfrm>
            <a:off x="914400" y="3370000"/>
            <a:ext cx="731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300 destinos priorizados · 8 regiones · itinerarios de 3 a 7 días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" name="Google Shape;2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DG501"/>
          <p:cNvSpPr txBox="1"/>
          <p:nvPr/>
        </p:nvSpPr>
        <p:spPr>
          <a:xfrm>
            <a:off x="571500" y="571500"/>
            <a:ext cx="80010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LA PROPUESTA</a:t>
            </a:r>
          </a:p>
        </p:txBody>
      </p:sp>
      <p:sp>
        <p:nvSpPr>
          <p:cNvPr id="504" name="DG503"/>
          <p:cNvSpPr txBox="1"/>
          <p:nvPr/>
        </p:nvSpPr>
        <p:spPr>
          <a:xfrm>
            <a:off x="571500" y="900000"/>
            <a:ext cx="77000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DreemGO es una plataforma que convierte los intereses, la temporada y el presupuesto de un viajero en un itinerario optimizado dentro del Perú. Combina el inventario turístico oficial de MINCETUR con datos climáticos históricos y algoritmos de clustering y optimización de rutas, para entregar en segundos lo que hoy toma días de búsqueda dispersa.</a:t>
            </a:r>
          </a:p>
        </p:txBody>
      </p:sp>
      <p:sp>
        <p:nvSpPr>
          <p:cNvPr id="505" name="DGr506"/>
          <p:cNvSpPr/>
          <p:nvPr/>
        </p:nvSpPr>
        <p:spPr>
          <a:xfrm>
            <a:off x="571500" y="2950000"/>
            <a:ext cx="8001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8" name="DG507"/>
          <p:cNvSpPr txBox="1"/>
          <p:nvPr/>
        </p:nvSpPr>
        <p:spPr>
          <a:xfrm>
            <a:off x="571500" y="3150000"/>
            <a:ext cx="24000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ENTRADA</a:t>
            </a:r>
          </a:p>
        </p:txBody>
      </p:sp>
      <p:sp>
        <p:nvSpPr>
          <p:cNvPr id="510" name="DG509"/>
          <p:cNvSpPr txBox="1"/>
          <p:nvPr/>
        </p:nvSpPr>
        <p:spPr>
          <a:xfrm>
            <a:off x="571500" y="3360000"/>
            <a:ext cx="24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50" u="none" cap="none" strike="noStrike">
                <a:solidFill>
                  <a:srgbClr val="32FF7E"/>
                </a:solidFill>
                <a:latin typeface="Inter"/>
                <a:ea typeface="Inter"/>
                <a:cs typeface="Inter"/>
                <a:sym typeface="Inter"/>
              </a:rPr>
              <a:t xml:space="preserve">Lo que da el usuario</a:t>
            </a:r>
          </a:p>
        </p:txBody>
      </p:sp>
      <p:sp>
        <p:nvSpPr>
          <p:cNvPr id="512" name="DG511"/>
          <p:cNvSpPr txBox="1"/>
          <p:nvPr/>
        </p:nvSpPr>
        <p:spPr>
          <a:xfrm>
            <a:off x="571500" y="3630000"/>
            <a:ext cx="24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Intereses, temporada, presupuesto y días disponibles.</a:t>
            </a:r>
          </a:p>
        </p:txBody>
      </p:sp>
      <p:sp>
        <p:nvSpPr>
          <p:cNvPr id="514" name="DG513"/>
          <p:cNvSpPr txBox="1"/>
          <p:nvPr/>
        </p:nvSpPr>
        <p:spPr>
          <a:xfrm>
            <a:off x="3238500" y="3150000"/>
            <a:ext cx="24000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PROCESAMIENTO</a:t>
            </a:r>
          </a:p>
        </p:txBody>
      </p:sp>
      <p:sp>
        <p:nvSpPr>
          <p:cNvPr id="516" name="DG515"/>
          <p:cNvSpPr txBox="1"/>
          <p:nvPr/>
        </p:nvSpPr>
        <p:spPr>
          <a:xfrm>
            <a:off x="3238500" y="3360000"/>
            <a:ext cx="24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50" u="none" cap="none" strike="noStrike">
                <a:solidFill>
                  <a:srgbClr val="32FF7E"/>
                </a:solidFill>
                <a:latin typeface="Inter"/>
                <a:ea typeface="Inter"/>
                <a:cs typeface="Inter"/>
                <a:sym typeface="Inter"/>
              </a:rPr>
              <a:t xml:space="preserve">Lo que hace el sistema</a:t>
            </a:r>
          </a:p>
        </p:txBody>
      </p:sp>
      <p:sp>
        <p:nvSpPr>
          <p:cNvPr id="518" name="DG517"/>
          <p:cNvSpPr txBox="1"/>
          <p:nvPr/>
        </p:nvSpPr>
        <p:spPr>
          <a:xfrm>
            <a:off x="3238500" y="3630000"/>
            <a:ext cx="24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Clustering de destinos por perfil de interés y optimización de la ruta.</a:t>
            </a:r>
          </a:p>
        </p:txBody>
      </p:sp>
      <p:sp>
        <p:nvSpPr>
          <p:cNvPr id="520" name="DG519"/>
          <p:cNvSpPr txBox="1"/>
          <p:nvPr/>
        </p:nvSpPr>
        <p:spPr>
          <a:xfrm>
            <a:off x="5905500" y="3150000"/>
            <a:ext cx="24000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SALIDA</a:t>
            </a:r>
          </a:p>
        </p:txBody>
      </p:sp>
      <p:sp>
        <p:nvSpPr>
          <p:cNvPr id="522" name="DG521"/>
          <p:cNvSpPr txBox="1"/>
          <p:nvPr/>
        </p:nvSpPr>
        <p:spPr>
          <a:xfrm>
            <a:off x="5905500" y="3360000"/>
            <a:ext cx="24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50" u="none" cap="none" strike="noStrike">
                <a:solidFill>
                  <a:srgbClr val="32FF7E"/>
                </a:solidFill>
                <a:latin typeface="Inter"/>
                <a:ea typeface="Inter"/>
                <a:cs typeface="Inter"/>
                <a:sym typeface="Inter"/>
              </a:rPr>
              <a:t xml:space="preserve">Lo que recibe</a:t>
            </a:r>
          </a:p>
        </p:txBody>
      </p:sp>
      <p:sp>
        <p:nvSpPr>
          <p:cNvPr id="524" name="DG523"/>
          <p:cNvSpPr txBox="1"/>
          <p:nvPr/>
        </p:nvSpPr>
        <p:spPr>
          <a:xfrm>
            <a:off x="5905500" y="3630000"/>
            <a:ext cx="24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Itinerario ordenado con secuencia, temporada y costo estimado.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DG581"/>
          <p:cNvSpPr txBox="1"/>
          <p:nvPr/>
        </p:nvSpPr>
        <p:spPr>
          <a:xfrm>
            <a:off x="571500" y="480000"/>
            <a:ext cx="8001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850" u="none" cap="none" strike="noStrike">
                <a:solidFill>
                  <a:srgbClr val="32FF7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Lo que encontramos al auditar</a:t>
            </a:r>
          </a:p>
        </p:txBody>
      </p:sp>
      <p:sp>
        <p:nvSpPr>
          <p:cNvPr id="584" name="DG583"/>
          <p:cNvSpPr txBox="1"/>
          <p:nvPr/>
        </p:nvSpPr>
        <p:spPr>
          <a:xfrm>
            <a:off x="571500" y="118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0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No aceptamos el dataset como viene. Dos hallazgos cambiaron nuestras decisiones de diseño.</a:t>
            </a:r>
          </a:p>
        </p:txBody>
      </p:sp>
      <p:sp>
        <p:nvSpPr>
          <p:cNvPr id="586" name="DG585"/>
          <p:cNvSpPr txBox="1"/>
          <p:nvPr/>
        </p:nvSpPr>
        <p:spPr>
          <a:xfrm>
            <a:off x="571500" y="1830000"/>
            <a:ext cx="395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HALLAZGO 1 · COORDENADAS INTERCAMBIADAS</a:t>
            </a:r>
          </a:p>
        </p:txBody>
      </p:sp>
      <p:sp>
        <p:nvSpPr>
          <p:cNvPr id="588" name="DG587"/>
          <p:cNvSpPr txBox="1"/>
          <p:nvPr/>
        </p:nvSpPr>
        <p:spPr>
          <a:xfrm>
            <a:off x="571500" y="2030000"/>
            <a:ext cx="395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Las columnas LATITUD y LONGITUD vienen invertidas desde la fuente.</a:t>
            </a:r>
          </a:p>
        </p:txBody>
      </p:sp>
      <p:sp>
        <p:nvSpPr>
          <p:cNvPr id="590" name="DG589"/>
          <p:cNvSpPr txBox="1"/>
          <p:nvPr/>
        </p:nvSpPr>
        <p:spPr>
          <a:xfrm>
            <a:off x="571500" y="2450000"/>
            <a:ext cx="395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Con las etiquetas originales, el 0 % de los recursos cae dentro del Perú; al intercambiarlas, el 100 %. Sin corregirlo, el cálculo de rutas falla en silencio, sin lanzar ningún error.</a:t>
            </a:r>
          </a:p>
        </p:txBody>
      </p:sp>
      <p:sp>
        <p:nvSpPr>
          <p:cNvPr id="592" name="DG591"/>
          <p:cNvSpPr txBox="1"/>
          <p:nvPr/>
        </p:nvSpPr>
        <p:spPr>
          <a:xfrm>
            <a:off x="571500" y="3350000"/>
            <a:ext cx="3950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HALLAZGO 2 · LOS NULOS SON SEMÁNTICOS</a:t>
            </a:r>
          </a:p>
        </p:txBody>
      </p:sp>
      <p:sp>
        <p:nvSpPr>
          <p:cNvPr id="594" name="DG593"/>
          <p:cNvSpPr txBox="1"/>
          <p:nvPr/>
        </p:nvSpPr>
        <p:spPr>
          <a:xfrm>
            <a:off x="571500" y="3550000"/>
            <a:ext cx="3950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El 20.2 % sin coordenadas no es ruido.</a:t>
            </a:r>
          </a:p>
        </p:txBody>
      </p:sp>
      <p:sp>
        <p:nvSpPr>
          <p:cNvPr id="596" name="DG595"/>
          <p:cNvSpPr txBox="1"/>
          <p:nvPr/>
        </p:nvSpPr>
        <p:spPr>
          <a:xfrm>
            <a:off x="571500" y="3820000"/>
            <a:ext cx="395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Se concentra por completo en Folclore y Acontecimientos Programados: son prácticas y eventos, no lugares. En vez de imputar, los usamos como señal de estacionalidad.</a:t>
            </a:r>
          </a:p>
        </p:txBody>
      </p:sp>
      <p:pic>
        <p:nvPicPr>
          <p:cNvPr descr="Comparacion de coordenadas antes y despues de intercambiar las columnas" id="900" name="AuditFi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0000" y="1830000"/>
            <a:ext cx="3822500" cy="1706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DG613"/>
          <p:cNvSpPr txBox="1"/>
          <p:nvPr/>
        </p:nvSpPr>
        <p:spPr>
          <a:xfrm>
            <a:off x="571500" y="420000"/>
            <a:ext cx="8001000" cy="121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EL TAMAÑO DE LA OPORTUNIDAD</a:t>
            </a:r>
          </a:p>
        </p:txBody>
      </p:sp>
      <p:sp>
        <p:nvSpPr>
          <p:cNvPr id="616" name="DG615"/>
          <p:cNvSpPr txBox="1"/>
          <p:nvPr/>
        </p:nvSpPr>
        <p:spPr>
          <a:xfrm>
            <a:off x="571500" y="610000"/>
            <a:ext cx="730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000" u="none" cap="none" strike="noStrike">
                <a:solidFill>
                  <a:srgbClr val="32FF7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Un mercado que ya existe y ya planifica solo.</a:t>
            </a:r>
          </a:p>
        </p:txBody>
      </p:sp>
      <p:sp>
        <p:nvSpPr>
          <p:cNvPr id="618" name="DG617"/>
          <p:cNvSpPr txBox="1"/>
          <p:nvPr/>
        </p:nvSpPr>
        <p:spPr>
          <a:xfrm>
            <a:off x="571500" y="1560000"/>
            <a:ext cx="250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1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S/ 5 287 M</a:t>
            </a:r>
          </a:p>
        </p:txBody>
      </p:sp>
      <p:sp>
        <p:nvSpPr>
          <p:cNvPr id="620" name="DG619"/>
          <p:cNvSpPr txBox="1"/>
          <p:nvPr/>
        </p:nvSpPr>
        <p:spPr>
          <a:xfrm>
            <a:off x="571500" y="2050000"/>
            <a:ext cx="24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gasto anual en turismo interno vacacional</a:t>
            </a:r>
          </a:p>
        </p:txBody>
      </p:sp>
      <p:sp>
        <p:nvSpPr>
          <p:cNvPr id="622" name="DG621"/>
          <p:cNvSpPr txBox="1"/>
          <p:nvPr/>
        </p:nvSpPr>
        <p:spPr>
          <a:xfrm>
            <a:off x="3238500" y="1560000"/>
            <a:ext cx="250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1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US$ 4 200 M</a:t>
            </a:r>
          </a:p>
        </p:txBody>
      </p:sp>
      <p:sp>
        <p:nvSpPr>
          <p:cNvPr id="624" name="DG623"/>
          <p:cNvSpPr txBox="1"/>
          <p:nvPr/>
        </p:nvSpPr>
        <p:spPr>
          <a:xfrm>
            <a:off x="3238500" y="2050000"/>
            <a:ext cx="24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gasto anual de los 3.4 M de turistas extranjeros</a:t>
            </a:r>
          </a:p>
        </p:txBody>
      </p:sp>
      <p:sp>
        <p:nvSpPr>
          <p:cNvPr id="626" name="DG625"/>
          <p:cNvSpPr txBox="1"/>
          <p:nvPr/>
        </p:nvSpPr>
        <p:spPr>
          <a:xfrm>
            <a:off x="5905500" y="1560000"/>
            <a:ext cx="2500000" cy="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1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 xml:space="preserve">7.4 M</a:t>
            </a:r>
          </a:p>
        </p:txBody>
      </p:sp>
      <p:sp>
        <p:nvSpPr>
          <p:cNvPr id="628" name="DG627"/>
          <p:cNvSpPr txBox="1"/>
          <p:nvPr/>
        </p:nvSpPr>
        <p:spPr>
          <a:xfrm>
            <a:off x="5905500" y="2050000"/>
            <a:ext cx="24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viajes al año planificados sin agencia: nuestro mercado direccionable</a:t>
            </a:r>
          </a:p>
        </p:txBody>
      </p:sp>
      <p:sp>
        <p:nvSpPr>
          <p:cNvPr id="629" name="DGr630"/>
          <p:cNvSpPr/>
          <p:nvPr/>
        </p:nvSpPr>
        <p:spPr>
          <a:xfrm>
            <a:off x="571500" y="2900000"/>
            <a:ext cx="8001000" cy="7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2" name="DG631"/>
          <p:cNvSpPr txBox="1"/>
          <p:nvPr/>
        </p:nvSpPr>
        <p:spPr>
          <a:xfrm>
            <a:off x="571500" y="3060000"/>
            <a:ext cx="8001000" cy="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700" u="none" cap="none" strike="noStrik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 xml:space="preserve">CÓMO SE SOSTENDRÍA · HIPÓTESIS A CONTRASTAR</a:t>
            </a:r>
          </a:p>
        </p:txBody>
      </p:sp>
      <p:sp>
        <p:nvSpPr>
          <p:cNvPr id="634" name="DG633"/>
          <p:cNvSpPr txBox="1"/>
          <p:nvPr/>
        </p:nvSpPr>
        <p:spPr>
          <a:xfrm>
            <a:off x="571500" y="3290000"/>
            <a:ext cx="24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Comisión por reserva</a:t>
            </a:r>
          </a:p>
        </p:txBody>
      </p:sp>
      <p:sp>
        <p:nvSpPr>
          <p:cNvPr id="636" name="DG635"/>
          <p:cNvSpPr txBox="1"/>
          <p:nvPr/>
        </p:nvSpPr>
        <p:spPr>
          <a:xfrm>
            <a:off x="571500" y="3540000"/>
            <a:ext cx="24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referida a operadores y hospedajes locales de las rutas que recomendamos.</a:t>
            </a:r>
          </a:p>
        </p:txBody>
      </p:sp>
      <p:sp>
        <p:nvSpPr>
          <p:cNvPr id="638" name="DG637"/>
          <p:cNvSpPr txBox="1"/>
          <p:nvPr/>
        </p:nvSpPr>
        <p:spPr>
          <a:xfrm>
            <a:off x="3238500" y="3290000"/>
            <a:ext cx="24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Licencia del motor</a:t>
            </a:r>
          </a:p>
        </p:txBody>
      </p:sp>
      <p:sp>
        <p:nvSpPr>
          <p:cNvPr id="640" name="DG639"/>
          <p:cNvSpPr txBox="1"/>
          <p:nvPr/>
        </p:nvSpPr>
        <p:spPr>
          <a:xfrm>
            <a:off x="3238500" y="3540000"/>
            <a:ext cx="24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a gobiernos regionales y DMOs que necesitan dispersar la demanda.</a:t>
            </a:r>
          </a:p>
        </p:txBody>
      </p:sp>
      <p:sp>
        <p:nvSpPr>
          <p:cNvPr id="642" name="DG641"/>
          <p:cNvSpPr txBox="1"/>
          <p:nvPr/>
        </p:nvSpPr>
        <p:spPr>
          <a:xfrm>
            <a:off x="5905500" y="3290000"/>
            <a:ext cx="2400000" cy="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 xml:space="preserve">API para operadores</a:t>
            </a:r>
          </a:p>
        </p:txBody>
      </p:sp>
      <p:sp>
        <p:nvSpPr>
          <p:cNvPr id="644" name="DG643"/>
          <p:cNvSpPr txBox="1"/>
          <p:nvPr/>
        </p:nvSpPr>
        <p:spPr>
          <a:xfrm>
            <a:off x="5905500" y="3540000"/>
            <a:ext cx="2400000" cy="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5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que hoy arman itinerarios a mano para cada cliente.</a:t>
            </a:r>
          </a:p>
        </p:txBody>
      </p:sp>
      <p:sp>
        <p:nvSpPr>
          <p:cNvPr id="646" name="DG645"/>
          <p:cNvSpPr txBox="1"/>
          <p:nvPr/>
        </p:nvSpPr>
        <p:spPr>
          <a:xfrm>
            <a:off x="571500" y="4420000"/>
            <a:ext cx="8001000" cy="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/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A0A0A5"/>
                </a:solidFill>
                <a:latin typeface="Inter"/>
                <a:ea typeface="Inter"/>
                <a:cs typeface="Inter"/>
                <a:sym typeface="Inter"/>
              </a:rPr>
              <a:t xml:space="preserve">En este curso entregamos el producto funcional y validado. El modelo de ingresos es una hipótesis que declaramos abiertamente y que no se valida dentro del semestre.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2026-09-02T03:10:20Z</dcterms:created>
  <dc:creator>PptxGenJS</dc:creator>
</cp:coreProperties>
</file>